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vsd" ContentType="application/vnd.visio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6" r:id="rId2"/>
    <p:sldMasterId id="2147483778" r:id="rId3"/>
  </p:sldMasterIdLst>
  <p:notesMasterIdLst>
    <p:notesMasterId r:id="rId27"/>
  </p:notesMasterIdLst>
  <p:sldIdLst>
    <p:sldId id="346" r:id="rId4"/>
    <p:sldId id="395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37" r:id="rId25"/>
    <p:sldId id="35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14584"/>
    <a:srgbClr val="98C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4" autoAdjust="0"/>
    <p:restoredTop sz="81121" autoAdjust="0"/>
  </p:normalViewPr>
  <p:slideViewPr>
    <p:cSldViewPr snapToGrid="0">
      <p:cViewPr varScale="1">
        <p:scale>
          <a:sx n="119" d="100"/>
          <a:sy n="119" d="100"/>
        </p:scale>
        <p:origin x="2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5" Type="http://schemas.openxmlformats.org/officeDocument/2006/relationships/image" Target="../media/image16.emf"/><Relationship Id="rId6" Type="http://schemas.openxmlformats.org/officeDocument/2006/relationships/image" Target="../media/image17.emf"/><Relationship Id="rId7" Type="http://schemas.openxmlformats.org/officeDocument/2006/relationships/image" Target="../media/image18.emf"/><Relationship Id="rId8" Type="http://schemas.openxmlformats.org/officeDocument/2006/relationships/image" Target="../media/image19.emf"/><Relationship Id="rId9" Type="http://schemas.openxmlformats.org/officeDocument/2006/relationships/image" Target="../media/image20.emf"/><Relationship Id="rId10" Type="http://schemas.openxmlformats.org/officeDocument/2006/relationships/image" Target="../media/image21.emf"/><Relationship Id="rId11" Type="http://schemas.openxmlformats.org/officeDocument/2006/relationships/image" Target="../media/image22.emf"/><Relationship Id="rId1" Type="http://schemas.openxmlformats.org/officeDocument/2006/relationships/image" Target="../media/image12.emf"/><Relationship Id="rId2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Relationship Id="rId2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Relationship Id="rId2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Relationship Id="rId2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4" Type="http://schemas.openxmlformats.org/officeDocument/2006/relationships/image" Target="../media/image42.emf"/><Relationship Id="rId5" Type="http://schemas.openxmlformats.org/officeDocument/2006/relationships/image" Target="../media/image43.emf"/><Relationship Id="rId6" Type="http://schemas.openxmlformats.org/officeDocument/2006/relationships/image" Target="../media/image44.emf"/><Relationship Id="rId7" Type="http://schemas.openxmlformats.org/officeDocument/2006/relationships/image" Target="../media/image45.emf"/><Relationship Id="rId8" Type="http://schemas.openxmlformats.org/officeDocument/2006/relationships/image" Target="../media/image46.emf"/><Relationship Id="rId9" Type="http://schemas.openxmlformats.org/officeDocument/2006/relationships/image" Target="../media/image47.emf"/><Relationship Id="rId10" Type="http://schemas.openxmlformats.org/officeDocument/2006/relationships/image" Target="../media/image48.emf"/><Relationship Id="rId1" Type="http://schemas.openxmlformats.org/officeDocument/2006/relationships/image" Target="../media/image39.emf"/><Relationship Id="rId2" Type="http://schemas.openxmlformats.org/officeDocument/2006/relationships/image" Target="../media/image4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Relationship Id="rId2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0BCB8-4060-4F4B-BF3D-0F4A18BAE20F}" type="datetimeFigureOut">
              <a:rPr lang="en-AU" smtClean="0"/>
              <a:t>26/02/2016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1E29B-21C5-4616-8C91-16E7C61848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70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A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64C7770-247B-4722-BCC3-A14172913F3C}" type="slidenum">
              <a:rPr lang="en-AU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AU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733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dirty="0" smtClean="0">
              <a:latin typeface="Times New Roman" panose="02020603050405020304" pitchFamily="18" charset="0"/>
            </a:endParaRPr>
          </a:p>
        </p:txBody>
      </p:sp>
      <p:sp>
        <p:nvSpPr>
          <p:cNvPr id="81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de-DE" altLang="en-US" sz="1200" smtClean="0">
                <a:solidFill>
                  <a:srgbClr val="000000"/>
                </a:solidFill>
              </a:rPr>
              <a:t>Lecture </a:t>
            </a:r>
            <a:r>
              <a:rPr lang="en-US" altLang="en-US" sz="1200" smtClean="0">
                <a:solidFill>
                  <a:srgbClr val="000000"/>
                </a:solidFill>
              </a:rPr>
              <a:t>–</a:t>
            </a:r>
            <a:r>
              <a:rPr lang="de-DE" altLang="en-US" sz="1200" smtClean="0">
                <a:solidFill>
                  <a:srgbClr val="000000"/>
                </a:solidFill>
              </a:rPr>
              <a:t> 20 July 2009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1A207A0-55CC-4D9D-A31D-1DA4547D5C3E}" type="slidenum">
              <a:rPr lang="de-DE" altLang="en-US" sz="1000" smtClean="0">
                <a:solidFill>
                  <a:srgbClr val="000000"/>
                </a:solidFill>
              </a:rPr>
              <a:pPr/>
              <a:t>2</a:t>
            </a:fld>
            <a:endParaRPr lang="de-DE" altLang="en-US" sz="1000" smtClean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000000"/>
                </a:solidFill>
              </a:rPr>
              <a:t>QUT Brisbane, Dr. Michael Rosemann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819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7635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763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de-DE" altLang="en-US" sz="1200" smtClean="0">
                <a:solidFill>
                  <a:srgbClr val="000000"/>
                </a:solidFill>
              </a:rPr>
              <a:t>INB/INN320 </a:t>
            </a:r>
            <a:r>
              <a:rPr lang="en-US" altLang="en-US" sz="1200" smtClean="0">
                <a:solidFill>
                  <a:srgbClr val="000000"/>
                </a:solidFill>
              </a:rPr>
              <a:t>–</a:t>
            </a:r>
            <a:r>
              <a:rPr lang="de-DE" altLang="en-US" sz="1200" smtClean="0">
                <a:solidFill>
                  <a:srgbClr val="000000"/>
                </a:solidFill>
              </a:rPr>
              <a:t> Business Process Modelling</a:t>
            </a:r>
          </a:p>
        </p:txBody>
      </p:sp>
    </p:spTree>
    <p:extLst>
      <p:ext uri="{BB962C8B-B14F-4D97-AF65-F5344CB8AC3E}">
        <p14:creationId xmlns:p14="http://schemas.microsoft.com/office/powerpoint/2010/main" val="469396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2759E-8999-4DBB-AFA5-27BEE8C6C2F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07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0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311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6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1E29B-21C5-4616-8C91-16E7C6184830}" type="slidenum">
              <a:rPr lang="en-AU" smtClean="0">
                <a:solidFill>
                  <a:prstClr val="black"/>
                </a:solidFill>
              </a:rPr>
              <a:pPr/>
              <a:t>8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763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397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A14DB8-BA18-44DE-BCBB-F70E0C237EAE}" type="slidenum">
              <a:rPr lang="en-US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1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5638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19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F7F79E-2E75-4765-BEB0-4ED17E36EC3F}" type="slidenum">
              <a:rPr lang="en-US">
                <a:solidFill>
                  <a:srgbClr val="000000"/>
                </a:solidFill>
              </a:rPr>
              <a:pPr/>
              <a:t>13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9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3065"/>
            <a:ext cx="5852814" cy="4317338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7380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0AF98-2A13-456E-A1F8-513671122D60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30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E00E9-C401-4EFC-9D7C-2530DC1282AD}" type="slidenum">
              <a:rPr lang="en-US">
                <a:solidFill>
                  <a:srgbClr val="000000"/>
                </a:solidFill>
              </a:rPr>
              <a:pPr/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7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3815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E00E9-C401-4EFC-9D7C-2530DC1282AD}" type="slidenum">
              <a:rPr lang="en-US">
                <a:solidFill>
                  <a:srgbClr val="000000"/>
                </a:solidFill>
              </a:rPr>
              <a:pPr/>
              <a:t>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7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209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48633B-00F5-4495-ACBE-C8969C8A3416}" type="slidenum">
              <a:rPr lang="en-US">
                <a:solidFill>
                  <a:srgbClr val="000000"/>
                </a:solidFill>
              </a:rPr>
              <a:pPr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6035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8D4C9-0CE5-497B-AD9D-59B6884D7D99}" type="slidenum">
              <a:rPr lang="en-AU" smtClean="0">
                <a:solidFill>
                  <a:prstClr val="black"/>
                </a:solidFill>
              </a:rPr>
              <a:pPr/>
              <a:t>19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327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3AF2BD-7924-4776-9F18-A6F3E995EDA4}" type="slidenum">
              <a:rPr lang="en-US">
                <a:solidFill>
                  <a:srgbClr val="000000"/>
                </a:solidFill>
              </a:rPr>
              <a:pPr/>
              <a:t>20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5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ln/>
        </p:spPr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0086"/>
            <a:ext cx="5852814" cy="4320317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8072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3AF2BD-7924-4776-9F18-A6F3E995EDA4}" type="slidenum">
              <a:rPr lang="en-US">
                <a:solidFill>
                  <a:srgbClr val="000000"/>
                </a:solidFill>
              </a:rPr>
              <a:pPr/>
              <a:t>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5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ln/>
        </p:spPr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0086"/>
            <a:ext cx="5852814" cy="4320317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0713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/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 smtClean="0"/>
          </a:p>
        </p:txBody>
      </p:sp>
      <p:sp>
        <p:nvSpPr>
          <p:cNvPr id="82948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de-DE" smtClean="0">
                <a:solidFill>
                  <a:srgbClr val="C0504D"/>
                </a:solidFill>
                <a:latin typeface="Times New Roman" pitchFamily="18" charset="0"/>
              </a:rPr>
              <a:t>Lecture – 15 April 2010</a:t>
            </a:r>
          </a:p>
        </p:txBody>
      </p:sp>
      <p:sp>
        <p:nvSpPr>
          <p:cNvPr id="829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784155-CEA6-40AF-BF62-FC6F4A1EA3AF}" type="slidenum">
              <a:rPr lang="de-DE" smtClean="0">
                <a:solidFill>
                  <a:srgbClr val="C0504D"/>
                </a:solidFill>
                <a:latin typeface="Times New Roman" pitchFamily="18" charset="0"/>
              </a:rPr>
              <a:pPr/>
              <a:t>22</a:t>
            </a:fld>
            <a:endParaRPr lang="de-DE" smtClean="0">
              <a:solidFill>
                <a:srgbClr val="C0504D"/>
              </a:solidFill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C0504D"/>
                </a:solidFill>
              </a:rPr>
              <a:t>QUT Brisbane, Dr Jan Recker</a:t>
            </a:r>
            <a:endParaRPr lang="de-DE">
              <a:solidFill>
                <a:srgbClr val="C0504D"/>
              </a:solidFill>
            </a:endParaRPr>
          </a:p>
        </p:txBody>
      </p:sp>
      <p:sp>
        <p:nvSpPr>
          <p:cNvPr id="82951" name="Header Placeholder 6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de-DE" smtClean="0">
                <a:solidFill>
                  <a:srgbClr val="C0504D"/>
                </a:solidFill>
                <a:latin typeface="Times New Roman" pitchFamily="18" charset="0"/>
              </a:rPr>
              <a:t>INB.INN321 – Business Process Management</a:t>
            </a:r>
          </a:p>
        </p:txBody>
      </p:sp>
    </p:spTree>
    <p:extLst>
      <p:ext uri="{BB962C8B-B14F-4D97-AF65-F5344CB8AC3E}">
        <p14:creationId xmlns:p14="http://schemas.microsoft.com/office/powerpoint/2010/main" val="1625428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2A8150-4090-4CC4-A980-0F5748BEA9E6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62513"/>
            <a:ext cx="5210175" cy="4603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/>
          <a:lstStyle/>
          <a:p>
            <a:endParaRPr lang="en-AU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612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D9353449-92E2-42DD-AD92-1BBAFE29EE09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49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136904" cy="4824536"/>
          </a:xfrm>
        </p:spPr>
        <p:txBody>
          <a:bodyPr anchor="t">
            <a:normAutofit/>
          </a:bodyPr>
          <a:lstStyle>
            <a:lvl1pPr marL="182880" indent="-182880" algn="l">
              <a:buFont typeface="Arial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9436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7724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6012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67544" y="260648"/>
            <a:ext cx="8064896" cy="792088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661A-AFE1-42BC-A0BF-942AEE00EDDE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064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AD125D29-6949-464A-B5DA-0A8121F0E296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177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3965-65CA-43A2-B1CA-5AE6A1973355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880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7E7D-51C4-424A-B770-3F57A39C62F2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56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8875-2069-4700-92EA-BBA64C41FBCC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222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3762-A3E9-42E7-8357-2F5039C7E9C7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49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BBAA-C25D-4B92-A7FF-40EAAEF08D27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21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C0C6C-42DA-43E3-A429-2FC276315B3B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909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BF08-AD73-4BFE-938C-9DB9A90FD2B4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25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0C74-6DF9-4779-8AEF-B3EBD411B8C0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6741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567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045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04130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875329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96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Click="0" advTm="10000">
        <p14:glitter pattern="hexagon"/>
      </p:transition>
    </mc:Choice>
    <mc:Fallback xmlns="">
      <p:transition spd="slow" advClick="0" advTm="10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408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572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442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032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764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860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4128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2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214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9611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419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SEC8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" t="149" r="22453" b="20064"/>
          <a:stretch/>
        </p:blipFill>
        <p:spPr bwMode="auto">
          <a:xfrm>
            <a:off x="-12700" y="0"/>
            <a:ext cx="9156700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80307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>
            <a:lvl1pPr algn="l">
              <a:defRPr spc="-1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 eaLnBrk="0" hangingPunct="0">
              <a:defRPr/>
            </a:pPr>
            <a:fld id="{16C77078-05F1-4D6D-AE79-42AFCD47D493}" type="datetime1">
              <a:rPr lang="en-AU" sz="2200" smtClean="0">
                <a:solidFill>
                  <a:prstClr val="black">
                    <a:tint val="75000"/>
                  </a:prstClr>
                </a:solidFill>
                <a:ea typeface="ＭＳ Ｐゴシック" pitchFamily="34" charset="-128"/>
              </a:rPr>
              <a:pPr eaLnBrk="0" hangingPunct="0">
                <a:defRPr/>
              </a:pPr>
              <a:t>26/02/2016</a:t>
            </a:fld>
            <a:endParaRPr lang="en-US" sz="2200">
              <a:solidFill>
                <a:prstClr val="black">
                  <a:tint val="75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 eaLnBrk="0" hangingPunct="0">
              <a:defRPr/>
            </a:pPr>
            <a:endParaRPr lang="en-US" sz="2200">
              <a:solidFill>
                <a:prstClr val="black">
                  <a:tint val="75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 eaLnBrk="0" hangingPunct="0">
              <a:defRPr/>
            </a:pPr>
            <a:endParaRPr lang="en-US" sz="2200">
              <a:solidFill>
                <a:prstClr val="black">
                  <a:tint val="75000"/>
                </a:prstClr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30217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7403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579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8112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361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4995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482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136904" cy="4824536"/>
          </a:xfrm>
        </p:spPr>
        <p:txBody>
          <a:bodyPr anchor="t">
            <a:normAutofit/>
          </a:bodyPr>
          <a:lstStyle>
            <a:lvl1pPr marL="182880" indent="-182880" algn="l">
              <a:buFont typeface="Arial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9436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7724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60120" indent="-182880" algn="l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67544" y="260648"/>
            <a:ext cx="8064896" cy="792088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pic>
        <p:nvPicPr>
          <p:cNvPr id="7" name="Picture 6" descr="http://www.idpblog.me/idp-en/wp-content/uploads/2012/09/Queensland-University-of-Technology_Logo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6463547"/>
            <a:ext cx="1099820" cy="32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258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4053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449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89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295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05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16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118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50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707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4628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158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995721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908383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7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Click="0" advTm="10000">
        <p14:glitter pattern="hexagon"/>
      </p:transition>
    </mc:Choice>
    <mc:Fallback xmlns="">
      <p:transition spd="slow" advClick="0" advTm="1000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68300"/>
            <a:ext cx="67056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93127" y="1506538"/>
            <a:ext cx="3815862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9667" y="1506538"/>
            <a:ext cx="3815862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93127" y="3640138"/>
            <a:ext cx="3815862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9667" y="3640138"/>
            <a:ext cx="3815862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001000" y="6553200"/>
            <a:ext cx="1143000" cy="304800"/>
          </a:xfrm>
          <a:prstGeom prst="rect">
            <a:avLst/>
          </a:prstGeom>
        </p:spPr>
        <p:txBody>
          <a:bodyPr/>
          <a:lstStyle>
            <a:lvl1pPr algn="ctr" eaLnBrk="0" hangingPunct="0">
              <a:defRPr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17DA65ED-F1C7-4087-AB21-3BE856A544E0}" type="slidenum">
              <a:rPr lang="de-DE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de-DE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8" name="Picture 7" descr="http://www.idpblog.me/idp-en/wp-content/uploads/2012/09/Queensland-University-of-Technology_Logo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6463547"/>
            <a:ext cx="1099820" cy="32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7019819" y="6604857"/>
            <a:ext cx="13019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F7F7F"/>
                </a:solidFill>
              </a:rPr>
              <a:t>© Marcello La Rosa</a:t>
            </a:r>
            <a:endParaRPr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1329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4.xml"/><Relationship Id="rId19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8246751" y="6625771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pitchFamily="34" charset="-128"/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2B5D784-C94F-4DA5-B5B5-CA36F2ADDE9E}" type="datetime1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pitchFamily="34" charset="-128"/>
              </a:rPr>
              <a:pPr/>
              <a:t>26/02/2016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AU">
              <a:solidFill>
                <a:prstClr val="black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208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065DD-CD64-4603-8EB8-7251E8235EC1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F9A30-5A23-4EBB-BE87-FE2A87DADF50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36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8246751" y="6625771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pitchFamily="34" charset="-128"/>
              </a:rPr>
              <a:pPr/>
              <a:t>‹#›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lumMod val="50000"/>
                  <a:lumOff val="50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AU">
              <a:solidFill>
                <a:prstClr val="black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866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gif"/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Microsoft_Visio_2003-2010_Drawing1111.vsd"/><Relationship Id="rId6" Type="http://schemas.openxmlformats.org/officeDocument/2006/relationships/image" Target="../media/image1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Microsoft_Visio_2003-2010_Drawing7777.vsd"/><Relationship Id="rId21" Type="http://schemas.openxmlformats.org/officeDocument/2006/relationships/image" Target="../media/image17.emf"/><Relationship Id="rId22" Type="http://schemas.openxmlformats.org/officeDocument/2006/relationships/oleObject" Target="../embeddings/oleObject8.bin"/><Relationship Id="rId23" Type="http://schemas.openxmlformats.org/officeDocument/2006/relationships/oleObject" Target="../embeddings/Microsoft_Visio_2003-2010_Drawing8888.vsd"/><Relationship Id="rId24" Type="http://schemas.openxmlformats.org/officeDocument/2006/relationships/image" Target="../media/image18.emf"/><Relationship Id="rId25" Type="http://schemas.openxmlformats.org/officeDocument/2006/relationships/oleObject" Target="../embeddings/oleObject9.bin"/><Relationship Id="rId26" Type="http://schemas.openxmlformats.org/officeDocument/2006/relationships/oleObject" Target="../embeddings/Microsoft_Visio_2003-2010_Drawing9999.vsd"/><Relationship Id="rId27" Type="http://schemas.openxmlformats.org/officeDocument/2006/relationships/image" Target="../media/image19.emf"/><Relationship Id="rId28" Type="http://schemas.openxmlformats.org/officeDocument/2006/relationships/oleObject" Target="../embeddings/oleObject10.bin"/><Relationship Id="rId29" Type="http://schemas.openxmlformats.org/officeDocument/2006/relationships/oleObject" Target="../embeddings/Microsoft_Visio_2003-2010_Drawing10101010.vsd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Microsoft_Visio_2003-2010_Drawing2222.vsd"/><Relationship Id="rId30" Type="http://schemas.openxmlformats.org/officeDocument/2006/relationships/image" Target="../media/image20.emf"/><Relationship Id="rId31" Type="http://schemas.openxmlformats.org/officeDocument/2006/relationships/oleObject" Target="../embeddings/oleObject11.bin"/><Relationship Id="rId32" Type="http://schemas.openxmlformats.org/officeDocument/2006/relationships/oleObject" Target="../embeddings/Microsoft_Visio_2003-2010_Drawing11111111.vsd"/><Relationship Id="rId9" Type="http://schemas.openxmlformats.org/officeDocument/2006/relationships/image" Target="../media/image13.emf"/><Relationship Id="rId6" Type="http://schemas.openxmlformats.org/officeDocument/2006/relationships/image" Target="../media/image12.emf"/><Relationship Id="rId7" Type="http://schemas.openxmlformats.org/officeDocument/2006/relationships/oleObject" Target="../embeddings/oleObject3.bin"/><Relationship Id="rId8" Type="http://schemas.openxmlformats.org/officeDocument/2006/relationships/oleObject" Target="../embeddings/Microsoft_Visio_2003-2010_Drawing3333.vsd"/><Relationship Id="rId33" Type="http://schemas.openxmlformats.org/officeDocument/2006/relationships/image" Target="../media/image21.emf"/><Relationship Id="rId34" Type="http://schemas.openxmlformats.org/officeDocument/2006/relationships/oleObject" Target="../embeddings/oleObject12.bin"/><Relationship Id="rId35" Type="http://schemas.openxmlformats.org/officeDocument/2006/relationships/oleObject" Target="../embeddings/Microsoft_Visio_2003-2010_Drawing12121212.vsd"/><Relationship Id="rId36" Type="http://schemas.openxmlformats.org/officeDocument/2006/relationships/image" Target="../media/image22.emf"/><Relationship Id="rId10" Type="http://schemas.openxmlformats.org/officeDocument/2006/relationships/oleObject" Target="../embeddings/oleObject4.bin"/><Relationship Id="rId11" Type="http://schemas.openxmlformats.org/officeDocument/2006/relationships/oleObject" Target="../embeddings/Microsoft_Visio_2003-2010_Drawing4444.vsd"/><Relationship Id="rId12" Type="http://schemas.openxmlformats.org/officeDocument/2006/relationships/image" Target="../media/image14.emf"/><Relationship Id="rId13" Type="http://schemas.openxmlformats.org/officeDocument/2006/relationships/oleObject" Target="../embeddings/oleObject5.bin"/><Relationship Id="rId14" Type="http://schemas.openxmlformats.org/officeDocument/2006/relationships/oleObject" Target="../embeddings/Microsoft_Visio_2003-2010_Drawing5555.vsd"/><Relationship Id="rId15" Type="http://schemas.openxmlformats.org/officeDocument/2006/relationships/image" Target="../media/image15.emf"/><Relationship Id="rId16" Type="http://schemas.openxmlformats.org/officeDocument/2006/relationships/oleObject" Target="../embeddings/oleObject6.bin"/><Relationship Id="rId17" Type="http://schemas.openxmlformats.org/officeDocument/2006/relationships/oleObject" Target="../embeddings/Microsoft_Visio_2003-2010_Drawing6666.vsd"/><Relationship Id="rId18" Type="http://schemas.openxmlformats.org/officeDocument/2006/relationships/image" Target="../media/image16.emf"/><Relationship Id="rId19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Microsoft_Visio_2003-2010_Drawing13131313.vsd"/><Relationship Id="rId6" Type="http://schemas.openxmlformats.org/officeDocument/2006/relationships/image" Target="../media/image23.emf"/><Relationship Id="rId7" Type="http://schemas.openxmlformats.org/officeDocument/2006/relationships/oleObject" Target="../embeddings/oleObject14.bin"/><Relationship Id="rId8" Type="http://schemas.openxmlformats.org/officeDocument/2006/relationships/oleObject" Target="../embeddings/Microsoft_Visio_2003-2010_Drawing14141414.vsd"/><Relationship Id="rId9" Type="http://schemas.openxmlformats.org/officeDocument/2006/relationships/image" Target="../media/image24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15.bin"/><Relationship Id="rId5" Type="http://schemas.openxmlformats.org/officeDocument/2006/relationships/oleObject" Target="../embeddings/Microsoft_Visio_2003-2010_Drawing15151515.vsd"/><Relationship Id="rId6" Type="http://schemas.openxmlformats.org/officeDocument/2006/relationships/image" Target="../media/image26.emf"/><Relationship Id="rId7" Type="http://schemas.openxmlformats.org/officeDocument/2006/relationships/oleObject" Target="../embeddings/oleObject16.bin"/><Relationship Id="rId8" Type="http://schemas.openxmlformats.org/officeDocument/2006/relationships/oleObject" Target="../embeddings/Microsoft_Visio_2003-2010_Drawing16161616.vsd"/><Relationship Id="rId9" Type="http://schemas.openxmlformats.org/officeDocument/2006/relationships/image" Target="../media/image27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33.emf"/><Relationship Id="rId6" Type="http://schemas.openxmlformats.org/officeDocument/2006/relationships/oleObject" Target="../embeddings/oleObject18.bin"/><Relationship Id="rId7" Type="http://schemas.openxmlformats.org/officeDocument/2006/relationships/image" Target="../media/image34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Microsoft_Visio_2003-2010_Drawing22222222.vsd"/><Relationship Id="rId21" Type="http://schemas.openxmlformats.org/officeDocument/2006/relationships/image" Target="../media/image44.emf"/><Relationship Id="rId22" Type="http://schemas.openxmlformats.org/officeDocument/2006/relationships/oleObject" Target="../embeddings/oleObject25.bin"/><Relationship Id="rId23" Type="http://schemas.openxmlformats.org/officeDocument/2006/relationships/oleObject" Target="../embeddings/Microsoft_Visio_2003-2010_Drawing23232323.vsd"/><Relationship Id="rId24" Type="http://schemas.openxmlformats.org/officeDocument/2006/relationships/image" Target="../media/image45.emf"/><Relationship Id="rId25" Type="http://schemas.openxmlformats.org/officeDocument/2006/relationships/oleObject" Target="../embeddings/oleObject26.bin"/><Relationship Id="rId26" Type="http://schemas.openxmlformats.org/officeDocument/2006/relationships/oleObject" Target="../embeddings/Microsoft_Visio_2003-2010_Drawing24242424.vsd"/><Relationship Id="rId27" Type="http://schemas.openxmlformats.org/officeDocument/2006/relationships/image" Target="../media/image46.emf"/><Relationship Id="rId28" Type="http://schemas.openxmlformats.org/officeDocument/2006/relationships/oleObject" Target="../embeddings/oleObject27.bin"/><Relationship Id="rId29" Type="http://schemas.openxmlformats.org/officeDocument/2006/relationships/oleObject" Target="../embeddings/Microsoft_Visio_2003-2010_Drawing25252525.vsd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19.bin"/><Relationship Id="rId5" Type="http://schemas.openxmlformats.org/officeDocument/2006/relationships/oleObject" Target="../embeddings/Microsoft_Visio_2003-2010_Drawing17171717.vsd"/><Relationship Id="rId30" Type="http://schemas.openxmlformats.org/officeDocument/2006/relationships/image" Target="../media/image47.emf"/><Relationship Id="rId31" Type="http://schemas.openxmlformats.org/officeDocument/2006/relationships/oleObject" Target="../embeddings/oleObject28.bin"/><Relationship Id="rId32" Type="http://schemas.openxmlformats.org/officeDocument/2006/relationships/oleObject" Target="../embeddings/Microsoft_Visio_2003-2010_Drawing26262626.vsd"/><Relationship Id="rId9" Type="http://schemas.openxmlformats.org/officeDocument/2006/relationships/image" Target="../media/image40.emf"/><Relationship Id="rId6" Type="http://schemas.openxmlformats.org/officeDocument/2006/relationships/image" Target="../media/image39.emf"/><Relationship Id="rId7" Type="http://schemas.openxmlformats.org/officeDocument/2006/relationships/oleObject" Target="../embeddings/oleObject20.bin"/><Relationship Id="rId8" Type="http://schemas.openxmlformats.org/officeDocument/2006/relationships/oleObject" Target="../embeddings/Microsoft_Visio_2003-2010_Drawing18181818.vsd"/><Relationship Id="rId33" Type="http://schemas.openxmlformats.org/officeDocument/2006/relationships/image" Target="../media/image48.emf"/><Relationship Id="rId10" Type="http://schemas.openxmlformats.org/officeDocument/2006/relationships/oleObject" Target="../embeddings/oleObject21.bin"/><Relationship Id="rId11" Type="http://schemas.openxmlformats.org/officeDocument/2006/relationships/oleObject" Target="../embeddings/Microsoft_Visio_2003-2010_Drawing19191919.vsd"/><Relationship Id="rId12" Type="http://schemas.openxmlformats.org/officeDocument/2006/relationships/image" Target="../media/image41.emf"/><Relationship Id="rId13" Type="http://schemas.openxmlformats.org/officeDocument/2006/relationships/oleObject" Target="../embeddings/oleObject22.bin"/><Relationship Id="rId14" Type="http://schemas.openxmlformats.org/officeDocument/2006/relationships/oleObject" Target="../embeddings/Microsoft_Visio_2003-2010_Drawing20202020.vsd"/><Relationship Id="rId15" Type="http://schemas.openxmlformats.org/officeDocument/2006/relationships/image" Target="../media/image42.emf"/><Relationship Id="rId16" Type="http://schemas.openxmlformats.org/officeDocument/2006/relationships/oleObject" Target="../embeddings/oleObject23.bin"/><Relationship Id="rId17" Type="http://schemas.openxmlformats.org/officeDocument/2006/relationships/oleObject" Target="../embeddings/Microsoft_Visio_2003-2010_Drawing21212121.vsd"/><Relationship Id="rId18" Type="http://schemas.openxmlformats.org/officeDocument/2006/relationships/image" Target="../media/image43.emf"/><Relationship Id="rId19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29.bin"/><Relationship Id="rId5" Type="http://schemas.openxmlformats.org/officeDocument/2006/relationships/oleObject" Target="../embeddings/Microsoft_Visio_2003-2010_Drawing27272727.vsd"/><Relationship Id="rId6" Type="http://schemas.openxmlformats.org/officeDocument/2006/relationships/image" Target="../media/image49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30.bin"/><Relationship Id="rId5" Type="http://schemas.openxmlformats.org/officeDocument/2006/relationships/image" Target="../media/image61.emf"/><Relationship Id="rId6" Type="http://schemas.openxmlformats.org/officeDocument/2006/relationships/oleObject" Target="../embeddings/oleObject31.bin"/><Relationship Id="rId7" Type="http://schemas.openxmlformats.org/officeDocument/2006/relationships/oleObject" Target="../embeddings/Microsoft_Visio_2003-2010_Drawing28282828.vsd"/><Relationship Id="rId8" Type="http://schemas.openxmlformats.org/officeDocument/2006/relationships/image" Target="../media/image62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32.bin"/><Relationship Id="rId5" Type="http://schemas.openxmlformats.org/officeDocument/2006/relationships/oleObject" Target="../embeddings/Microsoft_Visio_2003-2010_Drawing29292929.vsd"/><Relationship Id="rId6" Type="http://schemas.openxmlformats.org/officeDocument/2006/relationships/image" Target="../media/image63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4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116610" y="5283200"/>
            <a:ext cx="4318991" cy="1330795"/>
          </a:xfrm>
          <a:prstGeom prst="rect">
            <a:avLst/>
          </a:prstGeom>
          <a:solidFill>
            <a:srgbClr val="000000">
              <a:alpha val="73000"/>
            </a:srgbClr>
          </a:solidFill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3" indent="0" fontAlgn="base">
              <a:lnSpc>
                <a:spcPct val="80000"/>
              </a:lnSpc>
              <a:spcBef>
                <a:spcPts val="0"/>
              </a:spcBef>
              <a:buClr>
                <a:srgbClr val="1F497D"/>
              </a:buClr>
              <a:buFont typeface="Arial" pitchFamily="34" charset="0"/>
              <a:buNone/>
              <a:tabLst>
                <a:tab pos="5287963" algn="l"/>
              </a:tabLst>
            </a:pPr>
            <a:r>
              <a:rPr lang="en-US" sz="2800" b="1" spc="-80" dirty="0" smtClean="0">
                <a:solidFill>
                  <a:prstClr val="white"/>
                </a:solidFill>
                <a:cs typeface="Gill Sans"/>
              </a:rPr>
              <a:t>Prof. Marcello La Rosa</a:t>
            </a:r>
          </a:p>
          <a:p>
            <a:pPr marL="398463" indent="0" fontAlgn="base">
              <a:lnSpc>
                <a:spcPct val="80000"/>
              </a:lnSpc>
              <a:spcBef>
                <a:spcPts val="0"/>
              </a:spcBef>
              <a:buClr>
                <a:srgbClr val="1F497D"/>
              </a:buClr>
              <a:buFont typeface="Arial" pitchFamily="34" charset="0"/>
              <a:buNone/>
              <a:tabLst>
                <a:tab pos="5287963" algn="l"/>
              </a:tabLst>
            </a:pPr>
            <a:r>
              <a:rPr lang="en-US" sz="2000" spc="-80" dirty="0" smtClean="0">
                <a:solidFill>
                  <a:prstClr val="white"/>
                </a:solidFill>
                <a:cs typeface="Gill Sans"/>
              </a:rPr>
              <a:t>BPM Discipline</a:t>
            </a:r>
          </a:p>
          <a:p>
            <a:pPr marL="398463" indent="0" fontAlgn="base">
              <a:lnSpc>
                <a:spcPct val="80000"/>
              </a:lnSpc>
              <a:spcBef>
                <a:spcPts val="0"/>
              </a:spcBef>
              <a:buClr>
                <a:srgbClr val="1F497D"/>
              </a:buClr>
              <a:buFont typeface="Arial" pitchFamily="34" charset="0"/>
              <a:buNone/>
              <a:tabLst>
                <a:tab pos="5287963" algn="l"/>
              </a:tabLst>
            </a:pPr>
            <a:r>
              <a:rPr lang="en-US" sz="2000" spc="-80" dirty="0" smtClean="0">
                <a:solidFill>
                  <a:prstClr val="white"/>
                </a:solidFill>
                <a:cs typeface="Gill Sans"/>
              </a:rPr>
              <a:t>Queensland University of Technology</a:t>
            </a:r>
            <a:endParaRPr lang="en-AU" sz="2000" spc="-80" dirty="0">
              <a:solidFill>
                <a:prstClr val="white"/>
              </a:solidFill>
              <a:cs typeface="Gill San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-991" y="88900"/>
            <a:ext cx="8776689" cy="2501900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3" indent="0" fontAlgn="base">
              <a:lnSpc>
                <a:spcPct val="110000"/>
              </a:lnSpc>
              <a:spcBef>
                <a:spcPts val="0"/>
              </a:spcBef>
              <a:buClr>
                <a:srgbClr val="1F497D"/>
              </a:buClr>
              <a:buFont typeface="Arial" pitchFamily="34" charset="0"/>
              <a:buNone/>
              <a:tabLst>
                <a:tab pos="5287963" algn="l"/>
              </a:tabLst>
            </a:pPr>
            <a:r>
              <a:rPr lang="en-US" sz="4400" b="1" spc="-80" dirty="0" smtClean="0">
                <a:solidFill>
                  <a:srgbClr val="FF0000"/>
                </a:solidFill>
                <a:effectLst>
                  <a:glow rad="63500">
                    <a:srgbClr val="BBE0E3">
                      <a:satMod val="175000"/>
                      <a:alpha val="40000"/>
                    </a:srgbClr>
                  </a:glow>
                </a:effectLst>
                <a:cs typeface="Gill Sans"/>
              </a:rPr>
              <a:t>Business Process Modelling</a:t>
            </a:r>
            <a:br>
              <a:rPr lang="en-US" sz="4400" b="1" spc="-80" dirty="0" smtClean="0">
                <a:solidFill>
                  <a:srgbClr val="FF0000"/>
                </a:solidFill>
                <a:effectLst>
                  <a:glow rad="63500">
                    <a:srgbClr val="BBE0E3">
                      <a:satMod val="175000"/>
                      <a:alpha val="40000"/>
                    </a:srgbClr>
                  </a:glow>
                </a:effectLst>
                <a:cs typeface="Gill Sans"/>
              </a:rPr>
            </a:br>
            <a:endParaRPr lang="en-US" sz="4400" b="1" spc="-80" dirty="0">
              <a:solidFill>
                <a:srgbClr val="FFFFFF"/>
              </a:solidFill>
              <a:effectLst>
                <a:glow rad="63500">
                  <a:srgbClr val="BBE0E3">
                    <a:satMod val="175000"/>
                    <a:alpha val="40000"/>
                  </a:srgbClr>
                </a:glow>
              </a:effectLst>
              <a:cs typeface="Gill Sans"/>
            </a:endParaRPr>
          </a:p>
        </p:txBody>
      </p:sp>
      <p:pic>
        <p:nvPicPr>
          <p:cNvPr id="2491394" name="Picture 2" descr="http://images.all-free-download.com/images/graphiclarge/qut_7_12862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9" t="17595" r="18745" b="17708"/>
          <a:stretch/>
        </p:blipFill>
        <p:spPr bwMode="auto">
          <a:xfrm>
            <a:off x="89823" y="5283200"/>
            <a:ext cx="1287421" cy="132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583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What types of gateways there exist?</a:t>
            </a:r>
          </a:p>
          <a:p>
            <a:r>
              <a:rPr lang="en-US" altLang="en-US" dirty="0" smtClean="0"/>
              <a:t>What are the vocabulary, syntax, semantics and notation of BPMN?</a:t>
            </a:r>
          </a:p>
          <a:p>
            <a:endParaRPr lang="en-US" altLang="en-US" dirty="0" smtClean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Quick recap from Week 3</a:t>
            </a:r>
          </a:p>
        </p:txBody>
      </p:sp>
      <p:pic>
        <p:nvPicPr>
          <p:cNvPr id="7173" name="Picture 4" descr="aaaaaaaaaaaaaaaaaaaaaaaaaaw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923" y="5102469"/>
            <a:ext cx="2211266" cy="149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84384" y="2902444"/>
            <a:ext cx="4330212" cy="2200025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215">
              <a:solidFill>
                <a:prstClr val="black"/>
              </a:solidFill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798684" y="4037134"/>
            <a:ext cx="1143000" cy="9393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39" dirty="0">
                <a:solidFill>
                  <a:prstClr val="black"/>
                </a:solidFill>
              </a:rPr>
              <a:t>Syntax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58146" y="2989955"/>
            <a:ext cx="2468946" cy="37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46" b="1" dirty="0">
                <a:solidFill>
                  <a:prstClr val="black"/>
                </a:solidFill>
              </a:rPr>
              <a:t>Modelling Language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092619" y="4050323"/>
            <a:ext cx="1346688" cy="93931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39" dirty="0">
                <a:solidFill>
                  <a:prstClr val="black"/>
                </a:solidFill>
              </a:rPr>
              <a:t>Semantics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3647391" y="4037134"/>
            <a:ext cx="1225062" cy="9393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39" dirty="0">
                <a:solidFill>
                  <a:prstClr val="black"/>
                </a:solidFill>
              </a:rPr>
              <a:t>Notation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795503" y="3411767"/>
            <a:ext cx="4076950" cy="474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39" dirty="0" smtClean="0">
                <a:solidFill>
                  <a:prstClr val="black"/>
                </a:solidFill>
              </a:rPr>
              <a:t>Vocabulary</a:t>
            </a:r>
            <a:endParaRPr lang="en-US" altLang="en-US" sz="1939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246751" y="6625771"/>
            <a:ext cx="533400" cy="152400"/>
          </a:xfrm>
        </p:spPr>
        <p:txBody>
          <a:bodyPr/>
          <a:lstStyle/>
          <a:p>
            <a:r>
              <a:rPr lang="en-A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2</a:t>
            </a:r>
            <a:endParaRPr lang="en-AU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25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8069" y="1447800"/>
            <a:ext cx="4112731" cy="2133600"/>
          </a:xfrm>
        </p:spPr>
        <p:txBody>
          <a:bodyPr>
            <a:normAutofit/>
          </a:bodyPr>
          <a:lstStyle/>
          <a:p>
            <a:r>
              <a:rPr lang="en-AU" sz="3200" dirty="0" smtClean="0">
                <a:solidFill>
                  <a:srgbClr val="C00000"/>
                </a:solidFill>
              </a:rPr>
              <a:t>Information artifacts and resources in BPMN</a:t>
            </a:r>
            <a:endParaRPr lang="en-AU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7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7" name="Rectangle 2"/>
          <p:cNvSpPr>
            <a:spLocks noChangeArrowheads="1"/>
          </p:cNvSpPr>
          <p:nvPr/>
        </p:nvSpPr>
        <p:spPr bwMode="auto">
          <a:xfrm>
            <a:off x="6378170" y="5183395"/>
            <a:ext cx="6324650" cy="10776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2970" tIns="32970" rIns="32970" bIns="32970"/>
          <a:lstStyle/>
          <a:p>
            <a:pPr defTabSz="703402"/>
            <a:endParaRPr lang="en-AU" sz="2308" b="1">
              <a:solidFill>
                <a:srgbClr val="5B6973"/>
              </a:solidFill>
              <a:cs typeface="ＭＳ Ｐゴシック"/>
            </a:endParaRPr>
          </a:p>
        </p:txBody>
      </p:sp>
      <p:sp>
        <p:nvSpPr>
          <p:cNvPr id="700418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609600" y="368300"/>
            <a:ext cx="7943636" cy="609600"/>
          </a:xfrm>
        </p:spPr>
        <p:txBody>
          <a:bodyPr>
            <a:normAutofit/>
          </a:bodyPr>
          <a:lstStyle/>
          <a:p>
            <a:pPr algn="l"/>
            <a:r>
              <a:rPr lang="en-AU" sz="3200" dirty="0" smtClean="0">
                <a:solidFill>
                  <a:srgbClr val="C00000"/>
                </a:solidFill>
              </a:rPr>
              <a:t>Information </a:t>
            </a:r>
            <a:r>
              <a:rPr lang="en-AU" sz="3200" dirty="0">
                <a:solidFill>
                  <a:srgbClr val="C00000"/>
                </a:solidFill>
              </a:rPr>
              <a:t>a</a:t>
            </a:r>
            <a:r>
              <a:rPr lang="en-AU" sz="3200" dirty="0" smtClean="0">
                <a:solidFill>
                  <a:srgbClr val="C00000"/>
                </a:solidFill>
              </a:rPr>
              <a:t>rtifacts (a.k.a. business objects)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DA65ED-F1C7-4087-AB21-3BE856A544E0}" type="slidenum">
              <a:rPr lang="de-DE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4</a:t>
            </a:fld>
            <a:endParaRPr lang="de-DE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2542600" name="Picture 8" descr="http://pixabay.com/static/uploads/photo/2013/07/12/15/56/word-document-150594_64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939" y="1232993"/>
            <a:ext cx="1641973" cy="205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2604" name="Picture 12" descr="http://www.ju.edu.jo/images/pd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40" y="2187538"/>
            <a:ext cx="1783073" cy="178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2608" name="Picture 16" descr="http://pixabay.com/static/uploads/photo/2014/03/25/15/25/cardboard-box-296818_64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372" y="4483522"/>
            <a:ext cx="2128744" cy="222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2610" name="Picture 18" descr="https://www.purdue.edu/learning/blog/wp-content/uploads/2012/06/paper-stack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030" y="1373693"/>
            <a:ext cx="2944701" cy="220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317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80349"/>
            <a:ext cx="8136904" cy="569782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AU" dirty="0" smtClean="0"/>
          </a:p>
          <a:p>
            <a:pPr>
              <a:buFontTx/>
              <a:buNone/>
            </a:pPr>
            <a:endParaRPr lang="en-AU" dirty="0"/>
          </a:p>
          <a:p>
            <a:pPr marL="1588" indent="-1588">
              <a:buFontTx/>
              <a:buNone/>
            </a:pPr>
            <a:endParaRPr lang="en-AU" sz="2400" dirty="0" smtClean="0"/>
          </a:p>
          <a:p>
            <a:pPr marL="1588" indent="-1588">
              <a:buFontTx/>
              <a:buNone/>
            </a:pPr>
            <a:endParaRPr lang="en-AU" dirty="0"/>
          </a:p>
          <a:p>
            <a:pPr marL="1588" indent="-1588">
              <a:buFontTx/>
              <a:buNone/>
            </a:pPr>
            <a:endParaRPr lang="en-AU" sz="2400" dirty="0" smtClean="0"/>
          </a:p>
          <a:p>
            <a:pPr marL="1588" indent="-1588">
              <a:buFontTx/>
              <a:buNone/>
            </a:pPr>
            <a:endParaRPr lang="en-AU" dirty="0"/>
          </a:p>
          <a:p>
            <a:pPr marL="1588" indent="-1588">
              <a:buFontTx/>
              <a:buNone/>
            </a:pPr>
            <a:endParaRPr lang="en-AU" sz="2400" dirty="0" smtClean="0"/>
          </a:p>
          <a:p>
            <a:pPr marL="1588" indent="-1588">
              <a:buFontTx/>
              <a:buNone/>
            </a:pPr>
            <a:r>
              <a:rPr lang="en-AU" sz="2400" dirty="0" smtClean="0"/>
              <a:t>The </a:t>
            </a:r>
            <a:r>
              <a:rPr lang="en-AU" dirty="0"/>
              <a:t>p</a:t>
            </a:r>
            <a:r>
              <a:rPr lang="en-AU" sz="2400" dirty="0" smtClean="0"/>
              <a:t>urchase </a:t>
            </a:r>
            <a:r>
              <a:rPr lang="en-AU" dirty="0"/>
              <a:t>o</a:t>
            </a:r>
            <a:r>
              <a:rPr lang="en-AU" sz="2400" dirty="0" smtClean="0"/>
              <a:t>rder </a:t>
            </a:r>
            <a:r>
              <a:rPr lang="en-AU" sz="2400" dirty="0"/>
              <a:t>document serves as an input to the </a:t>
            </a:r>
            <a:r>
              <a:rPr lang="en-AU" sz="2400" dirty="0" smtClean="0"/>
              <a:t>stock availability </a:t>
            </a:r>
            <a:r>
              <a:rPr lang="en-AU" sz="2400" dirty="0"/>
              <a:t>check. Based on the outcome of this check, the status of the document is updated, either to “approved” or “rejected</a:t>
            </a:r>
            <a:r>
              <a:rPr lang="en-AU" sz="2400" dirty="0" smtClean="0"/>
              <a:t>”. If the order is approved, an invoice and a shipment notice are produced.</a:t>
            </a:r>
          </a:p>
        </p:txBody>
      </p:sp>
      <p:sp>
        <p:nvSpPr>
          <p:cNvPr id="100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Our Order-to-cash process, again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5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/>
          </p:nvPr>
        </p:nvGraphicFramePr>
        <p:xfrm>
          <a:off x="134852" y="1352547"/>
          <a:ext cx="8804275" cy="268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Visio" r:id="rId5" imgW="10551602" imgH="3288872" progId="Visio.Drawing.11">
                  <p:embed/>
                </p:oleObj>
              </mc:Choice>
              <mc:Fallback>
                <p:oleObj name="Visio" r:id="rId5" imgW="10551602" imgH="328887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52" y="1352547"/>
                        <a:ext cx="8804275" cy="268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978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6"/>
          <p:cNvGraphicFramePr>
            <a:graphicFrameLocks noChangeAspect="1"/>
          </p:cNvGraphicFramePr>
          <p:nvPr>
            <p:extLst/>
          </p:nvPr>
        </p:nvGraphicFramePr>
        <p:xfrm>
          <a:off x="5032693" y="111125"/>
          <a:ext cx="2043113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5" name="Visio" r:id="rId5" imgW="2144771" imgH="1345173" progId="Visio.Drawing.11">
                  <p:embed/>
                </p:oleObj>
              </mc:Choice>
              <mc:Fallback>
                <p:oleObj name="Visio" r:id="rId5" imgW="2144771" imgH="13451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693" y="111125"/>
                        <a:ext cx="2043113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>
            <p:extLst/>
          </p:nvPr>
        </p:nvGraphicFramePr>
        <p:xfrm>
          <a:off x="134852" y="1352547"/>
          <a:ext cx="8804275" cy="268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6" name="Visio" r:id="rId8" imgW="10551602" imgH="3288872" progId="Visio.Drawing.11">
                  <p:embed/>
                </p:oleObj>
              </mc:Choice>
              <mc:Fallback>
                <p:oleObj name="Visio" r:id="rId8" imgW="10551602" imgH="328887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52" y="1352547"/>
                        <a:ext cx="8804275" cy="268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/>
          </p:nvPr>
        </p:nvGraphicFramePr>
        <p:xfrm>
          <a:off x="1679650" y="768001"/>
          <a:ext cx="2646362" cy="284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7" name="Visio" r:id="rId11" imgW="2776808" imgH="2848524" progId="Visio.Drawing.11">
                  <p:embed/>
                </p:oleObj>
              </mc:Choice>
              <mc:Fallback>
                <p:oleObj name="Visio" r:id="rId11" imgW="2776808" imgH="284852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650" y="768001"/>
                        <a:ext cx="2646362" cy="284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625" y="53484"/>
            <a:ext cx="8064896" cy="792088"/>
          </a:xfrm>
        </p:spPr>
        <p:txBody>
          <a:bodyPr/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graphicFrame>
        <p:nvGraphicFramePr>
          <p:cNvPr id="6" name="Object 16"/>
          <p:cNvGraphicFramePr>
            <a:graphicFrameLocks noChangeAspect="1"/>
          </p:cNvGraphicFramePr>
          <p:nvPr>
            <p:extLst/>
          </p:nvPr>
        </p:nvGraphicFramePr>
        <p:xfrm>
          <a:off x="-85725" y="724930"/>
          <a:ext cx="1719263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8" name="Visio" r:id="rId14" imgW="1804959" imgH="1857237" progId="Visio.Drawing.11">
                  <p:embed/>
                </p:oleObj>
              </mc:Choice>
              <mc:Fallback>
                <p:oleObj name="Visio" r:id="rId14" imgW="1804959" imgH="185723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5725" y="724930"/>
                        <a:ext cx="1719263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>
            <p:extLst/>
          </p:nvPr>
        </p:nvGraphicFramePr>
        <p:xfrm>
          <a:off x="1212180" y="573646"/>
          <a:ext cx="1728787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9" name="Visio" r:id="rId17" imgW="1814342" imgH="2187666" progId="Visio.Drawing.11">
                  <p:embed/>
                </p:oleObj>
              </mc:Choice>
              <mc:Fallback>
                <p:oleObj name="Visio" r:id="rId17" imgW="1814342" imgH="218766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180" y="573646"/>
                        <a:ext cx="1728787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>
            <p:extLst/>
          </p:nvPr>
        </p:nvGraphicFramePr>
        <p:xfrm>
          <a:off x="3059113" y="2608263"/>
          <a:ext cx="762000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0" name="Visio" r:id="rId20" imgW="799597" imgH="2862599" progId="Visio.Drawing.11">
                  <p:embed/>
                </p:oleObj>
              </mc:Choice>
              <mc:Fallback>
                <p:oleObj name="Visio" r:id="rId20" imgW="799597" imgH="28625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608263"/>
                        <a:ext cx="762000" cy="286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/>
          </p:nvPr>
        </p:nvGraphicFramePr>
        <p:xfrm>
          <a:off x="4763219" y="625475"/>
          <a:ext cx="2305050" cy="358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1" name="Visio" r:id="rId23" imgW="2417559" imgH="3590480" progId="Visio.Drawing.11">
                  <p:embed/>
                </p:oleObj>
              </mc:Choice>
              <mc:Fallback>
                <p:oleObj name="Visio" r:id="rId23" imgW="2417559" imgH="35904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3219" y="625475"/>
                        <a:ext cx="2305050" cy="358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/>
          </p:nvPr>
        </p:nvGraphicFramePr>
        <p:xfrm>
          <a:off x="133053" y="3131523"/>
          <a:ext cx="1312862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2" name="Visio" r:id="rId26" imgW="1311661" imgH="1264074" progId="Visio.Drawing.11">
                  <p:embed/>
                </p:oleObj>
              </mc:Choice>
              <mc:Fallback>
                <p:oleObj name="Visio" r:id="rId26" imgW="1311661" imgH="12640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53" y="3131523"/>
                        <a:ext cx="1312862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/>
          </p:nvPr>
        </p:nvGraphicFramePr>
        <p:xfrm>
          <a:off x="7200589" y="2580718"/>
          <a:ext cx="1312862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3" name="Visio" r:id="rId29" imgW="1311661" imgH="1264074" progId="Visio.Drawing.11">
                  <p:embed/>
                </p:oleObj>
              </mc:Choice>
              <mc:Fallback>
                <p:oleObj name="Visio" r:id="rId29" imgW="1311661" imgH="12640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589" y="2580718"/>
                        <a:ext cx="1312862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>
            <p:extLst/>
          </p:nvPr>
        </p:nvGraphicFramePr>
        <p:xfrm>
          <a:off x="7010400" y="482750"/>
          <a:ext cx="113665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4" name="Visio" r:id="rId32" imgW="1192358" imgH="1589141" progId="Visio.Drawing.11">
                  <p:embed/>
                </p:oleObj>
              </mc:Choice>
              <mc:Fallback>
                <p:oleObj name="Visio" r:id="rId32" imgW="1192358" imgH="158914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82750"/>
                        <a:ext cx="113665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>
            <p:extLst/>
          </p:nvPr>
        </p:nvGraphicFramePr>
        <p:xfrm>
          <a:off x="3805957" y="346127"/>
          <a:ext cx="143986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5" name="Visio" r:id="rId35" imgW="1512734" imgH="1656165" progId="Visio.Drawing.11">
                  <p:embed/>
                </p:oleObj>
              </mc:Choice>
              <mc:Fallback>
                <p:oleObj name="Visio" r:id="rId35" imgW="1512734" imgH="165616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957" y="346127"/>
                        <a:ext cx="1439863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1973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/>
          <p:cNvSpPr>
            <a:spLocks noGrp="1" noChangeArrowheads="1"/>
          </p:cNvSpPr>
          <p:nvPr>
            <p:ph idx="1"/>
          </p:nvPr>
        </p:nvSpPr>
        <p:spPr>
          <a:xfrm>
            <a:off x="2718308" y="1376153"/>
            <a:ext cx="6061843" cy="4824536"/>
          </a:xfrm>
        </p:spPr>
        <p:txBody>
          <a:bodyPr>
            <a:noAutofit/>
          </a:bodyPr>
          <a:lstStyle/>
          <a:p>
            <a:pPr marL="0" indent="0">
              <a:buClr>
                <a:prstClr val="black">
                  <a:lumMod val="50000"/>
                  <a:lumOff val="50000"/>
                </a:prstClr>
              </a:buClr>
              <a:buNone/>
            </a:pP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A </a:t>
            </a:r>
            <a:r>
              <a:rPr lang="en-AU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Data Object </a:t>
            </a: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captures an artifact required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(</a:t>
            </a: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input) or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produced </a:t>
            </a: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(output) by an activity.</a:t>
            </a:r>
            <a:endParaRPr lang="en-AU" dirty="0">
              <a:solidFill>
                <a:prstClr val="black">
                  <a:lumMod val="75000"/>
                  <a:lumOff val="25000"/>
                </a:prstClr>
              </a:solidFill>
              <a:latin typeface="Calibri"/>
            </a:endParaRPr>
          </a:p>
          <a:p>
            <a:pPr lvl="1"/>
            <a:r>
              <a:rPr lang="en-AU" dirty="0" smtClean="0"/>
              <a:t>Can be physical or electronic</a:t>
            </a:r>
            <a:endParaRPr lang="en-AU" dirty="0"/>
          </a:p>
        </p:txBody>
      </p:sp>
      <p:sp>
        <p:nvSpPr>
          <p:cNvPr id="1004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BPMN </a:t>
            </a:r>
            <a:r>
              <a:rPr lang="en-AU" dirty="0" smtClean="0"/>
              <a:t>Information Artifacts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7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223838" y="1050925"/>
          <a:ext cx="2265362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4" name="Visio" r:id="rId5" imgW="2264744" imgH="1823725" progId="Visio.Drawing.11">
                  <p:embed/>
                </p:oleObj>
              </mc:Choice>
              <mc:Fallback>
                <p:oleObj name="Visio" r:id="rId5" imgW="2264744" imgH="18237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1050925"/>
                        <a:ext cx="2265362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/>
          </p:nvPr>
        </p:nvGraphicFramePr>
        <p:xfrm>
          <a:off x="127000" y="3863975"/>
          <a:ext cx="2265363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name="Visio" r:id="rId8" imgW="2264744" imgH="1823725" progId="Visio.Drawing.11">
                  <p:embed/>
                </p:oleObj>
              </mc:Choice>
              <mc:Fallback>
                <p:oleObj name="Visio" r:id="rId8" imgW="2264744" imgH="18237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" y="3863975"/>
                        <a:ext cx="2265363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761699" y="3788421"/>
            <a:ext cx="5922457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prstClr val="black">
                  <a:lumMod val="50000"/>
                  <a:lumOff val="50000"/>
                </a:prstClr>
              </a:buClr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 </a:t>
            </a:r>
            <a:r>
              <a:rPr lang="en-US" sz="24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Data Store </a:t>
            </a: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is a place containing data objects that must be persisted beyond the duration of a process instance. </a:t>
            </a:r>
          </a:p>
          <a:p>
            <a:pPr>
              <a:spcBef>
                <a:spcPct val="20000"/>
              </a:spcBef>
              <a:buClr>
                <a:prstClr val="black">
                  <a:lumMod val="50000"/>
                  <a:lumOff val="50000"/>
                </a:prstClr>
              </a:buClr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It is used by an activity to store (as output) or retrieve (as input) data objects.</a:t>
            </a:r>
          </a:p>
        </p:txBody>
      </p:sp>
    </p:spTree>
    <p:extLst>
      <p:ext uri="{BB962C8B-B14F-4D97-AF65-F5344CB8AC3E}">
        <p14:creationId xmlns:p14="http://schemas.microsoft.com/office/powerpoint/2010/main" val="174516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ttp://cache2.asset-cache.net/gc/104087858-woman-wondering-gettyimages.jpg?v=1&amp;c=IWSAsset&amp;k=2&amp;d=eYhuhhXM9ToyyJD6wf6O3SGdBU0W6NAHUt7X8XEMkdE%3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04"/>
          <a:stretch/>
        </p:blipFill>
        <p:spPr bwMode="auto">
          <a:xfrm>
            <a:off x="0" y="570175"/>
            <a:ext cx="8393868" cy="62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/>
          <p:cNvSpPr txBox="1">
            <a:spLocks/>
          </p:cNvSpPr>
          <p:nvPr/>
        </p:nvSpPr>
        <p:spPr>
          <a:xfrm>
            <a:off x="99741" y="86963"/>
            <a:ext cx="8064896" cy="79208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Do data objects affect the token flow?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741" y="86963"/>
            <a:ext cx="8064896" cy="792088"/>
          </a:xfrm>
          <a:solidFill>
            <a:schemeClr val="bg1"/>
          </a:solidFill>
        </p:spPr>
        <p:txBody>
          <a:bodyPr/>
          <a:lstStyle/>
          <a:p>
            <a:r>
              <a:rPr lang="en-AU" dirty="0" smtClean="0"/>
              <a:t>Do we always need to model data objects?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492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/>
          <p:cNvSpPr>
            <a:spLocks noGrp="1" noChangeArrowheads="1"/>
          </p:cNvSpPr>
          <p:nvPr>
            <p:ph idx="1"/>
          </p:nvPr>
        </p:nvSpPr>
        <p:spPr>
          <a:xfrm>
            <a:off x="424886" y="1052736"/>
            <a:ext cx="8107554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 smtClean="0"/>
              <a:t>A </a:t>
            </a:r>
            <a:r>
              <a:rPr lang="en-AU" i="1" dirty="0" smtClean="0"/>
              <a:t>Text Annotation </a:t>
            </a:r>
            <a:r>
              <a:rPr lang="en-AU" dirty="0" smtClean="0"/>
              <a:t>is a </a:t>
            </a:r>
            <a:r>
              <a:rPr lang="en-AU" dirty="0"/>
              <a:t>mechanism to provide additional text information to the </a:t>
            </a:r>
            <a:r>
              <a:rPr lang="en-AU" dirty="0" smtClean="0"/>
              <a:t>model reader</a:t>
            </a:r>
            <a:endParaRPr lang="en-AU" dirty="0"/>
          </a:p>
          <a:p>
            <a:pPr lvl="1"/>
            <a:r>
              <a:rPr lang="en-AU" sz="2000" b="1" dirty="0" smtClean="0"/>
              <a:t>Doesn’t affect</a:t>
            </a:r>
            <a:r>
              <a:rPr lang="en-AU" sz="2000" dirty="0" smtClean="0"/>
              <a:t> </a:t>
            </a:r>
            <a:r>
              <a:rPr lang="en-AU" sz="2000" dirty="0"/>
              <a:t>the flow </a:t>
            </a:r>
            <a:r>
              <a:rPr lang="en-AU" sz="2000" dirty="0" smtClean="0"/>
              <a:t>of tokens through the process</a:t>
            </a:r>
            <a:endParaRPr lang="en-AU" sz="2000" dirty="0"/>
          </a:p>
          <a:p>
            <a:pPr lvl="1"/>
            <a:endParaRPr lang="en-AU" i="1" dirty="0"/>
          </a:p>
        </p:txBody>
      </p:sp>
      <p:sp>
        <p:nvSpPr>
          <p:cNvPr id="1004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BPMN </a:t>
            </a:r>
            <a:r>
              <a:rPr lang="en-AU" dirty="0" smtClean="0"/>
              <a:t>Text Annotations</a:t>
            </a:r>
            <a:endParaRPr lang="en-AU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9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>
            <p:extLst/>
          </p:nvPr>
        </p:nvGraphicFramePr>
        <p:xfrm>
          <a:off x="5031183" y="3297238"/>
          <a:ext cx="366077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Visio" r:id="rId5" imgW="2604556" imgH="1211125" progId="Visio.Drawing.11">
                  <p:embed/>
                </p:oleObj>
              </mc:Choice>
              <mc:Fallback>
                <p:oleObj name="Visio" r:id="rId5" imgW="2604556" imgH="12111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1183" y="3297238"/>
                        <a:ext cx="366077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/>
          </p:nvPr>
        </p:nvGraphicFramePr>
        <p:xfrm>
          <a:off x="997428" y="3297238"/>
          <a:ext cx="366077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name="Visio" r:id="rId8" imgW="2604556" imgH="1211125" progId="Visio.Drawing.11">
                  <p:embed/>
                </p:oleObj>
              </mc:Choice>
              <mc:Fallback>
                <p:oleObj name="Visio" r:id="rId8" imgW="2604556" imgH="12111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428" y="3297238"/>
                        <a:ext cx="366077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7" name="Rectangle 2"/>
          <p:cNvSpPr>
            <a:spLocks noChangeArrowheads="1"/>
          </p:cNvSpPr>
          <p:nvPr/>
        </p:nvSpPr>
        <p:spPr bwMode="auto">
          <a:xfrm>
            <a:off x="673100" y="3757248"/>
            <a:ext cx="7773988" cy="13569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2970" tIns="32970" rIns="32970" bIns="32970"/>
          <a:lstStyle/>
          <a:p>
            <a:pPr algn="ctr" defTabSz="703402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308" b="1">
              <a:solidFill>
                <a:srgbClr val="5B6973"/>
              </a:solidFill>
              <a:latin typeface="Arial" charset="0"/>
              <a:ea typeface="ＭＳ Ｐゴシック" pitchFamily="34" charset="-128"/>
              <a:cs typeface="ＭＳ Ｐゴシック"/>
            </a:endParaRPr>
          </a:p>
        </p:txBody>
      </p:sp>
      <p:sp>
        <p:nvSpPr>
          <p:cNvPr id="700418" name="Rectangle 3"/>
          <p:cNvSpPr>
            <a:spLocks noGrp="1" noChangeArrowheads="1"/>
          </p:cNvSpPr>
          <p:nvPr>
            <p:ph type="title" sz="quarter"/>
          </p:nvPr>
        </p:nvSpPr>
        <p:spPr/>
        <p:txBody>
          <a:bodyPr>
            <a:normAutofit/>
          </a:bodyPr>
          <a:lstStyle/>
          <a:p>
            <a:pPr algn="l"/>
            <a:r>
              <a:rPr lang="en-AU" sz="3200" dirty="0" smtClean="0">
                <a:solidFill>
                  <a:srgbClr val="C00000"/>
                </a:solidFill>
              </a:rPr>
              <a:t>Resources</a:t>
            </a:r>
          </a:p>
        </p:txBody>
      </p:sp>
      <p:pic>
        <p:nvPicPr>
          <p:cNvPr id="700419" name="Picture 4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43026" y="1654421"/>
            <a:ext cx="2509838" cy="182586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00420" name="Picture 5"/>
          <p:cNvPicPr>
            <a:picLocks noGrp="1" noChangeAspect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>
          <a:xfrm>
            <a:off x="5530569" y="1506538"/>
            <a:ext cx="2054787" cy="19812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00421" name="Picture 6"/>
          <p:cNvPicPr>
            <a:picLocks noGrp="1" noChangeAspect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1087438" y="3730871"/>
            <a:ext cx="3022600" cy="182733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DA65ED-F1C7-4087-AB21-3BE856A544E0}" type="slidenum">
              <a:rPr lang="de-DE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10</a:t>
            </a:fld>
            <a:endParaRPr lang="de-DE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700422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6676" y="3810000"/>
            <a:ext cx="2770188" cy="18288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5374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i="1" dirty="0" smtClean="0"/>
              <a:t>Active resources</a:t>
            </a:r>
            <a:r>
              <a:rPr lang="en-AU" sz="2800" dirty="0" smtClean="0"/>
              <a:t>:</a:t>
            </a:r>
          </a:p>
          <a:p>
            <a:pPr lvl="1"/>
            <a:r>
              <a:rPr lang="en-AU" sz="2400" dirty="0" smtClean="0"/>
              <a:t>Process participant</a:t>
            </a:r>
          </a:p>
          <a:p>
            <a:pPr lvl="1"/>
            <a:r>
              <a:rPr lang="en-AU" sz="2400" dirty="0" smtClean="0"/>
              <a:t>Software system</a:t>
            </a:r>
          </a:p>
          <a:p>
            <a:pPr lvl="1"/>
            <a:r>
              <a:rPr lang="en-AU" sz="2400" dirty="0" smtClean="0"/>
              <a:t>Equipment</a:t>
            </a:r>
            <a:endParaRPr lang="en-AU" sz="2400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2800" i="1" dirty="0" smtClean="0"/>
              <a:t>Resource class</a:t>
            </a:r>
            <a:r>
              <a:rPr lang="en-AU" sz="2800" dirty="0" smtClean="0"/>
              <a:t>:</a:t>
            </a:r>
          </a:p>
          <a:p>
            <a:pPr marL="179388" indent="0">
              <a:buNone/>
            </a:pPr>
            <a:r>
              <a:rPr lang="en-AU" dirty="0" smtClean="0"/>
              <a:t>A </a:t>
            </a:r>
            <a:r>
              <a:rPr lang="en-AU" b="1" dirty="0" smtClean="0"/>
              <a:t>group of (active) resources</a:t>
            </a:r>
            <a:r>
              <a:rPr lang="en-AU" dirty="0" smtClean="0"/>
              <a:t> that are interchangeable, e.g. a role, an organizational unit or the whole organization.</a:t>
            </a:r>
          </a:p>
        </p:txBody>
      </p:sp>
      <p:sp>
        <p:nvSpPr>
          <p:cNvPr id="179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Resources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11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186" y="5416906"/>
            <a:ext cx="3053166" cy="144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dirty="0" smtClean="0"/>
              <a:t>The order-to-cash process is carried out by a seller’s organization which includes two departments: </a:t>
            </a:r>
            <a:r>
              <a:rPr lang="en-AU" dirty="0"/>
              <a:t>the </a:t>
            </a:r>
            <a:r>
              <a:rPr lang="en-AU" b="1" dirty="0" smtClean="0"/>
              <a:t>Sales department </a:t>
            </a:r>
            <a:r>
              <a:rPr lang="en-AU" dirty="0" smtClean="0"/>
              <a:t>and the </a:t>
            </a:r>
            <a:r>
              <a:rPr lang="en-AU" b="1" dirty="0" smtClean="0"/>
              <a:t>Warehouse &amp; Distribution department</a:t>
            </a:r>
            <a:r>
              <a:rPr lang="en-AU" dirty="0" smtClean="0"/>
              <a:t>. 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The </a:t>
            </a:r>
            <a:r>
              <a:rPr lang="en-AU" dirty="0"/>
              <a:t>purchase order received by the </a:t>
            </a:r>
            <a:r>
              <a:rPr lang="en-AU" b="1" dirty="0"/>
              <a:t>Sales </a:t>
            </a:r>
            <a:r>
              <a:rPr lang="en-AU" b="1" dirty="0" smtClean="0"/>
              <a:t>department</a:t>
            </a:r>
            <a:r>
              <a:rPr lang="en-AU" dirty="0" smtClean="0"/>
              <a:t> </a:t>
            </a:r>
            <a:r>
              <a:rPr lang="en-AU" dirty="0"/>
              <a:t>has to be checked against the stock. </a:t>
            </a:r>
            <a:r>
              <a:rPr lang="en-AU" dirty="0" smtClean="0"/>
              <a:t>This is done via an </a:t>
            </a:r>
            <a:r>
              <a:rPr lang="en-AU" b="1" dirty="0" smtClean="0"/>
              <a:t>ERP </a:t>
            </a:r>
            <a:r>
              <a:rPr lang="en-AU" dirty="0" smtClean="0"/>
              <a:t>module within the </a:t>
            </a:r>
            <a:r>
              <a:rPr lang="en-AU" b="1" dirty="0" smtClean="0"/>
              <a:t>Warehouse &amp; Distribution department</a:t>
            </a:r>
            <a:r>
              <a:rPr lang="en-AU" dirty="0" smtClean="0"/>
              <a:t>. If </a:t>
            </a:r>
            <a:r>
              <a:rPr lang="en-AU" dirty="0"/>
              <a:t>the purchase order is confirmed, the </a:t>
            </a:r>
            <a:r>
              <a:rPr lang="en-AU" b="1" dirty="0"/>
              <a:t>Warehouse </a:t>
            </a:r>
            <a:r>
              <a:rPr lang="en-AU" b="1" dirty="0" smtClean="0"/>
              <a:t>&amp; Distribution department</a:t>
            </a:r>
            <a:r>
              <a:rPr lang="en-AU" dirty="0" smtClean="0"/>
              <a:t> ships the goods. Meantime, the </a:t>
            </a:r>
            <a:r>
              <a:rPr lang="en-AU" b="1" dirty="0" smtClean="0"/>
              <a:t>Sales department</a:t>
            </a:r>
            <a:r>
              <a:rPr lang="en-AU" dirty="0" smtClean="0"/>
              <a:t> emits the invoice. The process concludes with the order being archived by the </a:t>
            </a:r>
            <a:r>
              <a:rPr lang="en-AU" b="1" dirty="0" smtClean="0"/>
              <a:t>Sales department</a:t>
            </a:r>
            <a:r>
              <a:rPr lang="en-AU" dirty="0" smtClean="0"/>
              <a:t>. </a:t>
            </a:r>
            <a:endParaRPr lang="en-AU" dirty="0"/>
          </a:p>
        </p:txBody>
      </p:sp>
      <p:sp>
        <p:nvSpPr>
          <p:cNvPr id="180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Resources in the order-to-cash example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12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99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215550"/>
            <a:ext cx="8064896" cy="792088"/>
          </a:xfrm>
        </p:spPr>
        <p:txBody>
          <a:bodyPr/>
          <a:lstStyle/>
          <a:p>
            <a:r>
              <a:rPr lang="en-AU" sz="2800" dirty="0"/>
              <a:t>BPMN </a:t>
            </a:r>
            <a:r>
              <a:rPr lang="en-AU" sz="2800" dirty="0" smtClean="0"/>
              <a:t>Elements – Pools &amp; Lanes</a:t>
            </a:r>
            <a:endParaRPr lang="en-AU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13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98147" name="Rectangle 3"/>
          <p:cNvSpPr>
            <a:spLocks noChangeArrowheads="1"/>
          </p:cNvSpPr>
          <p:nvPr/>
        </p:nvSpPr>
        <p:spPr bwMode="auto">
          <a:xfrm>
            <a:off x="292100" y="934025"/>
            <a:ext cx="8537575" cy="455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Pool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Captures a resource class. Generally used to model a business party (e.g. a whole company)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400" i="1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400" i="1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400" i="1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400" i="1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  <a:buFontTx/>
              <a:buChar char="•"/>
            </a:pPr>
            <a:endParaRPr lang="en-AU" sz="24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</p:txBody>
      </p:sp>
      <p:graphicFrame>
        <p:nvGraphicFramePr>
          <p:cNvPr id="1798152" name="Object 8"/>
          <p:cNvGraphicFramePr>
            <a:graphicFrameLocks noChangeAspect="1"/>
          </p:cNvGraphicFramePr>
          <p:nvPr>
            <p:extLst/>
          </p:nvPr>
        </p:nvGraphicFramePr>
        <p:xfrm>
          <a:off x="1321216" y="2241546"/>
          <a:ext cx="54562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2" name="Visio" r:id="rId4" imgW="5455682" imgH="847606" progId="Visio.Drawing.11">
                  <p:embed/>
                </p:oleObj>
              </mc:Choice>
              <mc:Fallback>
                <p:oleObj name="Visio" r:id="rId4" imgW="5455682" imgH="84760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216" y="2241546"/>
                        <a:ext cx="545623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/>
          </p:nvPr>
        </p:nvGraphicFramePr>
        <p:xfrm>
          <a:off x="1321216" y="5077851"/>
          <a:ext cx="5456237" cy="1637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3" name="Visio" r:id="rId6" imgW="6083760" imgH="1825228" progId="Visio.Drawing.11">
                  <p:embed/>
                </p:oleObj>
              </mc:Choice>
              <mc:Fallback>
                <p:oleObj name="Visio" r:id="rId6" imgW="6083760" imgH="18252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216" y="5077851"/>
                        <a:ext cx="5456237" cy="1637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92100" y="3212881"/>
            <a:ext cx="8730406" cy="1828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Lane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Captures a </a:t>
            </a:r>
            <a:r>
              <a:rPr lang="en-AU" sz="2400" i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resource sub-class</a:t>
            </a: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 within a resource class by partitioning a pool. Generally used to model departments (e.g. shipping, finance), internal roles (e.g. Manager, Associate), software systems (e.g. DBMS, CRM) or equipment (e.g. Manufacturing plant)</a:t>
            </a:r>
          </a:p>
        </p:txBody>
      </p:sp>
    </p:spTree>
    <p:extLst>
      <p:ext uri="{BB962C8B-B14F-4D97-AF65-F5344CB8AC3E}">
        <p14:creationId xmlns:p14="http://schemas.microsoft.com/office/powerpoint/2010/main" val="28020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98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9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67544" y="958761"/>
            <a:ext cx="1953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Order-to-cash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59" y="1417192"/>
            <a:ext cx="8132682" cy="49652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22" y="1384618"/>
            <a:ext cx="7865075" cy="49831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25" y="1420273"/>
            <a:ext cx="7613929" cy="29908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06" y="1423466"/>
            <a:ext cx="8114063" cy="4958943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246751" y="6625771"/>
            <a:ext cx="533400" cy="152400"/>
          </a:xfrm>
        </p:spPr>
        <p:txBody>
          <a:bodyPr/>
          <a:lstStyle/>
          <a:p>
            <a:r>
              <a:rPr lang="en-A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14</a:t>
            </a:r>
            <a:endParaRPr lang="en-AU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80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 purchase order </a:t>
            </a:r>
            <a:r>
              <a:rPr lang="en-AU" b="1" dirty="0" smtClean="0"/>
              <a:t>sent by the Customer </a:t>
            </a:r>
            <a:r>
              <a:rPr lang="en-AU" dirty="0" smtClean="0"/>
              <a:t>is received </a:t>
            </a:r>
            <a:r>
              <a:rPr lang="en-AU" dirty="0"/>
              <a:t>by the Sales department </a:t>
            </a:r>
            <a:r>
              <a:rPr lang="en-AU" dirty="0" smtClean="0"/>
              <a:t>and checked </a:t>
            </a:r>
            <a:r>
              <a:rPr lang="en-AU" dirty="0"/>
              <a:t>against the stock. This is done via an ERP module within the Warehouse &amp; Distribution department. If the purchase order is </a:t>
            </a:r>
            <a:r>
              <a:rPr lang="en-AU" dirty="0" smtClean="0"/>
              <a:t>not confirmed</a:t>
            </a:r>
            <a:r>
              <a:rPr lang="en-AU" dirty="0"/>
              <a:t>, </a:t>
            </a:r>
            <a:r>
              <a:rPr lang="en-AU" dirty="0" smtClean="0"/>
              <a:t>the Sales department </a:t>
            </a:r>
            <a:r>
              <a:rPr lang="en-AU" b="1" dirty="0" smtClean="0"/>
              <a:t>sends an order rejection to the Customer</a:t>
            </a:r>
            <a:r>
              <a:rPr lang="en-AU" dirty="0" smtClean="0"/>
              <a:t>, otherwise it </a:t>
            </a:r>
            <a:r>
              <a:rPr lang="en-AU" b="1" dirty="0" smtClean="0"/>
              <a:t>sends an order confirmation</a:t>
            </a:r>
            <a:r>
              <a:rPr lang="en-AU" dirty="0" smtClean="0"/>
              <a:t>. </a:t>
            </a:r>
          </a:p>
          <a:p>
            <a:pPr marL="0" indent="0">
              <a:buNone/>
            </a:pPr>
            <a:r>
              <a:rPr lang="en-AU" dirty="0" smtClean="0"/>
              <a:t>Next, the </a:t>
            </a:r>
            <a:r>
              <a:rPr lang="en-AU" dirty="0"/>
              <a:t>Warehouse &amp; Distribution department ships the </a:t>
            </a:r>
            <a:r>
              <a:rPr lang="en-AU" dirty="0" smtClean="0"/>
              <a:t>goods and </a:t>
            </a:r>
            <a:r>
              <a:rPr lang="en-AU" b="1" dirty="0" smtClean="0"/>
              <a:t>sends a shipment notification to the Customer</a:t>
            </a:r>
            <a:r>
              <a:rPr lang="en-AU" dirty="0" smtClean="0"/>
              <a:t>. </a:t>
            </a:r>
            <a:r>
              <a:rPr lang="en-AU" dirty="0"/>
              <a:t>Meantime, the Sales department emits the </a:t>
            </a:r>
            <a:r>
              <a:rPr lang="en-AU" dirty="0" smtClean="0"/>
              <a:t>invoice and </a:t>
            </a:r>
            <a:r>
              <a:rPr lang="en-AU" b="1" dirty="0" smtClean="0"/>
              <a:t>sends it to the Customer</a:t>
            </a:r>
            <a:r>
              <a:rPr lang="en-AU" dirty="0" smtClean="0"/>
              <a:t>. </a:t>
            </a:r>
            <a:r>
              <a:rPr lang="en-AU" dirty="0"/>
              <a:t>The process concludes with the order being archived by the Sales department. </a:t>
            </a:r>
          </a:p>
        </p:txBody>
      </p:sp>
      <p:sp>
        <p:nvSpPr>
          <p:cNvPr id="1805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Exchanging information between business parties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15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67544" y="958761"/>
            <a:ext cx="1953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Order-to-cash</a:t>
            </a:r>
          </a:p>
        </p:txBody>
      </p:sp>
    </p:spTree>
    <p:extLst>
      <p:ext uri="{BB962C8B-B14F-4D97-AF65-F5344CB8AC3E}">
        <p14:creationId xmlns:p14="http://schemas.microsoft.com/office/powerpoint/2010/main" val="69555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195" name="Rectangle 3"/>
          <p:cNvSpPr>
            <a:spLocks noChangeArrowheads="1"/>
          </p:cNvSpPr>
          <p:nvPr/>
        </p:nvSpPr>
        <p:spPr bwMode="auto">
          <a:xfrm>
            <a:off x="353482" y="968820"/>
            <a:ext cx="8429273" cy="3176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A </a:t>
            </a:r>
            <a:r>
              <a:rPr lang="en-AU" sz="2400" i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Message Flow </a:t>
            </a: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represents a flow of information between two process parties (Pools)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  <a:buFontTx/>
              <a:buChar char="–"/>
            </a:pPr>
            <a:endParaRPr lang="en-AU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</p:txBody>
      </p:sp>
      <p:graphicFrame>
        <p:nvGraphicFramePr>
          <p:cNvPr id="1800196" name="Object 4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3930650" y="1550988"/>
          <a:ext cx="690563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6" name="Visio" r:id="rId5" imgW="464477" imgH="713136" progId="Visio.Drawing.11">
                  <p:embed/>
                </p:oleObj>
              </mc:Choice>
              <mc:Fallback>
                <p:oleObj name="Visio" r:id="rId5" imgW="464477" imgH="71313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1550988"/>
                        <a:ext cx="690563" cy="10588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3482" y="170337"/>
            <a:ext cx="8064896" cy="792088"/>
          </a:xfrm>
        </p:spPr>
        <p:txBody>
          <a:bodyPr/>
          <a:lstStyle/>
          <a:p>
            <a:r>
              <a:rPr lang="en-AU" sz="2800" dirty="0"/>
              <a:t>BPMN Elements – Message Flow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246751" y="6606585"/>
            <a:ext cx="533400" cy="152400"/>
          </a:xfrm>
        </p:spPr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16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1800201" name="Object 9"/>
          <p:cNvGraphicFramePr>
            <a:graphicFrameLocks noChangeAspect="1"/>
          </p:cNvGraphicFramePr>
          <p:nvPr>
            <p:extLst/>
          </p:nvPr>
        </p:nvGraphicFramePr>
        <p:xfrm>
          <a:off x="1074049" y="4784321"/>
          <a:ext cx="3315067" cy="1763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7" name="Visio" r:id="rId8" imgW="5457771" imgH="2901473" progId="Visio.Drawing.11">
                  <p:embed/>
                </p:oleObj>
              </mc:Choice>
              <mc:Fallback>
                <p:oleObj name="Visio" r:id="rId8" imgW="5457771" imgH="29014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049" y="4784321"/>
                        <a:ext cx="3315067" cy="1763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/>
          </p:nvPr>
        </p:nvGraphicFramePr>
        <p:xfrm>
          <a:off x="5499189" y="4771533"/>
          <a:ext cx="1751462" cy="1763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Visio" r:id="rId11" imgW="3116620" imgH="3136057" progId="Visio.Drawing.11">
                  <p:embed/>
                </p:oleObj>
              </mc:Choice>
              <mc:Fallback>
                <p:oleObj name="Visio" r:id="rId11" imgW="3116620" imgH="313605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89" y="4771533"/>
                        <a:ext cx="1751462" cy="1763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/>
          </p:nvPr>
        </p:nvGraphicFramePr>
        <p:xfrm>
          <a:off x="5484501" y="5871656"/>
          <a:ext cx="17526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9" name="Visio" r:id="rId14" imgW="3116620" imgH="1177613" progId="Visio.Drawing.11">
                  <p:embed/>
                </p:oleObj>
              </mc:Choice>
              <mc:Fallback>
                <p:oleObj name="Visio" r:id="rId14" imgW="3116620" imgH="117761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501" y="5871656"/>
                        <a:ext cx="17526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5481379" y="4776714"/>
          <a:ext cx="17510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0" name="Visio" r:id="rId17" imgW="3116620" imgH="1139409" progId="Visio.Drawing.11">
                  <p:embed/>
                </p:oleObj>
              </mc:Choice>
              <mc:Fallback>
                <p:oleObj name="Visio" r:id="rId17" imgW="3116620" imgH="11394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379" y="4776714"/>
                        <a:ext cx="175101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/>
          </p:nvPr>
        </p:nvGraphicFramePr>
        <p:xfrm>
          <a:off x="5481379" y="4771533"/>
          <a:ext cx="1751462" cy="1763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1" name="Visio" r:id="rId20" imgW="3116620" imgH="3136057" progId="Visio.Drawing.11">
                  <p:embed/>
                </p:oleObj>
              </mc:Choice>
              <mc:Fallback>
                <p:oleObj name="Visio" r:id="rId20" imgW="3116620" imgH="313605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379" y="4771533"/>
                        <a:ext cx="1751462" cy="1763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/>
          </p:nvPr>
        </p:nvGraphicFramePr>
        <p:xfrm>
          <a:off x="1146959" y="5766851"/>
          <a:ext cx="15986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2" name="Visio" r:id="rId23" imgW="2633376" imgH="1192358" progId="Visio.Drawing.11">
                  <p:embed/>
                </p:oleObj>
              </mc:Choice>
              <mc:Fallback>
                <p:oleObj name="Visio" r:id="rId23" imgW="2633376" imgH="119235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959" y="5766851"/>
                        <a:ext cx="15986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>
            <p:extLst/>
          </p:nvPr>
        </p:nvGraphicFramePr>
        <p:xfrm>
          <a:off x="2866431" y="5766851"/>
          <a:ext cx="14573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3" name="Visio" r:id="rId26" imgW="2398792" imgH="1192358" progId="Visio.Drawing.11">
                  <p:embed/>
                </p:oleObj>
              </mc:Choice>
              <mc:Fallback>
                <p:oleObj name="Visio" r:id="rId26" imgW="2398792" imgH="119235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431" y="5766851"/>
                        <a:ext cx="14573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/>
          </p:nvPr>
        </p:nvGraphicFramePr>
        <p:xfrm>
          <a:off x="1959199" y="4803503"/>
          <a:ext cx="200025" cy="163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4" name="Visio" r:id="rId29" imgW="330429" imgH="2901473" progId="Visio.Drawing.11">
                  <p:embed/>
                </p:oleObj>
              </mc:Choice>
              <mc:Fallback>
                <p:oleObj name="Visio" r:id="rId29" imgW="330429" imgH="29014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199" y="4803503"/>
                        <a:ext cx="200025" cy="163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353481" y="2638567"/>
            <a:ext cx="84266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A Message Flow can connect:</a:t>
            </a:r>
          </a:p>
          <a:p>
            <a:pPr marL="285750" indent="-285750"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directly to the boundary of a Pool </a:t>
            </a:r>
            <a:r>
              <a:rPr lang="en-AU" sz="2000" dirty="0">
                <a:solidFill>
                  <a:prstClr val="black"/>
                </a:solidFill>
                <a:sym typeface="Wingdings" pitchFamily="2" charset="2"/>
              </a:rPr>
              <a:t></a:t>
            </a: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 captures an </a:t>
            </a:r>
            <a:r>
              <a:rPr lang="en-AU" sz="2000" i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informative </a:t>
            </a: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message to/from that party</a:t>
            </a:r>
          </a:p>
          <a:p>
            <a:pPr marL="285750" indent="-285750"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to a specific activity or event within that Pool </a:t>
            </a:r>
            <a:r>
              <a:rPr lang="en-AU" sz="2000" dirty="0">
                <a:solidFill>
                  <a:prstClr val="black"/>
                </a:solidFill>
                <a:sym typeface="Wingdings" pitchFamily="2" charset="2"/>
              </a:rPr>
              <a:t></a:t>
            </a: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 captures a message that triggers a </a:t>
            </a:r>
            <a:r>
              <a:rPr lang="en-AU" sz="2000" i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specific</a:t>
            </a:r>
            <a:r>
              <a:rPr lang="en-AU" sz="20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 activity/event within that party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/>
          </p:nvPr>
        </p:nvGraphicFramePr>
        <p:xfrm>
          <a:off x="3466506" y="4802198"/>
          <a:ext cx="128587" cy="164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5" name="Visio" r:id="rId32" imgW="210456" imgH="2901473" progId="Visio.Drawing.11">
                  <p:embed/>
                </p:oleObj>
              </mc:Choice>
              <mc:Fallback>
                <p:oleObj name="Visio" r:id="rId32" imgW="210456" imgH="29014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506" y="4802198"/>
                        <a:ext cx="128587" cy="1643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34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195" name="Rectangle 3"/>
          <p:cNvSpPr>
            <a:spLocks noChangeArrowheads="1"/>
          </p:cNvSpPr>
          <p:nvPr/>
        </p:nvSpPr>
        <p:spPr bwMode="auto">
          <a:xfrm>
            <a:off x="353482" y="962425"/>
            <a:ext cx="8429273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The </a:t>
            </a:r>
            <a:r>
              <a:rPr lang="en-AU" sz="2400" i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start message event </a:t>
            </a: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triggers a process by the receipt of a message when an incoming message flow is connected to the event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1B1B1"/>
              </a:buClr>
            </a:pPr>
            <a:endParaRPr lang="en-AU" sz="2000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</p:txBody>
      </p:sp>
      <p:graphicFrame>
        <p:nvGraphicFramePr>
          <p:cNvPr id="7" name="Object 3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2219325" y="2479675"/>
          <a:ext cx="4281488" cy="388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5" name="Visio" r:id="rId5" imgW="4343331" imgH="3938492" progId="Visio.Drawing.11">
                  <p:embed/>
                </p:oleObj>
              </mc:Choice>
              <mc:Fallback>
                <p:oleObj name="Visio" r:id="rId5" imgW="4343331" imgH="393849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2479675"/>
                        <a:ext cx="4281488" cy="388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/>
              <a:t>BPMN Elements – </a:t>
            </a:r>
            <a:r>
              <a:rPr lang="en-AU" sz="2800" dirty="0" smtClean="0"/>
              <a:t>Start Message Event</a:t>
            </a:r>
            <a:endParaRPr lang="en-AU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17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14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56" y="2156605"/>
            <a:ext cx="7010241" cy="4277545"/>
          </a:xfrm>
          <a:prstGeom prst="rect">
            <a:avLst/>
          </a:prstGeom>
        </p:spPr>
      </p:pic>
      <p:sp>
        <p:nvSpPr>
          <p:cNvPr id="1806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9313" y="-66492"/>
            <a:ext cx="8064896" cy="792088"/>
          </a:xfrm>
        </p:spPr>
        <p:txBody>
          <a:bodyPr/>
          <a:lstStyle/>
          <a:p>
            <a:r>
              <a:rPr lang="en-AU" sz="2800" dirty="0" smtClean="0"/>
              <a:t>Solution</a:t>
            </a:r>
            <a:endParaRPr lang="en-AU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18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7544" y="432942"/>
            <a:ext cx="1953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Order-to-cash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56" y="1004548"/>
            <a:ext cx="7010241" cy="4657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4" t="7495" r="77938" b="55805"/>
          <a:stretch/>
        </p:blipFill>
        <p:spPr>
          <a:xfrm>
            <a:off x="1670815" y="1392411"/>
            <a:ext cx="761202" cy="19915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0" r="58873" b="27986"/>
          <a:stretch/>
        </p:blipFill>
        <p:spPr>
          <a:xfrm>
            <a:off x="2941427" y="984694"/>
            <a:ext cx="824879" cy="39121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18" t="8130" r="45422" b="11605"/>
          <a:stretch/>
        </p:blipFill>
        <p:spPr>
          <a:xfrm>
            <a:off x="4032873" y="1425923"/>
            <a:ext cx="676551" cy="435656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28" t="7046" r="36265" b="45959"/>
          <a:stretch/>
        </p:blipFill>
        <p:spPr>
          <a:xfrm>
            <a:off x="4712217" y="1368502"/>
            <a:ext cx="644837" cy="255007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16" r="25715" b="27931"/>
          <a:stretch/>
        </p:blipFill>
        <p:spPr>
          <a:xfrm>
            <a:off x="5615553" y="985660"/>
            <a:ext cx="474064" cy="39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68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3756" y="1160712"/>
            <a:ext cx="8171299" cy="4824536"/>
          </a:xfrm>
        </p:spPr>
        <p:txBody>
          <a:bodyPr/>
          <a:lstStyle/>
          <a:p>
            <a:pPr marL="457200" indent="-457200" fontAlgn="base">
              <a:lnSpc>
                <a:spcPct val="90000"/>
              </a:lnSpc>
              <a:spcAft>
                <a:spcPct val="0"/>
              </a:spcAft>
              <a:buClr>
                <a:srgbClr val="B1B1B1"/>
              </a:buClr>
              <a:buFont typeface="+mj-lt"/>
              <a:buAutoNum type="arabicPeriod"/>
            </a:pP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The Sequence Flow </a:t>
            </a:r>
            <a:r>
              <a:rPr lang="en-AU" b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cannot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 cross the boundaries of a Pool</a:t>
            </a:r>
          </a:p>
          <a:p>
            <a:pPr marL="457200" indent="-457200" fontAlgn="base">
              <a:lnSpc>
                <a:spcPct val="90000"/>
              </a:lnSpc>
              <a:spcAft>
                <a:spcPct val="0"/>
              </a:spcAft>
              <a:buClr>
                <a:srgbClr val="B1B1B1"/>
              </a:buClr>
              <a:buFont typeface="+mj-lt"/>
              <a:buAutoNum type="arabicPeriod"/>
            </a:pP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ＭＳ Ｐゴシック" pitchFamily="34" charset="-128"/>
              </a:rPr>
              <a:t>Both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ＭＳ Ｐゴシック" pitchFamily="34" charset="-128"/>
              </a:rPr>
              <a:t>Sequence Flow and Message Flow </a:t>
            </a:r>
            <a:r>
              <a:rPr lang="en-AU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ＭＳ Ｐゴシック" pitchFamily="34" charset="-128"/>
              </a:rPr>
              <a:t>can cross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ＭＳ Ｐゴシック" pitchFamily="34" charset="-128"/>
              </a:rPr>
              <a:t>the boundaries of Lanes</a:t>
            </a:r>
          </a:p>
          <a:p>
            <a:pPr marL="457200" lvl="0" indent="-457200" fontAlgn="base">
              <a:lnSpc>
                <a:spcPct val="90000"/>
              </a:lnSpc>
              <a:spcAft>
                <a:spcPct val="0"/>
              </a:spcAft>
              <a:buClr>
                <a:srgbClr val="B1B1B1"/>
              </a:buClr>
              <a:buFont typeface="+mj-lt"/>
              <a:buAutoNum type="arabicPeriod"/>
            </a:pP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A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Message Flow </a:t>
            </a:r>
            <a:r>
              <a:rPr lang="en-AU" b="1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cannot connect </a:t>
            </a: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two flow elements within </a:t>
            </a:r>
            <a:r>
              <a:rPr lang="en-AU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the same </a:t>
            </a:r>
            <a:r>
              <a:rPr lang="en-AU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pool</a:t>
            </a:r>
            <a:endParaRPr lang="en-AU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  <a:p>
            <a:pPr marL="0" indent="0" fontAlgn="base">
              <a:lnSpc>
                <a:spcPct val="90000"/>
              </a:lnSpc>
              <a:spcAft>
                <a:spcPct val="0"/>
              </a:spcAft>
              <a:buClr>
                <a:srgbClr val="B1B1B1"/>
              </a:buClr>
              <a:buNone/>
            </a:pPr>
            <a:endParaRPr lang="en-AU" b="1" dirty="0">
              <a:solidFill>
                <a:prstClr val="black">
                  <a:lumMod val="75000"/>
                  <a:lumOff val="25000"/>
                </a:prstClr>
              </a:solidFill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Pools, Lanes and Message Flows: syntax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899" y="3361840"/>
            <a:ext cx="3673098" cy="31803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435" y="3582554"/>
            <a:ext cx="661664" cy="17203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27" y="3582554"/>
            <a:ext cx="694846" cy="17371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27" y="4649604"/>
            <a:ext cx="694846" cy="173711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780" y="3572980"/>
            <a:ext cx="662582" cy="271770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011" y="4649604"/>
            <a:ext cx="655409" cy="165065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778" y="4624459"/>
            <a:ext cx="694846" cy="1737115"/>
          </a:xfrm>
          <a:prstGeom prst="rect">
            <a:avLst/>
          </a:prstGeom>
        </p:spPr>
      </p:pic>
      <p:pic>
        <p:nvPicPr>
          <p:cNvPr id="25" name="Picture 4" descr="http://upload.wikimedia.org/wikipedia/commons/thumb/b/ba/Red_x.svg/150px-Red_x.svg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845" y="4179238"/>
            <a:ext cx="543745" cy="54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://www.clker.com/cliparts/2/k/n/l/C/Q/transparent-green-checkmark-hi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852" y="4129580"/>
            <a:ext cx="566418" cy="5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http://upload.wikimedia.org/wikipedia/commons/thumb/b/ba/Red_x.svg/150px-Red_x.svg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845" y="5221143"/>
            <a:ext cx="543745" cy="54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://www.clker.com/cliparts/2/k/n/l/C/Q/transparent-green-checkmark-hi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861" y="5159874"/>
            <a:ext cx="566418" cy="5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www.clker.com/cliparts/2/k/n/l/C/Q/transparent-green-checkmark-hi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208" y="4509408"/>
            <a:ext cx="566418" cy="5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ker.com/cliparts/2/k/n/l/C/Q/transparent-green-checkmark-hi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01" y="5094584"/>
            <a:ext cx="566418" cy="5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246751" y="6625771"/>
            <a:ext cx="533400" cy="152400"/>
          </a:xfrm>
        </p:spPr>
        <p:txBody>
          <a:bodyPr/>
          <a:lstStyle/>
          <a:p>
            <a:r>
              <a:rPr lang="en-A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19</a:t>
            </a:r>
            <a:endParaRPr lang="en-AU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99413"/>
            <a:ext cx="8136904" cy="4824536"/>
          </a:xfrm>
        </p:spPr>
        <p:txBody>
          <a:bodyPr/>
          <a:lstStyle/>
          <a:p>
            <a:pPr marL="0" lvl="1" indent="0" defTabSz="271463">
              <a:buNone/>
            </a:pPr>
            <a:r>
              <a:rPr lang="en-AU" sz="2400" dirty="0" smtClean="0"/>
              <a:t>Models a single business party and can be:</a:t>
            </a:r>
          </a:p>
          <a:p>
            <a:pPr marL="0" lvl="1" indent="0" defTabSz="271463">
              <a:buNone/>
            </a:pPr>
            <a:r>
              <a:rPr lang="en-AU" sz="2400" b="1" dirty="0" smtClean="0"/>
              <a:t>Public view </a:t>
            </a:r>
            <a:r>
              <a:rPr lang="en-AU" sz="2400" dirty="0" smtClean="0"/>
              <a:t>(</a:t>
            </a:r>
            <a:r>
              <a:rPr lang="en-AU" sz="2400" i="1" dirty="0" smtClean="0"/>
              <a:t>black box</a:t>
            </a:r>
            <a:r>
              <a:rPr lang="en-AU" sz="2400" dirty="0" smtClean="0"/>
              <a:t>)</a:t>
            </a:r>
          </a:p>
          <a:p>
            <a:pPr marL="0" lvl="1" indent="0" defTabSz="271463">
              <a:buNone/>
            </a:pPr>
            <a:endParaRPr lang="en-AU" sz="2800" dirty="0" smtClean="0"/>
          </a:p>
          <a:p>
            <a:pPr marL="0" lvl="1" indent="0" defTabSz="271463">
              <a:buNone/>
            </a:pPr>
            <a:endParaRPr lang="en-AU" sz="2400" dirty="0" smtClean="0"/>
          </a:p>
          <a:p>
            <a:pPr marL="0" lvl="1" indent="0" defTabSz="271463">
              <a:buNone/>
            </a:pPr>
            <a:endParaRPr lang="en-AU" sz="2800" dirty="0" smtClean="0"/>
          </a:p>
          <a:p>
            <a:pPr marL="0" lvl="1" indent="0" defTabSz="271463">
              <a:buNone/>
            </a:pPr>
            <a:endParaRPr lang="en-AU" sz="2400" dirty="0" smtClean="0"/>
          </a:p>
          <a:p>
            <a:pPr marL="0" lvl="1" indent="0" defTabSz="271463">
              <a:buNone/>
            </a:pPr>
            <a:r>
              <a:rPr lang="en-AU" sz="2400" b="1" dirty="0" smtClean="0"/>
              <a:t>Private view </a:t>
            </a:r>
            <a:r>
              <a:rPr lang="en-AU" sz="2400" dirty="0" smtClean="0"/>
              <a:t>(</a:t>
            </a:r>
            <a:r>
              <a:rPr lang="en-AU" sz="2400" i="1" dirty="0" smtClean="0"/>
              <a:t>white box</a:t>
            </a:r>
            <a:r>
              <a:rPr lang="en-AU" sz="2400" dirty="0" smtClean="0"/>
              <a:t>)</a:t>
            </a:r>
            <a:endParaRPr lang="en-AU" dirty="0" smtClean="0"/>
          </a:p>
          <a:p>
            <a:pPr lvl="1"/>
            <a:endParaRPr lang="en-AU" sz="2000" dirty="0"/>
          </a:p>
        </p:txBody>
      </p:sp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Process (or Orchestration) Diagram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20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894979" name="Object 3"/>
          <p:cNvGraphicFramePr>
            <a:graphicFrameLocks noChangeAspect="1"/>
          </p:cNvGraphicFramePr>
          <p:nvPr>
            <p:extLst/>
          </p:nvPr>
        </p:nvGraphicFramePr>
        <p:xfrm>
          <a:off x="1429331" y="2017502"/>
          <a:ext cx="5996418" cy="1494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4" name="Visio" r:id="rId4" imgW="7246957" imgH="1666943" progId="Visio.Drawing.11">
                  <p:embed/>
                </p:oleObj>
              </mc:Choice>
              <mc:Fallback>
                <p:oleObj name="Visio" r:id="rId4" imgW="7246957" imgH="166694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331" y="2017502"/>
                        <a:ext cx="5996418" cy="1494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4980" name="Object 4"/>
          <p:cNvGraphicFramePr>
            <a:graphicFrameLocks noChangeAspect="1"/>
          </p:cNvGraphicFramePr>
          <p:nvPr>
            <p:extLst/>
          </p:nvPr>
        </p:nvGraphicFramePr>
        <p:xfrm>
          <a:off x="1449388" y="4414838"/>
          <a:ext cx="5994400" cy="149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5" name="Visio" r:id="rId7" imgW="7246080" imgH="1666080" progId="Visio.Drawing.11">
                  <p:embed/>
                </p:oleObj>
              </mc:Choice>
              <mc:Fallback>
                <p:oleObj name="Visio" r:id="rId7" imgW="7246080" imgH="16660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4414838"/>
                        <a:ext cx="5994400" cy="149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949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9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136904" cy="4824536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Models a global business process between at least two business parties (each modelled by a Pool)</a:t>
            </a:r>
            <a:endParaRPr lang="en-AU" dirty="0"/>
          </a:p>
          <a:p>
            <a:pPr lvl="1" indent="-23813">
              <a:buNone/>
            </a:pPr>
            <a:endParaRPr lang="en-AU" sz="2000" b="1" dirty="0"/>
          </a:p>
          <a:p>
            <a:pPr lvl="1"/>
            <a:endParaRPr lang="en-AU" sz="2000" dirty="0"/>
          </a:p>
        </p:txBody>
      </p:sp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Collaboration Diagram</a:t>
            </a:r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21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896002" name="Object 2"/>
          <p:cNvGraphicFramePr>
            <a:graphicFrameLocks noChangeAspect="1"/>
          </p:cNvGraphicFramePr>
          <p:nvPr>
            <p:extLst/>
          </p:nvPr>
        </p:nvGraphicFramePr>
        <p:xfrm>
          <a:off x="680648" y="1898650"/>
          <a:ext cx="7225440" cy="4669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3" name="Visio" r:id="rId5" imgW="14020200" imgH="8620560" progId="Visio.Drawing.11">
                  <p:embed/>
                </p:oleObj>
              </mc:Choice>
              <mc:Fallback>
                <p:oleObj name="Visio" r:id="rId5" imgW="14020200" imgH="8620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48" y="1898650"/>
                        <a:ext cx="7225440" cy="4669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ular Callout 5"/>
          <p:cNvSpPr/>
          <p:nvPr/>
        </p:nvSpPr>
        <p:spPr bwMode="auto">
          <a:xfrm>
            <a:off x="7815261" y="5798240"/>
            <a:ext cx="874206" cy="620486"/>
          </a:xfrm>
          <a:prstGeom prst="wedgeRoundRectCallout">
            <a:avLst>
              <a:gd name="adj1" fmla="val -88891"/>
              <a:gd name="adj2" fmla="val -5356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</a:pPr>
            <a:r>
              <a:rPr lang="en-AU" sz="1600" dirty="0">
                <a:solidFill>
                  <a:prstClr val="black"/>
                </a:solidFill>
                <a:ea typeface="ＭＳ Ｐゴシック" pitchFamily="34" charset="-128"/>
              </a:rPr>
              <a:t>Public</a:t>
            </a:r>
            <a:br>
              <a:rPr lang="en-AU" sz="1600" dirty="0">
                <a:solidFill>
                  <a:prstClr val="black"/>
                </a:solidFill>
                <a:ea typeface="ＭＳ Ｐゴシック" pitchFamily="34" charset="-128"/>
              </a:rPr>
            </a:br>
            <a:r>
              <a:rPr lang="en-AU" sz="1600" dirty="0">
                <a:solidFill>
                  <a:prstClr val="black"/>
                </a:solidFill>
                <a:ea typeface="ＭＳ Ｐゴシック" pitchFamily="34" charset="-128"/>
              </a:rPr>
              <a:t>process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815261" y="2839760"/>
            <a:ext cx="894302" cy="576943"/>
          </a:xfrm>
          <a:prstGeom prst="wedgeRoundRectCallout">
            <a:avLst>
              <a:gd name="adj1" fmla="val -88891"/>
              <a:gd name="adj2" fmla="val -5356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</a:pPr>
            <a:r>
              <a:rPr lang="en-AU" sz="1600" dirty="0">
                <a:solidFill>
                  <a:prstClr val="black"/>
                </a:solidFill>
                <a:ea typeface="ＭＳ Ｐゴシック" pitchFamily="34" charset="-128"/>
              </a:rPr>
              <a:t>Private process</a:t>
            </a:r>
          </a:p>
        </p:txBody>
      </p:sp>
    </p:spTree>
    <p:extLst>
      <p:ext uri="{BB962C8B-B14F-4D97-AF65-F5344CB8AC3E}">
        <p14:creationId xmlns:p14="http://schemas.microsoft.com/office/powerpoint/2010/main" val="121798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48417" y="312385"/>
            <a:ext cx="6705600" cy="562708"/>
          </a:xfrm>
        </p:spPr>
        <p:txBody>
          <a:bodyPr>
            <a:no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Readings for </a:t>
            </a:r>
            <a:r>
              <a:rPr lang="en-US" smtClean="0">
                <a:ea typeface="ＭＳ Ｐゴシック" pitchFamily="34" charset="-128"/>
              </a:rPr>
              <a:t>Week 4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0534" y="1386050"/>
            <a:ext cx="8451424" cy="4745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4992" tIns="42497" rIns="84992" bIns="42497"/>
          <a:lstStyle/>
          <a:p>
            <a:pPr marL="316531" indent="-316531" defTabSz="703402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Dumas M., La Rosa M., Mendling J., Reijers, H. (2013): </a:t>
            </a:r>
            <a:b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</a:b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Fundamentals of BPM. </a:t>
            </a:r>
            <a:r>
              <a:rPr lang="en-AU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Chapter 3</a:t>
            </a:r>
            <a:r>
              <a:rPr lang="en-AU" sz="2400" dirty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: </a:t>
            </a:r>
            <a:r>
              <a:rPr lang="en-AU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ＭＳ Ｐゴシック" pitchFamily="34" charset="-128"/>
              </a:rPr>
              <a:t>3.3-3.5</a:t>
            </a:r>
            <a:endParaRPr lang="en-AU" sz="1846" dirty="0">
              <a:solidFill>
                <a:prstClr val="black"/>
              </a:solidFill>
              <a:ea typeface="ＭＳ Ｐゴシック" pitchFamily="34" charset="-128"/>
            </a:endParaRPr>
          </a:p>
          <a:p>
            <a:pPr marL="316531" indent="-316531" defTabSz="703402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AU" sz="1846" dirty="0">
              <a:solidFill>
                <a:prstClr val="black"/>
              </a:solidFill>
              <a:ea typeface="ＭＳ Ｐゴシック" pitchFamily="34" charset="-128"/>
            </a:endParaRPr>
          </a:p>
          <a:p>
            <a:pPr marL="316531" indent="-316531" defTabSz="703402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AU" sz="1846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pic>
        <p:nvPicPr>
          <p:cNvPr id="5" name="Picture 3" descr="Books02-1712x136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861" y="206966"/>
            <a:ext cx="1287181" cy="94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6E539D-8AB8-485C-BFEF-50E8D5427D32}" type="slidenum">
              <a:rPr lang="en-AU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22</a:t>
            </a:fld>
            <a:endParaRPr lang="en-A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9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MPj031559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86915" name="Rectangle 3"/>
          <p:cNvSpPr>
            <a:spLocks noChangeArrowheads="1"/>
          </p:cNvSpPr>
          <p:nvPr/>
        </p:nvSpPr>
        <p:spPr bwMode="auto">
          <a:xfrm>
            <a:off x="3962400" y="769328"/>
            <a:ext cx="4778620" cy="3047373"/>
          </a:xfrm>
          <a:prstGeom prst="rect">
            <a:avLst/>
          </a:prstGeom>
          <a:solidFill>
            <a:schemeClr val="bg1">
              <a:alpha val="81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tabLst>
                <a:tab pos="249122" algn="l"/>
              </a:tabLst>
              <a:defRPr/>
            </a:pPr>
            <a:r>
              <a:rPr lang="en-US" sz="1477" b="1" dirty="0" smtClean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Prof</a:t>
            </a:r>
            <a:r>
              <a:rPr lang="en-US" sz="1477" b="1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. Marcello La Rosa</a:t>
            </a: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/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IS School Academic Director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(Corporate Programs and Partnerships)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BPM Discipline, IS School</a:t>
            </a:r>
          </a:p>
          <a:p>
            <a:pPr eaLnBrk="0" hangingPunct="0">
              <a:spcBef>
                <a:spcPct val="50000"/>
              </a:spcBef>
              <a:tabLst>
                <a:tab pos="249122" algn="l"/>
              </a:tabLst>
              <a:defRPr/>
            </a:pP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Science &amp; Engineering Faculty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Queensland University of Technology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2 George Street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Brisbane QLD 4000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Australia</a:t>
            </a:r>
          </a:p>
          <a:p>
            <a:pPr eaLnBrk="0" hangingPunct="0">
              <a:spcBef>
                <a:spcPct val="50000"/>
              </a:spcBef>
              <a:tabLst>
                <a:tab pos="249122" algn="l"/>
              </a:tabLst>
              <a:defRPr/>
            </a:pP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p  	+61 (0)7 3138-9482</a:t>
            </a:r>
            <a:b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e   </a:t>
            </a:r>
            <a:r>
              <a:rPr lang="en-US" sz="1477" dirty="0">
                <a:solidFill>
                  <a:srgbClr val="0070C0"/>
                </a:solidFill>
                <a:ea typeface="ＭＳ Ｐゴシック" pitchFamily="34" charset="-128"/>
                <a:cs typeface="Arial" charset="0"/>
              </a:rPr>
              <a:t>m.larosa@qut.edu.au</a:t>
            </a:r>
            <a:r>
              <a:rPr lang="en-US" sz="1477" dirty="0">
                <a:solidFill>
                  <a:srgbClr val="990000"/>
                </a:solidFill>
                <a:ea typeface="ＭＳ Ｐゴシック" pitchFamily="34" charset="-128"/>
                <a:cs typeface="Arial" charset="0"/>
              </a:rPr>
              <a:t/>
            </a:r>
            <a:br>
              <a:rPr lang="en-US" sz="1477" dirty="0">
                <a:solidFill>
                  <a:srgbClr val="990000"/>
                </a:solidFill>
                <a:ea typeface="ＭＳ Ｐゴシック" pitchFamily="34" charset="-128"/>
                <a:cs typeface="Arial" charset="0"/>
              </a:rPr>
            </a:br>
            <a:r>
              <a:rPr lang="en-US" sz="1477" dirty="0">
                <a:solidFill>
                  <a:srgbClr val="000000"/>
                </a:solidFill>
                <a:ea typeface="ＭＳ Ｐゴシック" pitchFamily="34" charset="-128"/>
                <a:cs typeface="Arial" charset="0"/>
              </a:rPr>
              <a:t>w  	</a:t>
            </a:r>
            <a:r>
              <a:rPr lang="en-US" sz="1477" dirty="0">
                <a:solidFill>
                  <a:srgbClr val="0070C0"/>
                </a:solidFill>
                <a:ea typeface="ＭＳ Ｐゴシック" pitchFamily="34" charset="-128"/>
                <a:cs typeface="Arial" charset="0"/>
              </a:rPr>
              <a:t>www.marcellolarosa.com	</a:t>
            </a:r>
          </a:p>
        </p:txBody>
      </p:sp>
      <p:pic>
        <p:nvPicPr>
          <p:cNvPr id="49156" name="Picture 4" descr="QUTBlu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7201" y="826477"/>
            <a:ext cx="606669" cy="585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719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1224</TotalTime>
  <Words>842</Words>
  <Application>Microsoft Macintosh PowerPoint</Application>
  <PresentationFormat>On-screen Show (4:3)</PresentationFormat>
  <Paragraphs>141</Paragraphs>
  <Slides>23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Calibri</vt:lpstr>
      <vt:lpstr>Calibri Light</vt:lpstr>
      <vt:lpstr>Gill Sans</vt:lpstr>
      <vt:lpstr>MS PGothic</vt:lpstr>
      <vt:lpstr>ＭＳ Ｐゴシック</vt:lpstr>
      <vt:lpstr>Times New Roman</vt:lpstr>
      <vt:lpstr>Wingdings</vt:lpstr>
      <vt:lpstr>Arial</vt:lpstr>
      <vt:lpstr>Composite</vt:lpstr>
      <vt:lpstr>Office Theme</vt:lpstr>
      <vt:lpstr>3_Composite</vt:lpstr>
      <vt:lpstr>Visio</vt:lpstr>
      <vt:lpstr>PowerPoint Presentation</vt:lpstr>
      <vt:lpstr>Quick recap from Week 3</vt:lpstr>
      <vt:lpstr>Information artifacts and resources in BPMN</vt:lpstr>
      <vt:lpstr>Information artifacts (a.k.a. business objects)</vt:lpstr>
      <vt:lpstr>Our Order-to-cash process, again</vt:lpstr>
      <vt:lpstr>Solution</vt:lpstr>
      <vt:lpstr>BPMN Information Artifacts</vt:lpstr>
      <vt:lpstr>Do we always need to model data objects?</vt:lpstr>
      <vt:lpstr>BPMN Text Annotations</vt:lpstr>
      <vt:lpstr>Resources</vt:lpstr>
      <vt:lpstr>Resources</vt:lpstr>
      <vt:lpstr>Resources in the order-to-cash example</vt:lpstr>
      <vt:lpstr>BPMN Elements – Pools &amp; Lanes</vt:lpstr>
      <vt:lpstr>Solution</vt:lpstr>
      <vt:lpstr>Exchanging information between business parties</vt:lpstr>
      <vt:lpstr>BPMN Elements – Message Flow</vt:lpstr>
      <vt:lpstr>BPMN Elements – Start Message Event</vt:lpstr>
      <vt:lpstr>Solution</vt:lpstr>
      <vt:lpstr>Pools, Lanes and Message Flows: syntax</vt:lpstr>
      <vt:lpstr>Process (or Orchestration) Diagram</vt:lpstr>
      <vt:lpstr>Collaboration Diagram</vt:lpstr>
      <vt:lpstr>Readings for Week 4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Investment in BPM Projects</dc:title>
  <dc:creator>Marcello La Rosa</dc:creator>
  <cp:lastModifiedBy>Marcello La Rosa</cp:lastModifiedBy>
  <cp:revision>131</cp:revision>
  <dcterms:created xsi:type="dcterms:W3CDTF">2014-07-15T23:34:55Z</dcterms:created>
  <dcterms:modified xsi:type="dcterms:W3CDTF">2016-02-26T04:57:56Z</dcterms:modified>
</cp:coreProperties>
</file>