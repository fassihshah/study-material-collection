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 id="2147483742" r:id="rId2"/>
    <p:sldMasterId id="2147483761" r:id="rId3"/>
    <p:sldMasterId id="2147483778" r:id="rId4"/>
    <p:sldMasterId id="2147483795" r:id="rId5"/>
    <p:sldMasterId id="2147483812" r:id="rId6"/>
  </p:sldMasterIdLst>
  <p:notesMasterIdLst>
    <p:notesMasterId r:id="rId49"/>
  </p:notesMasterIdLst>
  <p:sldIdLst>
    <p:sldId id="399" r:id="rId7"/>
    <p:sldId id="369" r:id="rId8"/>
    <p:sldId id="370" r:id="rId9"/>
    <p:sldId id="371" r:id="rId10"/>
    <p:sldId id="372" r:id="rId11"/>
    <p:sldId id="373" r:id="rId12"/>
    <p:sldId id="374" r:id="rId13"/>
    <p:sldId id="375" r:id="rId14"/>
    <p:sldId id="376" r:id="rId15"/>
    <p:sldId id="377" r:id="rId16"/>
    <p:sldId id="378" r:id="rId17"/>
    <p:sldId id="379" r:id="rId18"/>
    <p:sldId id="380" r:id="rId19"/>
    <p:sldId id="381" r:id="rId20"/>
    <p:sldId id="382" r:id="rId21"/>
    <p:sldId id="383" r:id="rId22"/>
    <p:sldId id="384" r:id="rId23"/>
    <p:sldId id="412" r:id="rId24"/>
    <p:sldId id="385" r:id="rId25"/>
    <p:sldId id="400" r:id="rId26"/>
    <p:sldId id="401" r:id="rId27"/>
    <p:sldId id="402" r:id="rId28"/>
    <p:sldId id="386" r:id="rId29"/>
    <p:sldId id="404" r:id="rId30"/>
    <p:sldId id="408" r:id="rId31"/>
    <p:sldId id="410" r:id="rId32"/>
    <p:sldId id="405" r:id="rId33"/>
    <p:sldId id="422" r:id="rId34"/>
    <p:sldId id="423" r:id="rId35"/>
    <p:sldId id="421" r:id="rId36"/>
    <p:sldId id="424" r:id="rId37"/>
    <p:sldId id="406" r:id="rId38"/>
    <p:sldId id="403" r:id="rId39"/>
    <p:sldId id="388" r:id="rId40"/>
    <p:sldId id="411" r:id="rId41"/>
    <p:sldId id="389" r:id="rId42"/>
    <p:sldId id="390" r:id="rId43"/>
    <p:sldId id="407" r:id="rId44"/>
    <p:sldId id="392" r:id="rId45"/>
    <p:sldId id="393" r:id="rId46"/>
    <p:sldId id="394" r:id="rId47"/>
    <p:sldId id="41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C7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94" autoAdjust="0"/>
    <p:restoredTop sz="81121" autoAdjust="0"/>
  </p:normalViewPr>
  <p:slideViewPr>
    <p:cSldViewPr snapToGrid="0">
      <p:cViewPr varScale="1">
        <p:scale>
          <a:sx n="70" d="100"/>
          <a:sy n="70" d="100"/>
        </p:scale>
        <p:origin x="209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0BCB8-4060-4F4B-BF3D-0F4A18BAE20F}" type="datetimeFigureOut">
              <a:rPr lang="en-AU" smtClean="0"/>
              <a:t>15/10/2024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D1E29B-21C5-4616-8C91-16E7C6184830}" type="slidenum">
              <a:rPr lang="en-AU" smtClean="0"/>
              <a:t>‹#›</a:t>
            </a:fld>
            <a:endParaRPr lang="en-AU"/>
          </a:p>
        </p:txBody>
      </p:sp>
    </p:spTree>
    <p:extLst>
      <p:ext uri="{BB962C8B-B14F-4D97-AF65-F5344CB8AC3E}">
        <p14:creationId xmlns:p14="http://schemas.microsoft.com/office/powerpoint/2010/main" val="323570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dirty="0">
              <a:latin typeface="Times New Roman" panose="02020603050405020304" pitchFamily="18" charset="0"/>
            </a:endParaRPr>
          </a:p>
        </p:txBody>
      </p:sp>
      <p:sp>
        <p:nvSpPr>
          <p:cNvPr id="8196"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819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1A207A0-55CC-4D9D-A31D-1DA4547D5C3E}" type="slidenum">
              <a:rPr lang="de-DE" altLang="en-US" sz="1000" smtClean="0">
                <a:solidFill>
                  <a:srgbClr val="000000"/>
                </a:solidFill>
              </a:rPr>
              <a:pPr/>
              <a:t>1</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8199"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2921502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2</a:t>
            </a:fld>
            <a:endParaRPr lang="en-US">
              <a:solidFill>
                <a:srgbClr val="000000"/>
              </a:solidFill>
            </a:endParaRPr>
          </a:p>
        </p:txBody>
      </p:sp>
    </p:spTree>
    <p:extLst>
      <p:ext uri="{BB962C8B-B14F-4D97-AF65-F5344CB8AC3E}">
        <p14:creationId xmlns:p14="http://schemas.microsoft.com/office/powerpoint/2010/main" val="1486834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17362C-A8AB-454A-A1C0-21F6AFB79602}" type="slidenum">
              <a:rPr lang="en-US">
                <a:solidFill>
                  <a:srgbClr val="000000"/>
                </a:solidFill>
              </a:rPr>
              <a:pPr/>
              <a:t>3</a:t>
            </a:fld>
            <a:endParaRPr lang="en-US">
              <a:solidFill>
                <a:srgbClr val="000000"/>
              </a:solidFill>
            </a:endParaRPr>
          </a:p>
        </p:txBody>
      </p:sp>
      <p:sp>
        <p:nvSpPr>
          <p:cNvPr id="2008066" name="Rectangle 2"/>
          <p:cNvSpPr>
            <a:spLocks noGrp="1" noRot="1" noChangeAspect="1" noChangeArrowheads="1" noTextEdit="1"/>
          </p:cNvSpPr>
          <p:nvPr>
            <p:ph type="sldImg"/>
          </p:nvPr>
        </p:nvSpPr>
        <p:spPr>
          <a:ln/>
        </p:spPr>
      </p:sp>
      <p:sp>
        <p:nvSpPr>
          <p:cNvPr id="2008067"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2813100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0F74D-5B23-4B48-BF0A-930A23ABE4EE}" type="slidenum">
              <a:rPr lang="en-US">
                <a:solidFill>
                  <a:srgbClr val="000000"/>
                </a:solidFill>
              </a:rPr>
              <a:pPr/>
              <a:t>4</a:t>
            </a:fld>
            <a:endParaRPr lang="en-US">
              <a:solidFill>
                <a:srgbClr val="000000"/>
              </a:solidFill>
            </a:endParaRPr>
          </a:p>
        </p:txBody>
      </p:sp>
      <p:sp>
        <p:nvSpPr>
          <p:cNvPr id="2012162" name="Rectangle 2"/>
          <p:cNvSpPr>
            <a:spLocks noGrp="1" noRot="1" noChangeAspect="1" noChangeArrowheads="1" noTextEdit="1"/>
          </p:cNvSpPr>
          <p:nvPr>
            <p:ph type="sldImg"/>
          </p:nvPr>
        </p:nvSpPr>
        <p:spPr>
          <a:ln/>
        </p:spPr>
      </p:sp>
      <p:sp>
        <p:nvSpPr>
          <p:cNvPr id="2012163" name="Rectangle 3"/>
          <p:cNvSpPr>
            <a:spLocks noGrp="1" noChangeArrowheads="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dirty="0"/>
          </a:p>
        </p:txBody>
      </p:sp>
    </p:spTree>
    <p:extLst>
      <p:ext uri="{BB962C8B-B14F-4D97-AF65-F5344CB8AC3E}">
        <p14:creationId xmlns:p14="http://schemas.microsoft.com/office/powerpoint/2010/main" val="1422287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8195B8A-117A-4B9D-A876-8EB3EA5D2384}" type="slidenum">
              <a:rPr lang="en-AU" smtClean="0">
                <a:solidFill>
                  <a:prstClr val="black"/>
                </a:solidFill>
              </a:rPr>
              <a:pPr/>
              <a:t>5</a:t>
            </a:fld>
            <a:endParaRPr lang="en-AU">
              <a:solidFill>
                <a:prstClr val="black"/>
              </a:solidFill>
            </a:endParaRPr>
          </a:p>
        </p:txBody>
      </p:sp>
    </p:spTree>
    <p:extLst>
      <p:ext uri="{BB962C8B-B14F-4D97-AF65-F5344CB8AC3E}">
        <p14:creationId xmlns:p14="http://schemas.microsoft.com/office/powerpoint/2010/main" val="1922550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0F74D-5B23-4B48-BF0A-930A23ABE4EE}" type="slidenum">
              <a:rPr lang="en-US">
                <a:solidFill>
                  <a:srgbClr val="000000"/>
                </a:solidFill>
              </a:rPr>
              <a:pPr/>
              <a:t>6</a:t>
            </a:fld>
            <a:endParaRPr lang="en-US">
              <a:solidFill>
                <a:srgbClr val="000000"/>
              </a:solidFill>
            </a:endParaRPr>
          </a:p>
        </p:txBody>
      </p:sp>
      <p:sp>
        <p:nvSpPr>
          <p:cNvPr id="2012162" name="Rectangle 2"/>
          <p:cNvSpPr>
            <a:spLocks noGrp="1" noRot="1" noChangeAspect="1" noChangeArrowheads="1" noTextEdit="1"/>
          </p:cNvSpPr>
          <p:nvPr>
            <p:ph type="sldImg"/>
          </p:nvPr>
        </p:nvSpPr>
        <p:spPr>
          <a:ln/>
        </p:spPr>
      </p:sp>
      <p:sp>
        <p:nvSpPr>
          <p:cNvPr id="2012163"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893789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7</a:t>
            </a:fld>
            <a:endParaRPr lang="en-US">
              <a:solidFill>
                <a:srgbClr val="000000"/>
              </a:solidFill>
            </a:endParaRPr>
          </a:p>
        </p:txBody>
      </p:sp>
    </p:spTree>
    <p:extLst>
      <p:ext uri="{BB962C8B-B14F-4D97-AF65-F5344CB8AC3E}">
        <p14:creationId xmlns:p14="http://schemas.microsoft.com/office/powerpoint/2010/main" val="2502744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8</a:t>
            </a:fld>
            <a:endParaRPr lang="en-US">
              <a:solidFill>
                <a:srgbClr val="000000"/>
              </a:solidFill>
            </a:endParaRPr>
          </a:p>
        </p:txBody>
      </p:sp>
    </p:spTree>
    <p:extLst>
      <p:ext uri="{BB962C8B-B14F-4D97-AF65-F5344CB8AC3E}">
        <p14:creationId xmlns:p14="http://schemas.microsoft.com/office/powerpoint/2010/main" val="2324713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DA6698-EFDE-47E5-B13B-4FD82BA64727}" type="slidenum">
              <a:rPr lang="en-US">
                <a:solidFill>
                  <a:srgbClr val="000000"/>
                </a:solidFill>
              </a:rPr>
              <a:pPr/>
              <a:t>9</a:t>
            </a:fld>
            <a:endParaRPr lang="en-US">
              <a:solidFill>
                <a:srgbClr val="000000"/>
              </a:solidFill>
            </a:endParaRPr>
          </a:p>
        </p:txBody>
      </p:sp>
      <p:sp>
        <p:nvSpPr>
          <p:cNvPr id="2058242" name="Rectangle 2"/>
          <p:cNvSpPr>
            <a:spLocks noGrp="1" noRot="1" noChangeAspect="1" noChangeArrowheads="1" noTextEdit="1"/>
          </p:cNvSpPr>
          <p:nvPr>
            <p:ph type="sldImg"/>
          </p:nvPr>
        </p:nvSpPr>
        <p:spPr>
          <a:ln/>
        </p:spPr>
      </p:sp>
      <p:sp>
        <p:nvSpPr>
          <p:cNvPr id="2058243"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05318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49E80B-D58A-4DA2-81DF-0E77E732B6D5}" type="slidenum">
              <a:rPr lang="en-US">
                <a:solidFill>
                  <a:srgbClr val="000000"/>
                </a:solidFill>
              </a:rPr>
              <a:pPr/>
              <a:t>10</a:t>
            </a:fld>
            <a:endParaRPr lang="en-US">
              <a:solidFill>
                <a:srgbClr val="000000"/>
              </a:solidFill>
            </a:endParaRPr>
          </a:p>
        </p:txBody>
      </p:sp>
      <p:sp>
        <p:nvSpPr>
          <p:cNvPr id="2059266" name="Rectangle 2"/>
          <p:cNvSpPr>
            <a:spLocks noGrp="1" noRot="1" noChangeAspect="1" noChangeArrowheads="1" noTextEdit="1"/>
          </p:cNvSpPr>
          <p:nvPr>
            <p:ph type="sldImg"/>
          </p:nvPr>
        </p:nvSpPr>
        <p:spPr>
          <a:ln/>
        </p:spPr>
      </p:sp>
      <p:sp>
        <p:nvSpPr>
          <p:cNvPr id="2059267"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16428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8A9600-B272-466F-ACDA-5D15E38F04F0}" type="slidenum">
              <a:rPr lang="en-US">
                <a:solidFill>
                  <a:srgbClr val="000000"/>
                </a:solidFill>
              </a:rPr>
              <a:pPr/>
              <a:t>11</a:t>
            </a:fld>
            <a:endParaRPr lang="en-US">
              <a:solidFill>
                <a:srgbClr val="000000"/>
              </a:solidFill>
            </a:endParaRPr>
          </a:p>
        </p:txBody>
      </p:sp>
      <p:sp>
        <p:nvSpPr>
          <p:cNvPr id="2057218" name="Rectangle 2"/>
          <p:cNvSpPr>
            <a:spLocks noGrp="1" noRot="1" noChangeAspect="1" noChangeArrowheads="1" noTextEdit="1"/>
          </p:cNvSpPr>
          <p:nvPr>
            <p:ph type="sldImg"/>
          </p:nvPr>
        </p:nvSpPr>
        <p:spPr>
          <a:ln/>
        </p:spPr>
      </p:sp>
      <p:sp>
        <p:nvSpPr>
          <p:cNvPr id="2057219"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796243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0F74D-5B23-4B48-BF0A-930A23ABE4EE}" type="slidenum">
              <a:rPr lang="en-US">
                <a:solidFill>
                  <a:srgbClr val="000000"/>
                </a:solidFill>
              </a:rPr>
              <a:pPr/>
              <a:t>12</a:t>
            </a:fld>
            <a:endParaRPr lang="en-US">
              <a:solidFill>
                <a:srgbClr val="000000"/>
              </a:solidFill>
            </a:endParaRPr>
          </a:p>
        </p:txBody>
      </p:sp>
      <p:sp>
        <p:nvSpPr>
          <p:cNvPr id="2012162" name="Rectangle 2"/>
          <p:cNvSpPr>
            <a:spLocks noGrp="1" noRot="1" noChangeAspect="1" noChangeArrowheads="1" noTextEdit="1"/>
          </p:cNvSpPr>
          <p:nvPr>
            <p:ph type="sldImg"/>
          </p:nvPr>
        </p:nvSpPr>
        <p:spPr>
          <a:ln/>
        </p:spPr>
      </p:sp>
      <p:sp>
        <p:nvSpPr>
          <p:cNvPr id="2012163"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132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13</a:t>
            </a:fld>
            <a:endParaRPr lang="en-US">
              <a:solidFill>
                <a:srgbClr val="000000"/>
              </a:solidFill>
            </a:endParaRPr>
          </a:p>
        </p:txBody>
      </p:sp>
    </p:spTree>
    <p:extLst>
      <p:ext uri="{BB962C8B-B14F-4D97-AF65-F5344CB8AC3E}">
        <p14:creationId xmlns:p14="http://schemas.microsoft.com/office/powerpoint/2010/main" val="3078310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CC4850-624C-4A42-BAD9-BDBDEAA4F1DD}" type="slidenum">
              <a:rPr lang="en-US">
                <a:solidFill>
                  <a:srgbClr val="000000"/>
                </a:solidFill>
              </a:rPr>
              <a:pPr/>
              <a:t>14</a:t>
            </a:fld>
            <a:endParaRPr lang="en-US">
              <a:solidFill>
                <a:srgbClr val="000000"/>
              </a:solidFill>
            </a:endParaRPr>
          </a:p>
        </p:txBody>
      </p:sp>
      <p:sp>
        <p:nvSpPr>
          <p:cNvPr id="2011138" name="Rectangle 2"/>
          <p:cNvSpPr>
            <a:spLocks noGrp="1" noRot="1" noChangeAspect="1" noChangeArrowheads="1" noTextEdit="1"/>
          </p:cNvSpPr>
          <p:nvPr>
            <p:ph type="sldImg"/>
          </p:nvPr>
        </p:nvSpPr>
        <p:spPr>
          <a:xfrm>
            <a:off x="1255713" y="720725"/>
            <a:ext cx="4803775" cy="3602038"/>
          </a:xfrm>
          <a:ln/>
        </p:spPr>
      </p:sp>
      <p:sp>
        <p:nvSpPr>
          <p:cNvPr id="2011139" name="Rectangle 3"/>
          <p:cNvSpPr>
            <a:spLocks noGrp="1" noChangeArrowheads="1"/>
          </p:cNvSpPr>
          <p:nvPr>
            <p:ph type="body" idx="1"/>
          </p:nvPr>
        </p:nvSpPr>
        <p:spPr>
          <a:xfrm>
            <a:off x="973289" y="4561576"/>
            <a:ext cx="5368623" cy="4318827"/>
          </a:xfrm>
        </p:spPr>
        <p:txBody>
          <a:bodyPr/>
          <a:lstStyle/>
          <a:p>
            <a:endParaRPr lang="en-AU" dirty="0"/>
          </a:p>
        </p:txBody>
      </p:sp>
    </p:spTree>
    <p:extLst>
      <p:ext uri="{BB962C8B-B14F-4D97-AF65-F5344CB8AC3E}">
        <p14:creationId xmlns:p14="http://schemas.microsoft.com/office/powerpoint/2010/main" val="3835475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E4BC2A9-B9C4-42D1-A80F-964BBE86E6E1}" type="slidenum">
              <a:rPr lang="en-US">
                <a:solidFill>
                  <a:srgbClr val="000000"/>
                </a:solidFill>
              </a:rPr>
              <a:pPr/>
              <a:t>15</a:t>
            </a:fld>
            <a:endParaRPr lang="en-US">
              <a:solidFill>
                <a:srgbClr val="000000"/>
              </a:solidFill>
            </a:endParaRPr>
          </a:p>
        </p:txBody>
      </p:sp>
      <p:sp>
        <p:nvSpPr>
          <p:cNvPr id="1729538" name="Rectangle 2"/>
          <p:cNvSpPr>
            <a:spLocks noGrp="1" noRot="1" noChangeAspect="1" noChangeArrowheads="1" noTextEdit="1"/>
          </p:cNvSpPr>
          <p:nvPr>
            <p:ph type="sldImg"/>
          </p:nvPr>
        </p:nvSpPr>
        <p:spPr>
          <a:xfrm>
            <a:off x="992188" y="768350"/>
            <a:ext cx="5114925" cy="3836988"/>
          </a:xfrm>
          <a:prstGeom prst="rect">
            <a:avLst/>
          </a:prstGeom>
          <a:ln/>
        </p:spPr>
      </p:sp>
      <p:sp>
        <p:nvSpPr>
          <p:cNvPr id="1729539" name="Rectangle 3"/>
          <p:cNvSpPr>
            <a:spLocks noGrp="1" noChangeArrowheads="1"/>
          </p:cNvSpPr>
          <p:nvPr>
            <p:ph type="body" idx="1"/>
          </p:nvPr>
        </p:nvSpPr>
        <p:spPr>
          <a:xfrm>
            <a:off x="709613" y="4860925"/>
            <a:ext cx="5680075" cy="4605338"/>
          </a:xfrm>
          <a:prstGeom prst="rect">
            <a:avLst/>
          </a:prstGeom>
        </p:spPr>
        <p:txBody>
          <a:bodyPr/>
          <a:lstStyle/>
          <a:p>
            <a:endParaRPr lang="en-AU" dirty="0"/>
          </a:p>
        </p:txBody>
      </p:sp>
    </p:spTree>
    <p:extLst>
      <p:ext uri="{BB962C8B-B14F-4D97-AF65-F5344CB8AC3E}">
        <p14:creationId xmlns:p14="http://schemas.microsoft.com/office/powerpoint/2010/main" val="31095602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p:txBody>
          <a:bodyPr/>
          <a:lstStyle/>
          <a:p>
            <a:pPr>
              <a:defRPr/>
            </a:pPr>
            <a:fld id="{0F2C33C1-922C-496A-8FD8-06A569A607D4}" type="slidenum">
              <a:rPr lang="en-US">
                <a:solidFill>
                  <a:srgbClr val="000000"/>
                </a:solidFill>
              </a:rPr>
              <a:pPr>
                <a:defRPr/>
              </a:pPr>
              <a:t>16</a:t>
            </a:fld>
            <a:endParaRPr lang="en-US">
              <a:solidFill>
                <a:srgbClr val="000000"/>
              </a:solidFill>
            </a:endParaRPr>
          </a:p>
        </p:txBody>
      </p:sp>
      <p:sp>
        <p:nvSpPr>
          <p:cNvPr id="710658" name="Rectangle 2"/>
          <p:cNvSpPr>
            <a:spLocks noGrp="1" noRot="1" noChangeAspect="1" noChangeArrowheads="1" noTextEdit="1"/>
          </p:cNvSpPr>
          <p:nvPr>
            <p:ph type="sldImg"/>
          </p:nvPr>
        </p:nvSpPr>
        <p:spPr>
          <a:xfrm>
            <a:off x="992188" y="768350"/>
            <a:ext cx="5114925" cy="3836988"/>
          </a:xfrm>
          <a:prstGeom prst="rect">
            <a:avLst/>
          </a:prstGeom>
          <a:ln/>
        </p:spPr>
      </p:sp>
      <p:sp>
        <p:nvSpPr>
          <p:cNvPr id="710659" name="Rectangle 3"/>
          <p:cNvSpPr>
            <a:spLocks noGrp="1" noChangeArrowheads="1"/>
          </p:cNvSpPr>
          <p:nvPr>
            <p:ph type="body" idx="1"/>
          </p:nvPr>
        </p:nvSpPr>
        <p:spPr>
          <a:xfrm>
            <a:off x="709613" y="4860925"/>
            <a:ext cx="5680075" cy="4605338"/>
          </a:xfrm>
          <a:prstGeom prst="rect">
            <a:avLst/>
          </a:prstGeom>
          <a:noFill/>
          <a:ln/>
        </p:spPr>
        <p:txBody>
          <a:bodyPr/>
          <a:lstStyle/>
          <a:p>
            <a:pPr eaLnBrk="1" hangingPunct="1"/>
            <a:endParaRPr lang="en-AU" dirty="0"/>
          </a:p>
        </p:txBody>
      </p:sp>
    </p:spTree>
    <p:extLst>
      <p:ext uri="{BB962C8B-B14F-4D97-AF65-F5344CB8AC3E}">
        <p14:creationId xmlns:p14="http://schemas.microsoft.com/office/powerpoint/2010/main" val="1321754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D0CFC10-9C91-49F3-BD52-7BD2E133EBE8}" type="slidenum">
              <a:rPr lang="en-US">
                <a:solidFill>
                  <a:srgbClr val="000000"/>
                </a:solidFill>
              </a:rPr>
              <a:pPr/>
              <a:t>17</a:t>
            </a:fld>
            <a:endParaRPr lang="en-US">
              <a:solidFill>
                <a:srgbClr val="000000"/>
              </a:solidFill>
            </a:endParaRPr>
          </a:p>
        </p:txBody>
      </p:sp>
      <p:sp>
        <p:nvSpPr>
          <p:cNvPr id="1688578" name="Rectangle 2"/>
          <p:cNvSpPr>
            <a:spLocks noGrp="1" noRot="1" noChangeAspect="1" noChangeArrowheads="1" noTextEdit="1"/>
          </p:cNvSpPr>
          <p:nvPr>
            <p:ph type="sldImg"/>
          </p:nvPr>
        </p:nvSpPr>
        <p:spPr>
          <a:xfrm>
            <a:off x="990600" y="768350"/>
            <a:ext cx="5118100" cy="3838575"/>
          </a:xfrm>
          <a:prstGeom prst="rect">
            <a:avLst/>
          </a:prstGeom>
          <a:ln/>
        </p:spPr>
      </p:sp>
      <p:sp>
        <p:nvSpPr>
          <p:cNvPr id="1688579" name="Rectangle 3"/>
          <p:cNvSpPr>
            <a:spLocks noGrp="1" noChangeArrowheads="1"/>
          </p:cNvSpPr>
          <p:nvPr>
            <p:ph type="body" idx="1"/>
          </p:nvPr>
        </p:nvSpPr>
        <p:spPr>
          <a:xfrm>
            <a:off x="710239" y="4861781"/>
            <a:ext cx="5678824" cy="4604560"/>
          </a:xfrm>
          <a:prstGeom prst="rect">
            <a:avLst/>
          </a:prstGeom>
        </p:spPr>
        <p:txBody>
          <a:bodyPr/>
          <a:lstStyle/>
          <a:p>
            <a:endParaRPr lang="en-AU" dirty="0"/>
          </a:p>
        </p:txBody>
      </p:sp>
    </p:spTree>
    <p:extLst>
      <p:ext uri="{BB962C8B-B14F-4D97-AF65-F5344CB8AC3E}">
        <p14:creationId xmlns:p14="http://schemas.microsoft.com/office/powerpoint/2010/main" val="2970330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dirty="0"/>
          </a:p>
        </p:txBody>
      </p:sp>
      <p:sp>
        <p:nvSpPr>
          <p:cNvPr id="19460"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1946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0D627D2-1F15-4FB7-B713-6351D5C084FC}" type="slidenum">
              <a:rPr lang="de-DE" altLang="en-US" sz="1000" smtClean="0">
                <a:solidFill>
                  <a:srgbClr val="000000"/>
                </a:solidFill>
              </a:rPr>
              <a:pPr/>
              <a:t>19</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19463"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38079748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latin typeface="Times New Roman" panose="02020603050405020304" pitchFamily="18" charset="0"/>
            </a:endParaRPr>
          </a:p>
        </p:txBody>
      </p:sp>
      <p:sp>
        <p:nvSpPr>
          <p:cNvPr id="13316"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1331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DBC7595-022E-4C6B-9AF2-B789CB6E17C5}" type="slidenum">
              <a:rPr lang="de-DE" altLang="en-US" sz="1000" smtClean="0">
                <a:solidFill>
                  <a:srgbClr val="000000"/>
                </a:solidFill>
              </a:rPr>
              <a:pPr/>
              <a:t>20</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13319"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27397332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F82759E-8999-4DBB-AFA5-27BEE8C6C2F0}" type="slidenum">
              <a:rPr lang="en-US" smtClean="0">
                <a:solidFill>
                  <a:srgbClr val="000000"/>
                </a:solidFill>
              </a:rPr>
              <a:pPr/>
              <a:t>22</a:t>
            </a:fld>
            <a:endParaRPr lang="en-US">
              <a:solidFill>
                <a:srgbClr val="000000"/>
              </a:solidFill>
            </a:endParaRPr>
          </a:p>
        </p:txBody>
      </p:sp>
    </p:spTree>
    <p:extLst>
      <p:ext uri="{BB962C8B-B14F-4D97-AF65-F5344CB8AC3E}">
        <p14:creationId xmlns:p14="http://schemas.microsoft.com/office/powerpoint/2010/main" val="374129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dirty="0"/>
          </a:p>
        </p:txBody>
      </p:sp>
      <p:sp>
        <p:nvSpPr>
          <p:cNvPr id="17412"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1741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65A686E-91EE-481B-A730-2490FE130487}" type="slidenum">
              <a:rPr lang="de-DE" altLang="en-US" sz="1000" smtClean="0">
                <a:solidFill>
                  <a:srgbClr val="000000"/>
                </a:solidFill>
              </a:rPr>
              <a:pPr/>
              <a:t>23</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17415"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2635283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61EA7C1-B337-4A6F-808E-DBEA83EDCE3E}" type="slidenum">
              <a:rPr lang="en-AU" smtClean="0">
                <a:solidFill>
                  <a:prstClr val="black"/>
                </a:solidFill>
              </a:rPr>
              <a:pPr/>
              <a:t>24</a:t>
            </a:fld>
            <a:endParaRPr lang="en-AU">
              <a:solidFill>
                <a:prstClr val="black"/>
              </a:solidFill>
            </a:endParaRPr>
          </a:p>
        </p:txBody>
      </p:sp>
    </p:spTree>
    <p:extLst>
      <p:ext uri="{BB962C8B-B14F-4D97-AF65-F5344CB8AC3E}">
        <p14:creationId xmlns:p14="http://schemas.microsoft.com/office/powerpoint/2010/main" val="2164669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61EA7C1-B337-4A6F-808E-DBEA83EDCE3E}" type="slidenum">
              <a:rPr lang="en-AU" smtClean="0">
                <a:solidFill>
                  <a:prstClr val="black"/>
                </a:solidFill>
              </a:rPr>
              <a:pPr/>
              <a:t>25</a:t>
            </a:fld>
            <a:endParaRPr lang="en-AU">
              <a:solidFill>
                <a:prstClr val="black"/>
              </a:solidFill>
            </a:endParaRPr>
          </a:p>
        </p:txBody>
      </p:sp>
    </p:spTree>
    <p:extLst>
      <p:ext uri="{BB962C8B-B14F-4D97-AF65-F5344CB8AC3E}">
        <p14:creationId xmlns:p14="http://schemas.microsoft.com/office/powerpoint/2010/main" val="10273564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61EA7C1-B337-4A6F-808E-DBEA83EDCE3E}" type="slidenum">
              <a:rPr lang="en-AU" smtClean="0">
                <a:solidFill>
                  <a:prstClr val="black"/>
                </a:solidFill>
              </a:rPr>
              <a:pPr/>
              <a:t>26</a:t>
            </a:fld>
            <a:endParaRPr lang="en-AU">
              <a:solidFill>
                <a:prstClr val="black"/>
              </a:solidFill>
            </a:endParaRPr>
          </a:p>
        </p:txBody>
      </p:sp>
    </p:spTree>
    <p:extLst>
      <p:ext uri="{BB962C8B-B14F-4D97-AF65-F5344CB8AC3E}">
        <p14:creationId xmlns:p14="http://schemas.microsoft.com/office/powerpoint/2010/main" val="948748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61EA7C1-B337-4A6F-808E-DBEA83EDCE3E}" type="slidenum">
              <a:rPr lang="en-AU" smtClean="0">
                <a:solidFill>
                  <a:prstClr val="black"/>
                </a:solidFill>
              </a:rPr>
              <a:pPr/>
              <a:t>27</a:t>
            </a:fld>
            <a:endParaRPr lang="en-AU">
              <a:solidFill>
                <a:prstClr val="black"/>
              </a:solidFill>
            </a:endParaRPr>
          </a:p>
        </p:txBody>
      </p:sp>
    </p:spTree>
    <p:extLst>
      <p:ext uri="{BB962C8B-B14F-4D97-AF65-F5344CB8AC3E}">
        <p14:creationId xmlns:p14="http://schemas.microsoft.com/office/powerpoint/2010/main" val="22066337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61EA7C1-B337-4A6F-808E-DBEA83EDCE3E}" type="slidenum">
              <a:rPr lang="en-AU" smtClean="0">
                <a:solidFill>
                  <a:prstClr val="black"/>
                </a:solidFill>
              </a:rPr>
              <a:pPr/>
              <a:t>32</a:t>
            </a:fld>
            <a:endParaRPr lang="en-AU">
              <a:solidFill>
                <a:prstClr val="black"/>
              </a:solidFill>
            </a:endParaRPr>
          </a:p>
        </p:txBody>
      </p:sp>
    </p:spTree>
    <p:extLst>
      <p:ext uri="{BB962C8B-B14F-4D97-AF65-F5344CB8AC3E}">
        <p14:creationId xmlns:p14="http://schemas.microsoft.com/office/powerpoint/2010/main" val="937333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33</a:t>
            </a:fld>
            <a:endParaRPr lang="en-US">
              <a:solidFill>
                <a:srgbClr val="000000"/>
              </a:solidFill>
            </a:endParaRPr>
          </a:p>
        </p:txBody>
      </p:sp>
    </p:spTree>
    <p:extLst>
      <p:ext uri="{BB962C8B-B14F-4D97-AF65-F5344CB8AC3E}">
        <p14:creationId xmlns:p14="http://schemas.microsoft.com/office/powerpoint/2010/main" val="7063394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dirty="0"/>
          </a:p>
        </p:txBody>
      </p:sp>
      <p:sp>
        <p:nvSpPr>
          <p:cNvPr id="19460"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1946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0D627D2-1F15-4FB7-B713-6351D5C084FC}" type="slidenum">
              <a:rPr lang="de-DE" altLang="en-US" sz="1000" smtClean="0">
                <a:solidFill>
                  <a:srgbClr val="000000"/>
                </a:solidFill>
              </a:rPr>
              <a:pPr/>
              <a:t>36</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19463"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3741966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a:ln/>
        </p:spPr>
      </p:sp>
      <p:sp>
        <p:nvSpPr>
          <p:cNvPr id="3174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3174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eaLnBrk="0" hangingPunct="0">
              <a:defRPr sz="2400" b="1">
                <a:solidFill>
                  <a:schemeClr val="tx1"/>
                </a:solidFill>
                <a:latin typeface="Arial" panose="020B0604020202020204" pitchFamily="34" charset="0"/>
                <a:ea typeface="ＭＳ Ｐゴシック" panose="020B0600070205080204" pitchFamily="34" charset="-128"/>
              </a:defRPr>
            </a:lvl1pPr>
            <a:lvl2pPr marL="742950" indent="-285750" defTabSz="973138" eaLnBrk="0" hangingPunct="0">
              <a:defRPr sz="2400" b="1">
                <a:solidFill>
                  <a:schemeClr val="tx1"/>
                </a:solidFill>
                <a:latin typeface="Arial" panose="020B0604020202020204" pitchFamily="34" charset="0"/>
                <a:ea typeface="ＭＳ Ｐゴシック" panose="020B0600070205080204" pitchFamily="34" charset="-128"/>
              </a:defRPr>
            </a:lvl2pPr>
            <a:lvl3pPr marL="11430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3pPr>
            <a:lvl4pPr marL="16002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4pPr>
            <a:lvl5pPr marL="20574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5pPr>
            <a:lvl6pPr marL="25146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eaLnBrk="1" hangingPunct="1"/>
            <a:fld id="{C6C8DE93-8C39-43CB-8506-4DC1D16A6A41}" type="slidenum">
              <a:rPr lang="en-AU" altLang="en-US" sz="1300" b="0">
                <a:solidFill>
                  <a:srgbClr val="000000"/>
                </a:solidFill>
              </a:rPr>
              <a:pPr eaLnBrk="1" hangingPunct="1"/>
              <a:t>37</a:t>
            </a:fld>
            <a:endParaRPr lang="en-AU" altLang="en-US" sz="1300" b="0">
              <a:solidFill>
                <a:srgbClr val="000000"/>
              </a:solidFill>
            </a:endParaRPr>
          </a:p>
        </p:txBody>
      </p:sp>
    </p:spTree>
    <p:extLst>
      <p:ext uri="{BB962C8B-B14F-4D97-AF65-F5344CB8AC3E}">
        <p14:creationId xmlns:p14="http://schemas.microsoft.com/office/powerpoint/2010/main" val="29550962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061EA7C1-B337-4A6F-808E-DBEA83EDCE3E}" type="slidenum">
              <a:rPr lang="en-AU" smtClean="0"/>
              <a:t>38</a:t>
            </a:fld>
            <a:endParaRPr lang="en-AU"/>
          </a:p>
        </p:txBody>
      </p:sp>
    </p:spTree>
    <p:extLst>
      <p:ext uri="{BB962C8B-B14F-4D97-AF65-F5344CB8AC3E}">
        <p14:creationId xmlns:p14="http://schemas.microsoft.com/office/powerpoint/2010/main" val="40957862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dirty="0"/>
          </a:p>
        </p:txBody>
      </p:sp>
      <p:sp>
        <p:nvSpPr>
          <p:cNvPr id="19460"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19461"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30D627D2-1F15-4FB7-B713-6351D5C084FC}" type="slidenum">
              <a:rPr lang="de-DE" altLang="en-US" sz="1000" smtClean="0">
                <a:solidFill>
                  <a:srgbClr val="000000"/>
                </a:solidFill>
              </a:rPr>
              <a:pPr/>
              <a:t>39</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19463"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6205997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dirty="0"/>
          </a:p>
        </p:txBody>
      </p:sp>
      <p:sp>
        <p:nvSpPr>
          <p:cNvPr id="38916"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a:t>
            </a:r>
            <a:r>
              <a:rPr lang="en-US" altLang="en-US" sz="1200">
                <a:solidFill>
                  <a:srgbClr val="000000"/>
                </a:solidFill>
              </a:rPr>
              <a:t>–</a:t>
            </a:r>
            <a:r>
              <a:rPr lang="de-DE" altLang="en-US" sz="1200">
                <a:solidFill>
                  <a:srgbClr val="000000"/>
                </a:solidFill>
              </a:rPr>
              <a:t> 20 July 2009</a:t>
            </a:r>
          </a:p>
        </p:txBody>
      </p:sp>
      <p:sp>
        <p:nvSpPr>
          <p:cNvPr id="3891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F7976E3-BCFE-4C58-918E-07FBF58CF93D}" type="slidenum">
              <a:rPr lang="de-DE" altLang="en-US" sz="1000" smtClean="0">
                <a:solidFill>
                  <a:srgbClr val="000000"/>
                </a:solidFill>
              </a:rPr>
              <a:pPr/>
              <a:t>40</a:t>
            </a:fld>
            <a:endParaRPr lang="de-DE" altLang="en-US" sz="1000">
              <a:solidFill>
                <a:srgbClr val="000000"/>
              </a:solidFill>
            </a:endParaRPr>
          </a:p>
        </p:txBody>
      </p:sp>
      <p:sp>
        <p:nvSpPr>
          <p:cNvPr id="6" name="Footer Placeholder 5"/>
          <p:cNvSpPr>
            <a:spLocks noGrp="1"/>
          </p:cNvSpPr>
          <p:nvPr>
            <p:ph type="ftr" sz="quarter" idx="4"/>
          </p:nvPr>
        </p:nvSpPr>
        <p:spPr/>
        <p:txBody>
          <a:bodyPr/>
          <a:lstStyle/>
          <a:p>
            <a:pPr>
              <a:defRPr/>
            </a:pPr>
            <a:r>
              <a:rPr lang="de-DE">
                <a:solidFill>
                  <a:srgbClr val="000000"/>
                </a:solidFill>
              </a:rPr>
              <a:t>QUT Brisbane, Dr. Michael Rosemann</a:t>
            </a:r>
          </a:p>
        </p:txBody>
      </p:sp>
      <p:sp>
        <p:nvSpPr>
          <p:cNvPr id="38919" name="Header Placeholder 6"/>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INB/INN320 </a:t>
            </a:r>
            <a:r>
              <a:rPr lang="en-US" altLang="en-US" sz="1200">
                <a:solidFill>
                  <a:srgbClr val="000000"/>
                </a:solidFill>
              </a:rPr>
              <a:t>–</a:t>
            </a:r>
            <a:r>
              <a:rPr lang="de-DE" altLang="en-US" sz="1200">
                <a:solidFill>
                  <a:srgbClr val="000000"/>
                </a:solidFill>
              </a:rPr>
              <a:t> Business Process Modelling</a:t>
            </a:r>
          </a:p>
        </p:txBody>
      </p:sp>
    </p:spTree>
    <p:extLst>
      <p:ext uri="{BB962C8B-B14F-4D97-AF65-F5344CB8AC3E}">
        <p14:creationId xmlns:p14="http://schemas.microsoft.com/office/powerpoint/2010/main" val="7867073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F82759E-8999-4DBB-AFA5-27BEE8C6C2F0}" type="slidenum">
              <a:rPr lang="en-US" smtClean="0">
                <a:solidFill>
                  <a:srgbClr val="000000"/>
                </a:solidFill>
              </a:rPr>
              <a:pPr/>
              <a:t>41</a:t>
            </a:fld>
            <a:endParaRPr lang="en-US">
              <a:solidFill>
                <a:srgbClr val="000000"/>
              </a:solidFill>
            </a:endParaRPr>
          </a:p>
        </p:txBody>
      </p:sp>
    </p:spTree>
    <p:extLst>
      <p:ext uri="{BB962C8B-B14F-4D97-AF65-F5344CB8AC3E}">
        <p14:creationId xmlns:p14="http://schemas.microsoft.com/office/powerpoint/2010/main" val="24122737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p:spPr>
      </p:sp>
      <p:sp>
        <p:nvSpPr>
          <p:cNvPr id="82947" name="Notes Placeholder 2"/>
          <p:cNvSpPr>
            <a:spLocks noGrp="1"/>
          </p:cNvSpPr>
          <p:nvPr>
            <p:ph type="body" idx="1"/>
          </p:nvPr>
        </p:nvSpPr>
        <p:spPr bwMode="auto">
          <a:xfrm>
            <a:off x="709613" y="4862513"/>
            <a:ext cx="5680075" cy="4603750"/>
          </a:xfrm>
          <a:prstGeom prst="rect">
            <a:avLst/>
          </a:prstGeom>
          <a:noFill/>
          <a:ln>
            <a:miter lim="800000"/>
            <a:headEnd/>
            <a:tailEnd/>
          </a:ln>
        </p:spPr>
        <p:txBody>
          <a:bodyPr lIns="99048" tIns="49524" rIns="99048" bIns="49524"/>
          <a:lstStyle/>
          <a:p>
            <a:pPr marL="0" marR="0" indent="0" algn="l" defTabSz="762000" rtl="0" eaLnBrk="0" fontAlgn="base" latinLnBrk="0" hangingPunct="0">
              <a:lnSpc>
                <a:spcPct val="100000"/>
              </a:lnSpc>
              <a:spcBef>
                <a:spcPct val="30000"/>
              </a:spcBef>
              <a:spcAft>
                <a:spcPct val="0"/>
              </a:spcAft>
              <a:buClrTx/>
              <a:buSzTx/>
              <a:buFontTx/>
              <a:buNone/>
              <a:tabLst/>
              <a:defRPr/>
            </a:pPr>
            <a:endParaRPr lang="en-AU" dirty="0"/>
          </a:p>
        </p:txBody>
      </p:sp>
      <p:sp>
        <p:nvSpPr>
          <p:cNvPr id="82948" name="Date Placeholder 3"/>
          <p:cNvSpPr>
            <a:spLocks noGrp="1"/>
          </p:cNvSpPr>
          <p:nvPr>
            <p:ph type="dt" sz="quarter" idx="1"/>
          </p:nvPr>
        </p:nvSpPr>
        <p:spPr>
          <a:noFill/>
        </p:spPr>
        <p:txBody>
          <a:bodyPr/>
          <a:lstStyle/>
          <a:p>
            <a:r>
              <a:rPr lang="de-DE">
                <a:solidFill>
                  <a:srgbClr val="C0504D"/>
                </a:solidFill>
                <a:latin typeface="Times New Roman" pitchFamily="18" charset="0"/>
              </a:rPr>
              <a:t>Lecture – 15 April 2010</a:t>
            </a:r>
          </a:p>
        </p:txBody>
      </p:sp>
      <p:sp>
        <p:nvSpPr>
          <p:cNvPr id="82949" name="Slide Number Placeholder 4"/>
          <p:cNvSpPr>
            <a:spLocks noGrp="1"/>
          </p:cNvSpPr>
          <p:nvPr>
            <p:ph type="sldNum" sz="quarter" idx="5"/>
          </p:nvPr>
        </p:nvSpPr>
        <p:spPr>
          <a:noFill/>
        </p:spPr>
        <p:txBody>
          <a:bodyPr/>
          <a:lstStyle/>
          <a:p>
            <a:fld id="{B3784155-CEA6-40AF-BF62-FC6F4A1EA3AF}" type="slidenum">
              <a:rPr lang="de-DE" smtClean="0">
                <a:solidFill>
                  <a:srgbClr val="C0504D"/>
                </a:solidFill>
                <a:latin typeface="Times New Roman" pitchFamily="18" charset="0"/>
              </a:rPr>
              <a:pPr/>
              <a:t>42</a:t>
            </a:fld>
            <a:endParaRPr lang="de-DE">
              <a:solidFill>
                <a:srgbClr val="C0504D"/>
              </a:solidFill>
              <a:latin typeface="Times New Roman" pitchFamily="18" charset="0"/>
            </a:endParaRPr>
          </a:p>
        </p:txBody>
      </p:sp>
      <p:sp>
        <p:nvSpPr>
          <p:cNvPr id="6" name="Footer Placeholder 5"/>
          <p:cNvSpPr>
            <a:spLocks noGrp="1"/>
          </p:cNvSpPr>
          <p:nvPr>
            <p:ph type="ftr" sz="quarter" idx="4"/>
          </p:nvPr>
        </p:nvSpPr>
        <p:spPr/>
        <p:txBody>
          <a:bodyPr/>
          <a:lstStyle/>
          <a:p>
            <a:pPr>
              <a:defRPr/>
            </a:pPr>
            <a:r>
              <a:rPr lang="de-DE">
                <a:solidFill>
                  <a:srgbClr val="C0504D"/>
                </a:solidFill>
              </a:rPr>
              <a:t>QUT Brisbane, Dr Jan Recker</a:t>
            </a:r>
          </a:p>
        </p:txBody>
      </p:sp>
      <p:sp>
        <p:nvSpPr>
          <p:cNvPr id="82951" name="Header Placeholder 6"/>
          <p:cNvSpPr>
            <a:spLocks noGrp="1"/>
          </p:cNvSpPr>
          <p:nvPr>
            <p:ph type="hdr" sz="quarter"/>
          </p:nvPr>
        </p:nvSpPr>
        <p:spPr>
          <a:noFill/>
        </p:spPr>
        <p:txBody>
          <a:bodyPr/>
          <a:lstStyle/>
          <a:p>
            <a:r>
              <a:rPr lang="de-DE">
                <a:solidFill>
                  <a:srgbClr val="C0504D"/>
                </a:solidFill>
                <a:latin typeface="Times New Roman" pitchFamily="18" charset="0"/>
              </a:rPr>
              <a:t>INB.INN321 – Business Process Management</a:t>
            </a:r>
          </a:p>
        </p:txBody>
      </p:sp>
    </p:spTree>
    <p:extLst>
      <p:ext uri="{BB962C8B-B14F-4D97-AF65-F5344CB8AC3E}">
        <p14:creationId xmlns:p14="http://schemas.microsoft.com/office/powerpoint/2010/main" val="40316989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1488247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pic>
        <p:nvPicPr>
          <p:cNvPr id="7" name="Picture 6"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759380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2391428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775643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68614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671163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80834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30840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359469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953287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202041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2900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6449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818280"/>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29469"/>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2384657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pic>
        <p:nvPicPr>
          <p:cNvPr id="7" name="Picture 6"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7693574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7126770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693898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380725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831080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8245072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8011033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8448459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0136345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2176253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85430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803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66413625"/>
      </p:ext>
    </p:extLst>
  </p:cSld>
  <p:clrMapOvr>
    <a:masterClrMapping/>
  </p:clrMapOvr>
  <p:transition spd="slow">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404443"/>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68300"/>
            <a:ext cx="6705600" cy="609600"/>
          </a:xfrm>
        </p:spPr>
        <p:txBody>
          <a:bodyPr/>
          <a:lstStyle/>
          <a:p>
            <a:r>
              <a:rPr lang="en-AU"/>
              <a:t>Click to edit Master title style</a:t>
            </a:r>
            <a:endParaRPr lang="en-US"/>
          </a:p>
        </p:txBody>
      </p:sp>
      <p:sp>
        <p:nvSpPr>
          <p:cNvPr id="3" name="Content Placeholder 2"/>
          <p:cNvSpPr>
            <a:spLocks noGrp="1"/>
          </p:cNvSpPr>
          <p:nvPr>
            <p:ph sz="half" idx="1"/>
          </p:nvPr>
        </p:nvSpPr>
        <p:spPr>
          <a:xfrm>
            <a:off x="693127" y="1439863"/>
            <a:ext cx="3815862"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4649666" y="1439863"/>
            <a:ext cx="3815862"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4649666" y="3573463"/>
            <a:ext cx="3815862"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3"/>
          <p:cNvSpPr>
            <a:spLocks noGrp="1" noChangeArrowheads="1"/>
          </p:cNvSpPr>
          <p:nvPr>
            <p:ph type="sldNum" sz="quarter" idx="10"/>
          </p:nvPr>
        </p:nvSpPr>
        <p:spPr>
          <a:ln/>
        </p:spPr>
        <p:txBody>
          <a:bodyPr/>
          <a:lstStyle>
            <a:lvl1pPr>
              <a:defRPr/>
            </a:lvl1pPr>
          </a:lstStyle>
          <a:p>
            <a:pPr>
              <a:defRPr/>
            </a:pPr>
            <a:fld id="{77877712-3AD6-4567-B80E-3041BE0BE0B8}" type="slidenum">
              <a:rPr lang="de-DE">
                <a:solidFill>
                  <a:prstClr val="black">
                    <a:lumMod val="50000"/>
                    <a:lumOff val="50000"/>
                  </a:prstClr>
                </a:solidFill>
              </a:rPr>
              <a:pPr>
                <a:defRPr/>
              </a:pPr>
              <a:t>‹#›</a:t>
            </a:fld>
            <a:endParaRPr lang="de-DE">
              <a:solidFill>
                <a:prstClr val="black">
                  <a:lumMod val="50000"/>
                  <a:lumOff val="50000"/>
                </a:prstClr>
              </a:solidFill>
            </a:endParaRPr>
          </a:p>
        </p:txBody>
      </p:sp>
    </p:spTree>
    <p:extLst>
      <p:ext uri="{BB962C8B-B14F-4D97-AF65-F5344CB8AC3E}">
        <p14:creationId xmlns:p14="http://schemas.microsoft.com/office/powerpoint/2010/main" val="1401286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68300"/>
            <a:ext cx="6705600" cy="6096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693127" y="1439863"/>
            <a:ext cx="3815862"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9666" y="1439863"/>
            <a:ext cx="3815862"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3"/>
          <p:cNvSpPr>
            <a:spLocks noGrp="1" noChangeArrowheads="1"/>
          </p:cNvSpPr>
          <p:nvPr>
            <p:ph type="sldNum" sz="quarter" idx="10"/>
          </p:nvPr>
        </p:nvSpPr>
        <p:spPr>
          <a:ln/>
        </p:spPr>
        <p:txBody>
          <a:bodyPr/>
          <a:lstStyle>
            <a:lvl1pPr>
              <a:defRPr/>
            </a:lvl1pPr>
          </a:lstStyle>
          <a:p>
            <a:pPr>
              <a:defRPr/>
            </a:pPr>
            <a:fld id="{C868A3D3-424C-46E2-8E4A-7029C04BAF7D}" type="slidenum">
              <a:rPr lang="de-DE">
                <a:solidFill>
                  <a:prstClr val="black">
                    <a:lumMod val="50000"/>
                    <a:lumOff val="50000"/>
                  </a:prstClr>
                </a:solidFill>
              </a:rPr>
              <a:pPr>
                <a:defRPr/>
              </a:pPr>
              <a:t>‹#›</a:t>
            </a:fld>
            <a:endParaRPr lang="de-DE">
              <a:solidFill>
                <a:prstClr val="black">
                  <a:lumMod val="50000"/>
                  <a:lumOff val="50000"/>
                </a:prstClr>
              </a:solidFill>
            </a:endParaRPr>
          </a:p>
        </p:txBody>
      </p:sp>
      <p:pic>
        <p:nvPicPr>
          <p:cNvPr id="6" name="Picture 5"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4267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2072871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pic>
        <p:nvPicPr>
          <p:cNvPr id="7" name="Picture 6"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32855617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20234674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20283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45473513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063999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747412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8525328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5796306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3317331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3101579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70556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4804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4485846"/>
      </p:ext>
    </p:extLst>
  </p:cSld>
  <p:clrMapOvr>
    <a:masterClrMapping/>
  </p:clrMapOvr>
  <p:transition spd="slow">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222432"/>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10736487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pic>
        <p:nvPicPr>
          <p:cNvPr id="7" name="Picture 6"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31298581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9911797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9856926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9182966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4453105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5304190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8990995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2770707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5898445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3229318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4296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9372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8589646"/>
      </p:ext>
    </p:extLst>
  </p:cSld>
  <p:clrMapOvr>
    <a:masterClrMapping/>
  </p:clrMapOvr>
  <p:transition spd="slow">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5498575"/>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25996000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pic>
        <p:nvPicPr>
          <p:cNvPr id="7" name="Picture 6"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4495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10527495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09211643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3134823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9366096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24702347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23797838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1169124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137024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24148353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5002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53390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1809542"/>
      </p:ext>
    </p:extLst>
  </p:cSld>
  <p:clrMapOvr>
    <a:masterClrMapping/>
  </p:clrMapOvr>
  <p:transition spd="slow">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605936"/>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24709470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pic>
        <p:nvPicPr>
          <p:cNvPr id="7" name="Picture 6"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16124672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20226968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6738411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59156128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51628792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2828547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02740388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7876717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05509574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57630930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2221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32974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525161"/>
      </p:ext>
    </p:extLst>
  </p:cSld>
  <p:clrMapOvr>
    <a:masterClrMapping/>
  </p:clrMapOvr>
  <p:transition spd="slow">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569304"/>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368300"/>
            <a:ext cx="6705600" cy="609600"/>
          </a:xfrm>
        </p:spPr>
        <p:txBody>
          <a:bodyPr/>
          <a:lstStyle/>
          <a:p>
            <a:r>
              <a:rPr lang="en-US"/>
              <a:t>Click to edit Master title style</a:t>
            </a:r>
            <a:endParaRPr lang="en-AU"/>
          </a:p>
        </p:txBody>
      </p:sp>
      <p:sp>
        <p:nvSpPr>
          <p:cNvPr id="3" name="Content Placeholder 2"/>
          <p:cNvSpPr>
            <a:spLocks noGrp="1"/>
          </p:cNvSpPr>
          <p:nvPr>
            <p:ph sz="quarter" idx="1"/>
          </p:nvPr>
        </p:nvSpPr>
        <p:spPr>
          <a:xfrm>
            <a:off x="693127" y="1506538"/>
            <a:ext cx="38158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4649667" y="1506538"/>
            <a:ext cx="38158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93127" y="3640138"/>
            <a:ext cx="38158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Content Placeholder 5"/>
          <p:cNvSpPr>
            <a:spLocks noGrp="1"/>
          </p:cNvSpPr>
          <p:nvPr>
            <p:ph sz="quarter" idx="4"/>
          </p:nvPr>
        </p:nvSpPr>
        <p:spPr>
          <a:xfrm>
            <a:off x="4649667" y="3640138"/>
            <a:ext cx="38158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Slide Number Placeholder 6"/>
          <p:cNvSpPr>
            <a:spLocks noGrp="1"/>
          </p:cNvSpPr>
          <p:nvPr>
            <p:ph type="sldNum" sz="quarter" idx="10"/>
          </p:nvPr>
        </p:nvSpPr>
        <p:spPr>
          <a:xfrm>
            <a:off x="8001000" y="6553200"/>
            <a:ext cx="1143000" cy="304800"/>
          </a:xfrm>
          <a:prstGeom prst="rect">
            <a:avLst/>
          </a:prstGeom>
        </p:spPr>
        <p:txBody>
          <a:bodyPr/>
          <a:lstStyle>
            <a:lvl1pPr algn="ctr" eaLnBrk="0" hangingPunct="0">
              <a:defRPr>
                <a:ea typeface="ＭＳ Ｐゴシック" pitchFamily="34" charset="-128"/>
                <a:cs typeface="+mn-cs"/>
              </a:defRPr>
            </a:lvl1pPr>
          </a:lstStyle>
          <a:p>
            <a:pPr>
              <a:defRPr/>
            </a:pPr>
            <a:fld id="{17DA65ED-F1C7-4087-AB21-3BE856A544E0}" type="slidenum">
              <a:rPr lang="de-DE">
                <a:solidFill>
                  <a:prstClr val="black">
                    <a:lumMod val="50000"/>
                    <a:lumOff val="50000"/>
                  </a:prstClr>
                </a:solidFill>
              </a:rPr>
              <a:pPr>
                <a:defRPr/>
              </a:pPr>
              <a:t>‹#›</a:t>
            </a:fld>
            <a:endParaRPr lang="de-DE">
              <a:solidFill>
                <a:prstClr val="black">
                  <a:lumMod val="50000"/>
                  <a:lumOff val="50000"/>
                </a:prstClr>
              </a:solidFill>
            </a:endParaRPr>
          </a:p>
        </p:txBody>
      </p:sp>
    </p:spTree>
    <p:extLst>
      <p:ext uri="{BB962C8B-B14F-4D97-AF65-F5344CB8AC3E}">
        <p14:creationId xmlns:p14="http://schemas.microsoft.com/office/powerpoint/2010/main" val="702512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image" Target="../media/image1.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image" Target="../media/image1.png"/><Relationship Id="rId2" Type="http://schemas.openxmlformats.org/officeDocument/2006/relationships/slideLayout" Target="../slideLayouts/slideLayout34.xml"/><Relationship Id="rId16" Type="http://schemas.openxmlformats.org/officeDocument/2006/relationships/theme" Target="../theme/theme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image" Target="../media/image1.png"/><Relationship Id="rId2" Type="http://schemas.openxmlformats.org/officeDocument/2006/relationships/slideLayout" Target="../slideLayouts/slideLayout49.xml"/><Relationship Id="rId16" Type="http://schemas.openxmlformats.org/officeDocument/2006/relationships/theme" Target="../theme/theme4.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image" Target="../media/image1.png"/><Relationship Id="rId2" Type="http://schemas.openxmlformats.org/officeDocument/2006/relationships/slideLayout" Target="../slideLayouts/slideLayout64.xml"/><Relationship Id="rId16" Type="http://schemas.openxmlformats.org/officeDocument/2006/relationships/theme" Target="../theme/theme5.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18"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theme" Target="../theme/theme6.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7"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fld id="{2BC67A52-7419-4FA8-9DFA-EF36036C9D68}" type="datetimeFigureOut">
              <a:rPr lang="en-AU" smtClean="0">
                <a:solidFill>
                  <a:prstClr val="black">
                    <a:lumMod val="50000"/>
                    <a:lumOff val="50000"/>
                  </a:prstClr>
                </a:solidFill>
                <a:ea typeface="ＭＳ Ｐゴシック" pitchFamily="34" charset="-128"/>
              </a:rPr>
              <a:pPr/>
              <a:t>15/10/2024</a:t>
            </a:fld>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94406602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1" r:id="rId15"/>
  </p:sldLayoutIdLst>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9"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93148521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8" r:id="rId15"/>
    <p:sldLayoutId id="2147483759" r:id="rId16"/>
    <p:sldLayoutId id="2147483760" r:id="rId17"/>
  </p:sldLayoutIdLst>
  <p:hf hdr="0" ftr="0" dt="0"/>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7"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154806646"/>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7" r:id="rId15"/>
  </p:sldLayoutIdLst>
  <p:hf hdr="0" ftr="0" dt="0"/>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7"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927237496"/>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4" r:id="rId15"/>
  </p:sldLayoutIdLst>
  <p:hf hdr="0" ftr="0" dt="0"/>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7"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3049664461"/>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1" r:id="rId15"/>
  </p:sldLayoutIdLst>
  <p:hf hdr="0" ftr="0" dt="0"/>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8"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fld id="{2BC67A52-7419-4FA8-9DFA-EF36036C9D68}" type="datetimeFigureOut">
              <a:rPr lang="en-AU" smtClean="0">
                <a:solidFill>
                  <a:prstClr val="black">
                    <a:lumMod val="50000"/>
                    <a:lumOff val="50000"/>
                  </a:prstClr>
                </a:solidFill>
                <a:ea typeface="ＭＳ Ｐゴシック" pitchFamily="34" charset="-128"/>
              </a:rPr>
              <a:pPr/>
              <a:t>15/10/2024</a:t>
            </a:fld>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01678292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8" r:id="rId15"/>
    <p:sldLayoutId id="2147483829" r:id="rId16"/>
  </p:sldLayoutIdLst>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5.bin"/><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8.bin"/><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oleObject" Target="../embeddings/oleObject11.bin"/><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20.wmf"/><Relationship Id="rId5" Type="http://schemas.openxmlformats.org/officeDocument/2006/relationships/oleObject" Target="../embeddings/oleObject13.bin"/><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28.emf"/><Relationship Id="rId5" Type="http://schemas.openxmlformats.org/officeDocument/2006/relationships/oleObject" Target="../embeddings/oleObject16.bin"/><Relationship Id="rId4" Type="http://schemas.openxmlformats.org/officeDocument/2006/relationships/image" Target="../media/image27.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64.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64.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4.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34.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7.xml"/><Relationship Id="rId1" Type="http://schemas.openxmlformats.org/officeDocument/2006/relationships/slideLayout" Target="../slideLayouts/slideLayout79.xml"/><Relationship Id="rId4" Type="http://schemas.openxmlformats.org/officeDocument/2006/relationships/image" Target="../media/image47.e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48.emf"/><Relationship Id="rId7" Type="http://schemas.openxmlformats.org/officeDocument/2006/relationships/image" Target="../media/image50.emf"/><Relationship Id="rId2" Type="http://schemas.openxmlformats.org/officeDocument/2006/relationships/oleObject" Target="../embeddings/oleObject19.bin"/><Relationship Id="rId1" Type="http://schemas.openxmlformats.org/officeDocument/2006/relationships/slideLayout" Target="../slideLayouts/slideLayout34.xml"/><Relationship Id="rId6" Type="http://schemas.openxmlformats.org/officeDocument/2006/relationships/oleObject" Target="../embeddings/oleObject21.bin"/><Relationship Id="rId11" Type="http://schemas.openxmlformats.org/officeDocument/2006/relationships/image" Target="../media/image52.emf"/><Relationship Id="rId5" Type="http://schemas.openxmlformats.org/officeDocument/2006/relationships/image" Target="../media/image49.e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51.emf"/></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34.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34.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2.xml"/><Relationship Id="rId1" Type="http://schemas.openxmlformats.org/officeDocument/2006/relationships/slideLayout" Target="../slideLayouts/slideLayout34.xml"/><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4.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p:cNvSpPr>
            <a:spLocks noGrp="1"/>
          </p:cNvSpPr>
          <p:nvPr>
            <p:ph idx="1"/>
          </p:nvPr>
        </p:nvSpPr>
        <p:spPr/>
        <p:txBody>
          <a:bodyPr/>
          <a:lstStyle/>
          <a:p>
            <a:r>
              <a:rPr lang="en-US" altLang="en-US" dirty="0"/>
              <a:t>What’s the most important characteristic of a (process) model?</a:t>
            </a:r>
          </a:p>
          <a:p>
            <a:r>
              <a:rPr lang="en-US" altLang="en-US" dirty="0"/>
              <a:t>What are the typical uses of process models?</a:t>
            </a:r>
          </a:p>
          <a:p>
            <a:r>
              <a:rPr lang="en-US" altLang="en-US" dirty="0"/>
              <a:t>What are the core elements of BPMN?</a:t>
            </a:r>
          </a:p>
          <a:p>
            <a:endParaRPr lang="en-US" altLang="en-US" dirty="0"/>
          </a:p>
        </p:txBody>
      </p:sp>
      <p:sp>
        <p:nvSpPr>
          <p:cNvPr id="7170" name="Title 1"/>
          <p:cNvSpPr>
            <a:spLocks noGrp="1"/>
          </p:cNvSpPr>
          <p:nvPr>
            <p:ph type="title"/>
          </p:nvPr>
        </p:nvSpPr>
        <p:spPr/>
        <p:txBody>
          <a:bodyPr/>
          <a:lstStyle/>
          <a:p>
            <a:r>
              <a:rPr lang="en-US" altLang="en-US" dirty="0"/>
              <a:t>Quick recap</a:t>
            </a:r>
          </a:p>
        </p:txBody>
      </p:sp>
      <p:pic>
        <p:nvPicPr>
          <p:cNvPr id="7173" name="Picture 4" descr="aaaaaaaaaaaaaaaaaaaaaaaaaawh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923" y="5102469"/>
            <a:ext cx="2211266" cy="149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3942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7" name="Rectangle 3"/>
          <p:cNvSpPr>
            <a:spLocks noGrp="1" noChangeArrowheads="1"/>
          </p:cNvSpPr>
          <p:nvPr>
            <p:ph idx="1"/>
          </p:nvPr>
        </p:nvSpPr>
        <p:spPr>
          <a:xfrm>
            <a:off x="376547" y="1117553"/>
            <a:ext cx="8136904" cy="1462099"/>
          </a:xfrm>
        </p:spPr>
        <p:txBody>
          <a:bodyPr/>
          <a:lstStyle/>
          <a:p>
            <a:pPr marL="0" lvl="1" indent="0" algn="just">
              <a:lnSpc>
                <a:spcPct val="90000"/>
              </a:lnSpc>
              <a:buNone/>
            </a:pPr>
            <a:r>
              <a:rPr lang="en-AU" sz="2400" dirty="0"/>
              <a:t>[…] </a:t>
            </a:r>
            <a:r>
              <a:rPr lang="en-US" sz="2400" dirty="0"/>
              <a:t>If the purchase order is confirmed, an invoice is emitted and the goods requested are shipped. The process completes by archiving the </a:t>
            </a:r>
            <a:r>
              <a:rPr lang="en-AU" sz="2400" dirty="0"/>
              <a:t>order. […]</a:t>
            </a:r>
          </a:p>
          <a:p>
            <a:pPr marL="0" lvl="1" indent="0" algn="just">
              <a:lnSpc>
                <a:spcPct val="90000"/>
              </a:lnSpc>
              <a:buFontTx/>
              <a:buNone/>
            </a:pPr>
            <a:endParaRPr lang="en-AU" sz="2400" dirty="0"/>
          </a:p>
        </p:txBody>
      </p:sp>
      <p:sp>
        <p:nvSpPr>
          <p:cNvPr id="989186" name="Rectangle 2"/>
          <p:cNvSpPr>
            <a:spLocks noGrp="1" noChangeArrowheads="1"/>
          </p:cNvSpPr>
          <p:nvPr>
            <p:ph type="title"/>
          </p:nvPr>
        </p:nvSpPr>
        <p:spPr/>
        <p:txBody>
          <a:bodyPr/>
          <a:lstStyle/>
          <a:p>
            <a:r>
              <a:rPr lang="en-AU" dirty="0"/>
              <a:t>Let’s reconsider our order-to-cash example</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a:t>
            </a:fld>
            <a:endParaRPr lang="en-AU">
              <a:solidFill>
                <a:prstClr val="black">
                  <a:lumMod val="50000"/>
                  <a:lumOff val="50000"/>
                </a:prstClr>
              </a:solidFill>
            </a:endParaRPr>
          </a:p>
        </p:txBody>
      </p:sp>
      <p:graphicFrame>
        <p:nvGraphicFramePr>
          <p:cNvPr id="5" name="Object 4"/>
          <p:cNvGraphicFramePr>
            <a:graphicFrameLocks noChangeAspect="1"/>
          </p:cNvGraphicFramePr>
          <p:nvPr/>
        </p:nvGraphicFramePr>
        <p:xfrm>
          <a:off x="283114" y="2503520"/>
          <a:ext cx="8433755" cy="2393938"/>
        </p:xfrm>
        <a:graphic>
          <a:graphicData uri="http://schemas.openxmlformats.org/presentationml/2006/ole">
            <mc:AlternateContent xmlns:mc="http://schemas.openxmlformats.org/markup-compatibility/2006">
              <mc:Choice xmlns:v="urn:schemas-microsoft-com:vml" Requires="v">
                <p:oleObj name="Visio" r:id="rId3" imgW="9019431" imgH="2575736" progId="Visio.Drawing.11">
                  <p:embed/>
                </p:oleObj>
              </mc:Choice>
              <mc:Fallback>
                <p:oleObj name="Visio" r:id="rId3" imgW="9019431" imgH="2575736" progId="Visio.Drawing.11">
                  <p:embed/>
                  <p:pic>
                    <p:nvPicPr>
                      <p:cNvPr id="0" name=""/>
                      <p:cNvPicPr>
                        <a:picLocks noChangeAspect="1" noChangeArrowheads="1"/>
                      </p:cNvPicPr>
                      <p:nvPr/>
                    </p:nvPicPr>
                    <p:blipFill>
                      <a:blip r:embed="rId4"/>
                      <a:srcRect/>
                      <a:stretch>
                        <a:fillRect/>
                      </a:stretch>
                    </p:blipFill>
                    <p:spPr bwMode="auto">
                      <a:xfrm>
                        <a:off x="283114" y="2503520"/>
                        <a:ext cx="8433755" cy="2393938"/>
                      </a:xfrm>
                      <a:prstGeom prst="rect">
                        <a:avLst/>
                      </a:prstGeom>
                      <a:noFill/>
                      <a:ln>
                        <a:noFill/>
                      </a:ln>
                      <a:effectLst/>
                    </p:spPr>
                  </p:pic>
                </p:oleObj>
              </mc:Fallback>
            </mc:AlternateContent>
          </a:graphicData>
        </a:graphic>
      </p:graphicFrame>
      <p:sp>
        <p:nvSpPr>
          <p:cNvPr id="8" name="Rectangle 3"/>
          <p:cNvSpPr txBox="1">
            <a:spLocks noChangeArrowheads="1"/>
          </p:cNvSpPr>
          <p:nvPr/>
        </p:nvSpPr>
        <p:spPr>
          <a:xfrm>
            <a:off x="376547" y="1118973"/>
            <a:ext cx="8136904" cy="1065816"/>
          </a:xfrm>
          <a:prstGeom prst="rect">
            <a:avLst/>
          </a:prstGeom>
        </p:spPr>
        <p:txBody>
          <a:bodyPr vert="horz" lIns="91440" tIns="45720" rIns="91440" bIns="45720" rtlCol="0" anchor="t">
            <a:normAutofit/>
          </a:bodyPr>
          <a:lstStyle>
            <a:lvl1pPr marL="182880" indent="-182880" algn="l" defTabSz="914400" rtl="0" eaLnBrk="1" latinLnBrk="0" hangingPunct="1">
              <a:spcBef>
                <a:spcPct val="20000"/>
              </a:spcBef>
              <a:buClr>
                <a:schemeClr val="tx1">
                  <a:lumMod val="50000"/>
                  <a:lumOff val="50000"/>
                </a:schemeClr>
              </a:buClr>
              <a:buFont typeface="Arial" pitchFamily="34" charset="0"/>
              <a:buChar char="•"/>
              <a:defRPr sz="2400" kern="1200">
                <a:solidFill>
                  <a:schemeClr val="tx1">
                    <a:lumMod val="75000"/>
                    <a:lumOff val="2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a:lstStyle>
          <a:p>
            <a:pPr marL="0" lvl="1" indent="0" algn="just">
              <a:lnSpc>
                <a:spcPct val="90000"/>
              </a:lnSpc>
              <a:buClr>
                <a:prstClr val="black">
                  <a:lumMod val="50000"/>
                  <a:lumOff val="50000"/>
                </a:prstClr>
              </a:buClr>
              <a:buFont typeface="Arial" pitchFamily="34" charset="0"/>
              <a:buNone/>
            </a:pPr>
            <a:r>
              <a:rPr lang="en-AU" sz="2400" dirty="0">
                <a:solidFill>
                  <a:prstClr val="white"/>
                </a:solidFill>
              </a:rPr>
              <a:t>                                                                       </a:t>
            </a:r>
            <a:r>
              <a:rPr lang="en-US" sz="2400" dirty="0">
                <a:solidFill>
                  <a:prstClr val="black">
                    <a:lumMod val="75000"/>
                    <a:lumOff val="25000"/>
                  </a:prstClr>
                </a:solidFill>
              </a:rPr>
              <a:t>an invoice is emitted and the  goods  requested  are  shipped.</a:t>
            </a:r>
            <a:endParaRPr lang="en-AU" sz="2400" dirty="0">
              <a:solidFill>
                <a:prstClr val="white"/>
              </a:solidFill>
            </a:endParaRPr>
          </a:p>
          <a:p>
            <a:pPr marL="0" lvl="1" indent="0" algn="just">
              <a:lnSpc>
                <a:spcPct val="90000"/>
              </a:lnSpc>
              <a:buClr>
                <a:prstClr val="black">
                  <a:lumMod val="50000"/>
                  <a:lumOff val="50000"/>
                </a:prstClr>
              </a:buClr>
              <a:buFontTx/>
              <a:buNone/>
            </a:pPr>
            <a:endParaRPr lang="en-AU" sz="2400" dirty="0">
              <a:solidFill>
                <a:prstClr val="black">
                  <a:lumMod val="75000"/>
                  <a:lumOff val="25000"/>
                </a:prstClr>
              </a:solidFill>
            </a:endParaRPr>
          </a:p>
        </p:txBody>
      </p:sp>
    </p:spTree>
    <p:extLst>
      <p:ext uri="{BB962C8B-B14F-4D97-AF65-F5344CB8AC3E}">
        <p14:creationId xmlns:p14="http://schemas.microsoft.com/office/powerpoint/2010/main" val="106993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3" presetClass="emph" presetSubtype="2" fill="hold" nodeType="withEffect">
                                  <p:stCondLst>
                                    <p:cond delay="0"/>
                                  </p:stCondLst>
                                  <p:childTnLst>
                                    <p:animClr clrSpc="rgb" dir="cw">
                                      <p:cBhvr override="childStyle">
                                        <p:cTn id="8" dur="500" fill="hold"/>
                                        <p:tgtEl>
                                          <p:spTgt spid="8">
                                            <p:txEl>
                                              <p:pRg st="0" end="0"/>
                                            </p:txEl>
                                          </p:spTgt>
                                        </p:tgtEl>
                                        <p:attrNameLst>
                                          <p:attrName>style.color</p:attrName>
                                        </p:attrNameLst>
                                      </p:cBhvr>
                                      <p:to>
                                        <a:srgbClr val="0070C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p:nvGraphicFramePr>
        <p:xfrm>
          <a:off x="283114" y="2498630"/>
          <a:ext cx="8433755" cy="2393938"/>
        </p:xfrm>
        <a:graphic>
          <a:graphicData uri="http://schemas.openxmlformats.org/presentationml/2006/ole">
            <mc:AlternateContent xmlns:mc="http://schemas.openxmlformats.org/markup-compatibility/2006">
              <mc:Choice xmlns:v="urn:schemas-microsoft-com:vml" Requires="v">
                <p:oleObj name="Visio" r:id="rId3" imgW="9019431" imgH="2575736" progId="Visio.Drawing.11">
                  <p:embed/>
                </p:oleObj>
              </mc:Choice>
              <mc:Fallback>
                <p:oleObj name="Visio" r:id="rId3" imgW="9019431" imgH="2575736" progId="Visio.Drawing.11">
                  <p:embed/>
                  <p:pic>
                    <p:nvPicPr>
                      <p:cNvPr id="0" name=""/>
                      <p:cNvPicPr>
                        <a:picLocks noChangeAspect="1" noChangeArrowheads="1"/>
                      </p:cNvPicPr>
                      <p:nvPr/>
                    </p:nvPicPr>
                    <p:blipFill>
                      <a:blip r:embed="rId4"/>
                      <a:srcRect/>
                      <a:stretch>
                        <a:fillRect/>
                      </a:stretch>
                    </p:blipFill>
                    <p:spPr bwMode="auto">
                      <a:xfrm>
                        <a:off x="283114" y="2498630"/>
                        <a:ext cx="8433755" cy="2393938"/>
                      </a:xfrm>
                      <a:prstGeom prst="rect">
                        <a:avLst/>
                      </a:prstGeom>
                      <a:noFill/>
                      <a:ln>
                        <a:noFill/>
                      </a:ln>
                      <a:effec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702977664"/>
              </p:ext>
            </p:extLst>
          </p:nvPr>
        </p:nvGraphicFramePr>
        <p:xfrm>
          <a:off x="283114" y="2498630"/>
          <a:ext cx="8518525" cy="2962275"/>
        </p:xfrm>
        <a:graphic>
          <a:graphicData uri="http://schemas.openxmlformats.org/presentationml/2006/ole">
            <mc:AlternateContent xmlns:mc="http://schemas.openxmlformats.org/markup-compatibility/2006">
              <mc:Choice xmlns:v="urn:schemas-microsoft-com:vml" Requires="v">
                <p:oleObj name="Visio" r:id="rId5" imgW="9110584" imgH="3188336" progId="Visio.Drawing.11">
                  <p:embed/>
                </p:oleObj>
              </mc:Choice>
              <mc:Fallback>
                <p:oleObj name="Visio" r:id="rId5" imgW="9110584" imgH="3188336" progId="Visio.Drawing.11">
                  <p:embed/>
                  <p:pic>
                    <p:nvPicPr>
                      <p:cNvPr id="0" name=""/>
                      <p:cNvPicPr>
                        <a:picLocks noChangeAspect="1" noChangeArrowheads="1"/>
                      </p:cNvPicPr>
                      <p:nvPr/>
                    </p:nvPicPr>
                    <p:blipFill>
                      <a:blip r:embed="rId6"/>
                      <a:srcRect/>
                      <a:stretch>
                        <a:fillRect/>
                      </a:stretch>
                    </p:blipFill>
                    <p:spPr bwMode="auto">
                      <a:xfrm>
                        <a:off x="283114" y="2498630"/>
                        <a:ext cx="8518525" cy="2962275"/>
                      </a:xfrm>
                      <a:prstGeom prst="rect">
                        <a:avLst/>
                      </a:prstGeom>
                      <a:noFill/>
                      <a:ln>
                        <a:noFill/>
                      </a:ln>
                      <a:effectLst/>
                    </p:spPr>
                  </p:pic>
                </p:oleObj>
              </mc:Fallback>
            </mc:AlternateContent>
          </a:graphicData>
        </a:graphic>
      </p:graphicFrame>
      <p:sp>
        <p:nvSpPr>
          <p:cNvPr id="990214" name="Rectangle 6"/>
          <p:cNvSpPr>
            <a:spLocks noGrp="1" noChangeArrowheads="1"/>
          </p:cNvSpPr>
          <p:nvPr>
            <p:ph type="title"/>
          </p:nvPr>
        </p:nvSpPr>
        <p:spPr/>
        <p:txBody>
          <a:bodyPr/>
          <a:lstStyle/>
          <a:p>
            <a:r>
              <a:rPr lang="en-AU" dirty="0"/>
              <a:t>Solution</a:t>
            </a:r>
          </a:p>
        </p:txBody>
      </p:sp>
      <p:sp>
        <p:nvSpPr>
          <p:cNvPr id="990220" name="Text Box 12"/>
          <p:cNvSpPr txBox="1">
            <a:spLocks noChangeArrowheads="1"/>
          </p:cNvSpPr>
          <p:nvPr/>
        </p:nvSpPr>
        <p:spPr bwMode="auto">
          <a:xfrm>
            <a:off x="3032648" y="3358357"/>
            <a:ext cx="7826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split</a:t>
            </a:r>
          </a:p>
        </p:txBody>
      </p:sp>
      <p:sp>
        <p:nvSpPr>
          <p:cNvPr id="990221" name="Text Box 13"/>
          <p:cNvSpPr txBox="1">
            <a:spLocks noChangeArrowheads="1"/>
          </p:cNvSpPr>
          <p:nvPr/>
        </p:nvSpPr>
        <p:spPr bwMode="auto">
          <a:xfrm>
            <a:off x="3957497" y="4613597"/>
            <a:ext cx="7826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split</a:t>
            </a:r>
          </a:p>
        </p:txBody>
      </p:sp>
      <p:sp>
        <p:nvSpPr>
          <p:cNvPr id="990222" name="Text Box 14"/>
          <p:cNvSpPr txBox="1">
            <a:spLocks noChangeArrowheads="1"/>
          </p:cNvSpPr>
          <p:nvPr/>
        </p:nvSpPr>
        <p:spPr bwMode="auto">
          <a:xfrm>
            <a:off x="6699612" y="4613597"/>
            <a:ext cx="7826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join</a:t>
            </a:r>
          </a:p>
        </p:txBody>
      </p:sp>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a:t>
            </a:fld>
            <a:endParaRPr lang="en-AU">
              <a:solidFill>
                <a:prstClr val="black">
                  <a:lumMod val="50000"/>
                  <a:lumOff val="50000"/>
                </a:prstClr>
              </a:solidFill>
            </a:endParaRPr>
          </a:p>
        </p:txBody>
      </p:sp>
      <p:sp>
        <p:nvSpPr>
          <p:cNvPr id="9" name="Rectangle 5"/>
          <p:cNvSpPr>
            <a:spLocks noChangeArrowheads="1"/>
          </p:cNvSpPr>
          <p:nvPr/>
        </p:nvSpPr>
        <p:spPr bwMode="auto">
          <a:xfrm>
            <a:off x="467544" y="958761"/>
            <a:ext cx="1953805" cy="461665"/>
          </a:xfrm>
          <a:prstGeom prst="rect">
            <a:avLst/>
          </a:prstGeom>
          <a:noFill/>
          <a:ln w="9525">
            <a:noFill/>
            <a:miter lim="800000"/>
            <a:headEnd/>
            <a:tailEnd/>
          </a:ln>
          <a:effectLst/>
        </p:spPr>
        <p:txBody>
          <a:bodyPr wrap="none">
            <a:spAutoFit/>
          </a:bodyPr>
          <a:lstStyle/>
          <a:p>
            <a:r>
              <a:rPr lang="en-AU" sz="2400" b="1" dirty="0">
                <a:solidFill>
                  <a:prstClr val="black">
                    <a:lumMod val="75000"/>
                    <a:lumOff val="25000"/>
                  </a:prstClr>
                </a:solidFill>
              </a:rPr>
              <a:t>Order-to-cash</a:t>
            </a:r>
          </a:p>
        </p:txBody>
      </p:sp>
    </p:spTree>
    <p:extLst>
      <p:ext uri="{BB962C8B-B14F-4D97-AF65-F5344CB8AC3E}">
        <p14:creationId xmlns:p14="http://schemas.microsoft.com/office/powerpoint/2010/main" val="35246245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xit" presetSubtype="0" fill="hold"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90220"/>
                                        </p:tgtEl>
                                        <p:attrNameLst>
                                          <p:attrName>style.visibility</p:attrName>
                                        </p:attrNameLst>
                                      </p:cBhvr>
                                      <p:to>
                                        <p:strVal val="visible"/>
                                      </p:to>
                                    </p:set>
                                    <p:animEffect transition="in" filter="fade">
                                      <p:cBhvr>
                                        <p:cTn id="15" dur="1000"/>
                                        <p:tgtEl>
                                          <p:spTgt spid="9902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90221"/>
                                        </p:tgtEl>
                                        <p:attrNameLst>
                                          <p:attrName>style.visibility</p:attrName>
                                        </p:attrNameLst>
                                      </p:cBhvr>
                                      <p:to>
                                        <p:strVal val="visible"/>
                                      </p:to>
                                    </p:set>
                                    <p:animEffect transition="in" filter="fade">
                                      <p:cBhvr>
                                        <p:cTn id="18" dur="1000"/>
                                        <p:tgtEl>
                                          <p:spTgt spid="9902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90222"/>
                                        </p:tgtEl>
                                        <p:attrNameLst>
                                          <p:attrName>style.visibility</p:attrName>
                                        </p:attrNameLst>
                                      </p:cBhvr>
                                      <p:to>
                                        <p:strVal val="visible"/>
                                      </p:to>
                                    </p:set>
                                    <p:animEffect transition="in" filter="fade">
                                      <p:cBhvr>
                                        <p:cTn id="21" dur="1000"/>
                                        <p:tgtEl>
                                          <p:spTgt spid="990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0220" grpId="0"/>
      <p:bldP spid="990221" grpId="0"/>
      <p:bldP spid="9902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5" name="Rectangle 3"/>
          <p:cNvSpPr>
            <a:spLocks noGrp="1" noChangeArrowheads="1"/>
          </p:cNvSpPr>
          <p:nvPr>
            <p:ph idx="1"/>
          </p:nvPr>
        </p:nvSpPr>
        <p:spPr>
          <a:xfrm>
            <a:off x="952243" y="3519622"/>
            <a:ext cx="8136904" cy="1992363"/>
          </a:xfrm>
        </p:spPr>
        <p:txBody>
          <a:bodyPr>
            <a:noAutofit/>
          </a:bodyPr>
          <a:lstStyle/>
          <a:p>
            <a:pPr marL="891858" lvl="1" indent="0">
              <a:buNone/>
            </a:pPr>
            <a:r>
              <a:rPr lang="en-AU" sz="2400" i="1" dirty="0"/>
              <a:t>XOR-split</a:t>
            </a:r>
            <a:r>
              <a:rPr lang="en-AU" sz="2400" dirty="0"/>
              <a:t> </a:t>
            </a:r>
            <a:r>
              <a:rPr lang="en-AU" sz="2400" dirty="0">
                <a:sym typeface="Wingdings" pitchFamily="2" charset="2"/>
              </a:rPr>
              <a:t> takes </a:t>
            </a:r>
            <a:r>
              <a:rPr lang="en-AU" sz="2400" b="1" dirty="0">
                <a:sym typeface="Wingdings" pitchFamily="2" charset="2"/>
              </a:rPr>
              <a:t>one</a:t>
            </a:r>
            <a:r>
              <a:rPr lang="en-AU" sz="2400" dirty="0">
                <a:sym typeface="Wingdings" pitchFamily="2" charset="2"/>
              </a:rPr>
              <a:t> outgoing branch</a:t>
            </a:r>
          </a:p>
          <a:p>
            <a:pPr marL="1074738" lvl="1"/>
            <a:endParaRPr lang="en-AU" sz="2400" dirty="0">
              <a:sym typeface="Wingdings" pitchFamily="2" charset="2"/>
            </a:endParaRPr>
          </a:p>
          <a:p>
            <a:pPr marL="1074738" lvl="1"/>
            <a:endParaRPr lang="en-AU" sz="2400" dirty="0">
              <a:sym typeface="Wingdings" pitchFamily="2" charset="2"/>
            </a:endParaRPr>
          </a:p>
          <a:p>
            <a:pPr marL="1074738" lvl="1"/>
            <a:endParaRPr lang="en-AU" sz="2000" dirty="0">
              <a:sym typeface="Wingdings" pitchFamily="2" charset="2"/>
            </a:endParaRPr>
          </a:p>
          <a:p>
            <a:pPr marL="891858" lvl="1" indent="0">
              <a:buNone/>
            </a:pPr>
            <a:r>
              <a:rPr lang="en-AU" sz="2400" i="1" dirty="0">
                <a:sym typeface="Wingdings" pitchFamily="2" charset="2"/>
              </a:rPr>
              <a:t>XOR-join</a:t>
            </a:r>
            <a:r>
              <a:rPr lang="en-AU" sz="2400" dirty="0">
                <a:sym typeface="Wingdings" pitchFamily="2" charset="2"/>
              </a:rPr>
              <a:t>  proceeds when </a:t>
            </a:r>
            <a:r>
              <a:rPr lang="en-AU" sz="2400" b="1" dirty="0">
                <a:sym typeface="Wingdings" pitchFamily="2" charset="2"/>
              </a:rPr>
              <a:t>one</a:t>
            </a:r>
            <a:r>
              <a:rPr lang="en-AU" sz="2400" dirty="0">
                <a:sym typeface="Wingdings" pitchFamily="2" charset="2"/>
              </a:rPr>
              <a:t> incoming branch has completed</a:t>
            </a:r>
          </a:p>
          <a:p>
            <a:pPr marL="1074738" lvl="1">
              <a:buFontTx/>
              <a:buChar char="•"/>
            </a:pPr>
            <a:endParaRPr lang="en-AU" sz="2400" dirty="0">
              <a:sym typeface="Wingdings" pitchFamily="2" charset="2"/>
            </a:endParaRPr>
          </a:p>
        </p:txBody>
      </p:sp>
      <p:sp>
        <p:nvSpPr>
          <p:cNvPr id="1093634" name="Rectangle 2"/>
          <p:cNvSpPr>
            <a:spLocks noGrp="1" noChangeArrowheads="1"/>
          </p:cNvSpPr>
          <p:nvPr>
            <p:ph type="title"/>
          </p:nvPr>
        </p:nvSpPr>
        <p:spPr/>
        <p:txBody>
          <a:bodyPr/>
          <a:lstStyle/>
          <a:p>
            <a:r>
              <a:rPr lang="en-AU" dirty="0"/>
              <a:t>A little more on gateways: XOR Gateway</a:t>
            </a:r>
          </a:p>
        </p:txBody>
      </p:sp>
      <p:graphicFrame>
        <p:nvGraphicFramePr>
          <p:cNvPr id="1093639" name="Object 7"/>
          <p:cNvGraphicFramePr>
            <a:graphicFrameLocks noChangeAspect="1"/>
          </p:cNvGraphicFramePr>
          <p:nvPr/>
        </p:nvGraphicFramePr>
        <p:xfrm>
          <a:off x="90488" y="2898775"/>
          <a:ext cx="1658937" cy="1647825"/>
        </p:xfrm>
        <a:graphic>
          <a:graphicData uri="http://schemas.openxmlformats.org/presentationml/2006/ole">
            <mc:AlternateContent xmlns:mc="http://schemas.openxmlformats.org/markup-compatibility/2006">
              <mc:Choice xmlns:v="urn:schemas-microsoft-com:vml" Requires="v">
                <p:oleObj name="Visio" r:id="rId3" imgW="1058310" imgH="1019436" progId="Visio.Drawing.11">
                  <p:embed/>
                </p:oleObj>
              </mc:Choice>
              <mc:Fallback>
                <p:oleObj name="Visio" r:id="rId3" imgW="1058310" imgH="1019436" progId="Visio.Drawing.11">
                  <p:embed/>
                  <p:pic>
                    <p:nvPicPr>
                      <p:cNvPr id="0" name=""/>
                      <p:cNvPicPr>
                        <a:picLocks noChangeAspect="1" noChangeArrowheads="1"/>
                      </p:cNvPicPr>
                      <p:nvPr/>
                    </p:nvPicPr>
                    <p:blipFill>
                      <a:blip r:embed="rId4"/>
                      <a:srcRect/>
                      <a:stretch>
                        <a:fillRect/>
                      </a:stretch>
                    </p:blipFill>
                    <p:spPr bwMode="auto">
                      <a:xfrm>
                        <a:off x="90488" y="2898775"/>
                        <a:ext cx="1658937" cy="1647825"/>
                      </a:xfrm>
                      <a:prstGeom prst="rect">
                        <a:avLst/>
                      </a:prstGeom>
                      <a:noFill/>
                      <a:ln>
                        <a:noFill/>
                      </a:ln>
                      <a:effec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4</a:t>
            </a:fld>
            <a:endParaRPr lang="en-AU" dirty="0">
              <a:solidFill>
                <a:prstClr val="black">
                  <a:lumMod val="50000"/>
                  <a:lumOff val="50000"/>
                </a:prstClr>
              </a:solidFill>
            </a:endParaRPr>
          </a:p>
        </p:txBody>
      </p:sp>
      <p:graphicFrame>
        <p:nvGraphicFramePr>
          <p:cNvPr id="11" name="Object 6"/>
          <p:cNvGraphicFramePr>
            <a:graphicFrameLocks noChangeAspect="1"/>
          </p:cNvGraphicFramePr>
          <p:nvPr/>
        </p:nvGraphicFramePr>
        <p:xfrm>
          <a:off x="467544" y="1634676"/>
          <a:ext cx="792162" cy="792162"/>
        </p:xfrm>
        <a:graphic>
          <a:graphicData uri="http://schemas.openxmlformats.org/presentationml/2006/ole">
            <mc:AlternateContent xmlns:mc="http://schemas.openxmlformats.org/markup-compatibility/2006">
              <mc:Choice xmlns:v="urn:schemas-microsoft-com:vml" Requires="v">
                <p:oleObj name="Visio" r:id="rId5" imgW="577596" imgH="577596" progId="Visio.Drawing.11">
                  <p:embed/>
                </p:oleObj>
              </mc:Choice>
              <mc:Fallback>
                <p:oleObj name="Visio" r:id="rId5" imgW="577596" imgH="577596"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544" y="1634676"/>
                        <a:ext cx="792162"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Rectangle 16"/>
          <p:cNvSpPr/>
          <p:nvPr/>
        </p:nvSpPr>
        <p:spPr>
          <a:xfrm>
            <a:off x="1173162" y="1604357"/>
            <a:ext cx="7695067" cy="830997"/>
          </a:xfrm>
          <a:prstGeom prst="rect">
            <a:avLst/>
          </a:prstGeom>
        </p:spPr>
        <p:txBody>
          <a:bodyPr wrap="square">
            <a:spAutoFit/>
          </a:bodyPr>
          <a:lstStyle/>
          <a:p>
            <a:pPr marL="228600" lvl="1">
              <a:spcBef>
                <a:spcPct val="20000"/>
              </a:spcBef>
              <a:buClr>
                <a:prstClr val="black">
                  <a:lumMod val="50000"/>
                  <a:lumOff val="50000"/>
                </a:prstClr>
              </a:buClr>
            </a:pPr>
            <a:r>
              <a:rPr lang="en-AU" sz="2400" dirty="0">
                <a:solidFill>
                  <a:prstClr val="black">
                    <a:lumMod val="75000"/>
                    <a:lumOff val="25000"/>
                  </a:prstClr>
                </a:solidFill>
              </a:rPr>
              <a:t>An </a:t>
            </a:r>
            <a:r>
              <a:rPr lang="en-AU" sz="2400" i="1" dirty="0">
                <a:solidFill>
                  <a:prstClr val="black">
                    <a:lumMod val="75000"/>
                    <a:lumOff val="25000"/>
                  </a:prstClr>
                </a:solidFill>
              </a:rPr>
              <a:t>XOR Gateway </a:t>
            </a:r>
            <a:r>
              <a:rPr lang="en-AU" sz="2400" dirty="0">
                <a:solidFill>
                  <a:prstClr val="black">
                    <a:lumMod val="75000"/>
                    <a:lumOff val="25000"/>
                  </a:prstClr>
                </a:solidFill>
              </a:rPr>
              <a:t>captures decision points (XOR-split) and points where alternative flows are merged (XOR-join)</a:t>
            </a:r>
          </a:p>
        </p:txBody>
      </p:sp>
      <p:graphicFrame>
        <p:nvGraphicFramePr>
          <p:cNvPr id="18" name="Object 7"/>
          <p:cNvGraphicFramePr>
            <a:graphicFrameLocks noChangeAspect="1"/>
          </p:cNvGraphicFramePr>
          <p:nvPr/>
        </p:nvGraphicFramePr>
        <p:xfrm>
          <a:off x="196421" y="4789485"/>
          <a:ext cx="1523347" cy="1477446"/>
        </p:xfrm>
        <a:graphic>
          <a:graphicData uri="http://schemas.openxmlformats.org/presentationml/2006/ole">
            <mc:AlternateContent xmlns:mc="http://schemas.openxmlformats.org/markup-compatibility/2006">
              <mc:Choice xmlns:v="urn:schemas-microsoft-com:vml" Requires="v">
                <p:oleObj name="Visio" r:id="rId7" imgW="971640" imgH="914040" progId="Visio.Drawing.11">
                  <p:embed/>
                </p:oleObj>
              </mc:Choice>
              <mc:Fallback>
                <p:oleObj name="Visio" r:id="rId7" imgW="971640" imgH="914040" progId="Visio.Drawing.11">
                  <p:embed/>
                  <p:pic>
                    <p:nvPicPr>
                      <p:cNvPr id="0" name=""/>
                      <p:cNvPicPr>
                        <a:picLocks noChangeAspect="1" noChangeArrowheads="1"/>
                      </p:cNvPicPr>
                      <p:nvPr/>
                    </p:nvPicPr>
                    <p:blipFill>
                      <a:blip r:embed="rId8"/>
                      <a:srcRect/>
                      <a:stretch>
                        <a:fillRect/>
                      </a:stretch>
                    </p:blipFill>
                    <p:spPr bwMode="auto">
                      <a:xfrm>
                        <a:off x="196421" y="4789485"/>
                        <a:ext cx="1523347" cy="1477446"/>
                      </a:xfrm>
                      <a:prstGeom prst="rect">
                        <a:avLst/>
                      </a:prstGeom>
                      <a:noFill/>
                      <a:ln>
                        <a:noFill/>
                      </a:ln>
                      <a:effectLst/>
                    </p:spPr>
                  </p:pic>
                </p:oleObj>
              </mc:Fallback>
            </mc:AlternateContent>
          </a:graphicData>
        </a:graphic>
      </p:graphicFrame>
      <p:sp>
        <p:nvSpPr>
          <p:cNvPr id="9" name="Oval 8"/>
          <p:cNvSpPr/>
          <p:nvPr/>
        </p:nvSpPr>
        <p:spPr>
          <a:xfrm>
            <a:off x="196421" y="3722687"/>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0" name="Oval 9"/>
          <p:cNvSpPr/>
          <p:nvPr/>
        </p:nvSpPr>
        <p:spPr>
          <a:xfrm>
            <a:off x="441636" y="478948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Tree>
    <p:extLst>
      <p:ext uri="{BB962C8B-B14F-4D97-AF65-F5344CB8AC3E}">
        <p14:creationId xmlns:p14="http://schemas.microsoft.com/office/powerpoint/2010/main" val="38980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63" presetClass="path" presetSubtype="0" accel="50000" fill="hold" grpId="5" nodeType="afterEffect">
                                  <p:stCondLst>
                                    <p:cond delay="0"/>
                                  </p:stCondLst>
                                  <p:childTnLst>
                                    <p:animMotion origin="layout" path="M -2.77778E-6 -1.11111E-6 L 0.05729 -0.00092 " pathEditMode="relative" rAng="0" ptsTypes="AA">
                                      <p:cBhvr>
                                        <p:cTn id="10" dur="1000" fill="hold"/>
                                        <p:tgtEl>
                                          <p:spTgt spid="9"/>
                                        </p:tgtEl>
                                        <p:attrNameLst>
                                          <p:attrName>ppt_x</p:attrName>
                                          <p:attrName>ppt_y</p:attrName>
                                        </p:attrNameLst>
                                      </p:cBhvr>
                                      <p:rCtr x="2795" y="-46"/>
                                    </p:animMotion>
                                  </p:childTnLst>
                                </p:cTn>
                              </p:par>
                            </p:childTnLst>
                          </p:cTn>
                        </p:par>
                        <p:par>
                          <p:cTn id="11" fill="hold">
                            <p:stCondLst>
                              <p:cond delay="1500"/>
                            </p:stCondLst>
                            <p:childTnLst>
                              <p:par>
                                <p:cTn id="12" presetID="50" presetClass="path" presetSubtype="0" decel="33000" fill="hold" grpId="1" nodeType="afterEffect">
                                  <p:stCondLst>
                                    <p:cond delay="0"/>
                                  </p:stCondLst>
                                  <p:childTnLst>
                                    <p:animMotion origin="layout" path="M 0.05729 -0.00092 L 0.05973 -0.00092 C 0.06077 -0.00092 0.06233 -0.02616 0.06233 -0.04676 L 0.06233 -0.09259 " pathEditMode="relative" rAng="0" ptsTypes="AAAA">
                                      <p:cBhvr>
                                        <p:cTn id="13" dur="1500" fill="hold"/>
                                        <p:tgtEl>
                                          <p:spTgt spid="9"/>
                                        </p:tgtEl>
                                        <p:attrNameLst>
                                          <p:attrName>ppt_x</p:attrName>
                                          <p:attrName>ppt_y</p:attrName>
                                        </p:attrNameLst>
                                      </p:cBhvr>
                                      <p:rCtr x="243" y="-4583"/>
                                    </p:animMotion>
                                  </p:childTnLst>
                                </p:cTn>
                              </p:par>
                            </p:childTnLst>
                          </p:cTn>
                        </p:par>
                        <p:par>
                          <p:cTn id="14" fill="hold">
                            <p:stCondLst>
                              <p:cond delay="3000"/>
                            </p:stCondLst>
                            <p:childTnLst>
                              <p:par>
                                <p:cTn id="15" presetID="63" presetClass="path" presetSubtype="0" accel="50000" fill="hold" grpId="2" nodeType="afterEffect">
                                  <p:stCondLst>
                                    <p:cond delay="0"/>
                                  </p:stCondLst>
                                  <p:childTnLst>
                                    <p:animMotion origin="layout" path="M -2.77778E-6 -1.11111E-6 L 0.05729 -0.00092 " pathEditMode="relative" rAng="0" ptsTypes="AA">
                                      <p:cBhvr>
                                        <p:cTn id="16" dur="1000" fill="hold"/>
                                        <p:tgtEl>
                                          <p:spTgt spid="9"/>
                                        </p:tgtEl>
                                        <p:attrNameLst>
                                          <p:attrName>ppt_x</p:attrName>
                                          <p:attrName>ppt_y</p:attrName>
                                        </p:attrNameLst>
                                      </p:cBhvr>
                                      <p:rCtr x="2865" y="-46"/>
                                    </p:animMotion>
                                  </p:childTnLst>
                                </p:cTn>
                              </p:par>
                            </p:childTnLst>
                          </p:cTn>
                        </p:par>
                        <p:par>
                          <p:cTn id="17" fill="hold">
                            <p:stCondLst>
                              <p:cond delay="4000"/>
                            </p:stCondLst>
                            <p:childTnLst>
                              <p:par>
                                <p:cTn id="18" presetID="50" presetClass="path" presetSubtype="0" decel="33000" fill="hold" grpId="4" nodeType="afterEffect">
                                  <p:stCondLst>
                                    <p:cond delay="0"/>
                                  </p:stCondLst>
                                  <p:childTnLst>
                                    <p:animMotion origin="layout" path="M 0.05729 -0.00092 L 0.05955 -0.00092 C 0.06077 -0.00092 0.06233 0.02477 0.06233 0.04583 L 0.06233 0.09213 " pathEditMode="relative" rAng="0" ptsTypes="AAAA">
                                      <p:cBhvr>
                                        <p:cTn id="19" dur="1500" fill="hold"/>
                                        <p:tgtEl>
                                          <p:spTgt spid="9"/>
                                        </p:tgtEl>
                                        <p:attrNameLst>
                                          <p:attrName>ppt_x</p:attrName>
                                          <p:attrName>ppt_y</p:attrName>
                                        </p:attrNameLst>
                                      </p:cBhvr>
                                      <p:rCtr x="243" y="4653"/>
                                    </p:animMotion>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grpId="3" nodeType="clickEffect">
                                  <p:stCondLst>
                                    <p:cond delay="0"/>
                                  </p:stCondLst>
                                  <p:childTnLst>
                                    <p:animEffect transition="out" filter="fad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29" fill="hold">
                            <p:stCondLst>
                              <p:cond delay="1000"/>
                            </p:stCondLst>
                            <p:childTnLst>
                              <p:par>
                                <p:cTn id="30" presetID="63" presetClass="path" presetSubtype="0" accel="50000" fill="hold" grpId="2" nodeType="afterEffect">
                                  <p:stCondLst>
                                    <p:cond delay="0"/>
                                  </p:stCondLst>
                                  <p:childTnLst>
                                    <p:animMotion origin="layout" path="M 1.11111E-6 3.33333E-6 L 0.04114 -3.7037E-6 " pathEditMode="relative" rAng="0" ptsTypes="AA">
                                      <p:cBhvr>
                                        <p:cTn id="31" dur="1000" fill="hold"/>
                                        <p:tgtEl>
                                          <p:spTgt spid="10"/>
                                        </p:tgtEl>
                                        <p:attrNameLst>
                                          <p:attrName>ppt_x</p:attrName>
                                          <p:attrName>ppt_y</p:attrName>
                                        </p:attrNameLst>
                                      </p:cBhvr>
                                      <p:rCtr x="2049" y="-23"/>
                                    </p:animMotion>
                                  </p:childTnLst>
                                </p:cTn>
                              </p:par>
                            </p:childTnLst>
                          </p:cTn>
                        </p:par>
                        <p:par>
                          <p:cTn id="32" fill="hold">
                            <p:stCondLst>
                              <p:cond delay="2000"/>
                            </p:stCondLst>
                            <p:childTnLst>
                              <p:par>
                                <p:cTn id="33" presetID="50" presetClass="path" presetSubtype="0" fill="hold" grpId="3" nodeType="afterEffect">
                                  <p:stCondLst>
                                    <p:cond delay="0"/>
                                  </p:stCondLst>
                                  <p:childTnLst>
                                    <p:animMotion origin="layout" path="M 0.04114 3.33333E-6 L 0.04358 3.33333E-6 C 0.04479 3.33333E-6 0.04653 0.02569 0.04653 0.04676 L 0.04653 0.09352 " pathEditMode="relative" rAng="0" ptsTypes="AAAA">
                                      <p:cBhvr>
                                        <p:cTn id="34" dur="1000" fill="hold"/>
                                        <p:tgtEl>
                                          <p:spTgt spid="10"/>
                                        </p:tgtEl>
                                        <p:attrNameLst>
                                          <p:attrName>ppt_x</p:attrName>
                                          <p:attrName>ppt_y</p:attrName>
                                        </p:attrNameLst>
                                      </p:cBhvr>
                                      <p:rCtr x="260" y="4676"/>
                                    </p:animMotion>
                                  </p:childTnLst>
                                </p:cTn>
                              </p:par>
                            </p:childTnLst>
                          </p:cTn>
                        </p:par>
                        <p:par>
                          <p:cTn id="35" fill="hold">
                            <p:stCondLst>
                              <p:cond delay="3000"/>
                            </p:stCondLst>
                            <p:childTnLst>
                              <p:par>
                                <p:cTn id="36" presetID="42" presetClass="path" presetSubtype="0" decel="50000" fill="hold" grpId="6" nodeType="afterEffect">
                                  <p:stCondLst>
                                    <p:cond delay="0"/>
                                  </p:stCondLst>
                                  <p:childTnLst>
                                    <p:animMotion origin="layout" path="M 0.04705 0.09421 L 0.0908 0.09328 " pathEditMode="relative" rAng="0" ptsTypes="AA">
                                      <p:cBhvr>
                                        <p:cTn id="37" dur="750" fill="hold"/>
                                        <p:tgtEl>
                                          <p:spTgt spid="10"/>
                                        </p:tgtEl>
                                        <p:attrNameLst>
                                          <p:attrName>ppt_x</p:attrName>
                                          <p:attrName>ppt_y</p:attrName>
                                        </p:attrNameLst>
                                      </p:cBhvr>
                                      <p:rCtr x="2187" y="-46"/>
                                    </p:animMotion>
                                  </p:childTnLst>
                                </p:cTn>
                              </p:par>
                            </p:childTnLst>
                          </p:cTn>
                        </p:par>
                        <p:par>
                          <p:cTn id="38" fill="hold">
                            <p:stCondLst>
                              <p:cond delay="3750"/>
                            </p:stCondLst>
                            <p:childTnLst>
                              <p:par>
                                <p:cTn id="39" presetID="63" presetClass="path" presetSubtype="0" accel="50000" fill="hold" grpId="4" nodeType="afterEffect">
                                  <p:stCondLst>
                                    <p:cond delay="0"/>
                                  </p:stCondLst>
                                  <p:childTnLst>
                                    <p:animMotion origin="layout" path="M 0.00208 0.18426 L 0.03628 0.18588 " pathEditMode="relative" rAng="0" ptsTypes="AA">
                                      <p:cBhvr>
                                        <p:cTn id="40" dur="1000" fill="hold"/>
                                        <p:tgtEl>
                                          <p:spTgt spid="10"/>
                                        </p:tgtEl>
                                        <p:attrNameLst>
                                          <p:attrName>ppt_x</p:attrName>
                                          <p:attrName>ppt_y</p:attrName>
                                        </p:attrNameLst>
                                      </p:cBhvr>
                                      <p:rCtr x="1701" y="69"/>
                                    </p:animMotion>
                                  </p:childTnLst>
                                </p:cTn>
                              </p:par>
                            </p:childTnLst>
                          </p:cTn>
                        </p:par>
                        <p:par>
                          <p:cTn id="41" fill="hold">
                            <p:stCondLst>
                              <p:cond delay="4750"/>
                            </p:stCondLst>
                            <p:childTnLst>
                              <p:par>
                                <p:cTn id="42" presetID="50" presetClass="path" presetSubtype="0" fill="hold" grpId="1" nodeType="afterEffect">
                                  <p:stCondLst>
                                    <p:cond delay="0"/>
                                  </p:stCondLst>
                                  <p:childTnLst>
                                    <p:animMotion origin="layout" path="M 0.04201 0.18588 L 0.04444 0.18588 C 0.04549 0.18588 0.04705 0.16064 0.04705 0.14004 L 0.04705 0.09421 " pathEditMode="relative" rAng="0" ptsTypes="AAAA">
                                      <p:cBhvr>
                                        <p:cTn id="43" dur="1000" fill="hold"/>
                                        <p:tgtEl>
                                          <p:spTgt spid="10"/>
                                        </p:tgtEl>
                                        <p:attrNameLst>
                                          <p:attrName>ppt_x</p:attrName>
                                          <p:attrName>ppt_y</p:attrName>
                                        </p:attrNameLst>
                                      </p:cBhvr>
                                      <p:rCtr x="243" y="-4583"/>
                                    </p:animMotion>
                                  </p:childTnLst>
                                </p:cTn>
                              </p:par>
                            </p:childTnLst>
                          </p:cTn>
                        </p:par>
                        <p:par>
                          <p:cTn id="44" fill="hold">
                            <p:stCondLst>
                              <p:cond delay="5750"/>
                            </p:stCondLst>
                            <p:childTnLst>
                              <p:par>
                                <p:cTn id="45" presetID="63" presetClass="path" presetSubtype="0" decel="50000" fill="hold" grpId="5" nodeType="afterEffect">
                                  <p:stCondLst>
                                    <p:cond delay="0"/>
                                  </p:stCondLst>
                                  <p:childTnLst>
                                    <p:animMotion origin="layout" path="M 0.04705 0.09421 L 0.09566 0.09421 " pathEditMode="relative" rAng="0" ptsTypes="AA">
                                      <p:cBhvr>
                                        <p:cTn id="46" dur="750" fill="hold"/>
                                        <p:tgtEl>
                                          <p:spTgt spid="10"/>
                                        </p:tgtEl>
                                        <p:attrNameLst>
                                          <p:attrName>ppt_x</p:attrName>
                                          <p:attrName>ppt_y</p:attrName>
                                        </p:attrNameLst>
                                      </p:cBhvr>
                                      <p:rCtr x="243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P spid="9" grpId="4" animBg="1"/>
      <p:bldP spid="9" grpId="5" animBg="1"/>
      <p:bldP spid="10" grpId="0" animBg="1"/>
      <p:bldP spid="10" grpId="1" animBg="1"/>
      <p:bldP spid="10" grpId="2" animBg="1"/>
      <p:bldP spid="10" grpId="3" animBg="1"/>
      <p:bldP spid="10" grpId="4" animBg="1"/>
      <p:bldP spid="10" grpId="5" animBg="1"/>
      <p:bldP spid="10" grpId="6"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r="243" b="459"/>
          <a:stretch/>
        </p:blipFill>
        <p:spPr>
          <a:xfrm>
            <a:off x="182371" y="1887860"/>
            <a:ext cx="8400011" cy="3424921"/>
          </a:xfrm>
        </p:spPr>
      </p:pic>
      <p:sp>
        <p:nvSpPr>
          <p:cNvPr id="3" name="Title 2"/>
          <p:cNvSpPr>
            <a:spLocks noGrp="1"/>
          </p:cNvSpPr>
          <p:nvPr>
            <p:ph type="title"/>
          </p:nvPr>
        </p:nvSpPr>
        <p:spPr/>
        <p:txBody>
          <a:bodyPr/>
          <a:lstStyle/>
          <a:p>
            <a:r>
              <a:rPr lang="en-AU" dirty="0"/>
              <a:t>Example: XOR Gateway</a:t>
            </a:r>
          </a:p>
        </p:txBody>
      </p:sp>
      <p:sp>
        <p:nvSpPr>
          <p:cNvPr id="6" name="Slide Number Placeholder 1"/>
          <p:cNvSpPr>
            <a:spLocks noGrp="1"/>
          </p:cNvSpPr>
          <p:nvPr>
            <p:ph type="sldNum" sz="quarter" idx="11"/>
          </p:nvPr>
        </p:nvSpPr>
        <p:spPr>
          <a:xfrm>
            <a:off x="8246751" y="6625771"/>
            <a:ext cx="533400" cy="152400"/>
          </a:xfrm>
        </p:spPr>
        <p:txBody>
          <a:bodyPr/>
          <a:lstStyle/>
          <a:p>
            <a:r>
              <a:rPr lang="en-AU" dirty="0">
                <a:solidFill>
                  <a:prstClr val="black">
                    <a:lumMod val="50000"/>
                    <a:lumOff val="50000"/>
                  </a:prstClr>
                </a:solidFill>
              </a:rPr>
              <a:t>5</a:t>
            </a:r>
          </a:p>
        </p:txBody>
      </p:sp>
      <p:sp>
        <p:nvSpPr>
          <p:cNvPr id="7" name="Oval 6"/>
          <p:cNvSpPr/>
          <p:nvPr/>
        </p:nvSpPr>
        <p:spPr>
          <a:xfrm>
            <a:off x="371439" y="344506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2" name="Rounded Rectangle 1"/>
          <p:cNvSpPr/>
          <p:nvPr/>
        </p:nvSpPr>
        <p:spPr>
          <a:xfrm>
            <a:off x="4360984" y="1893271"/>
            <a:ext cx="1022613" cy="83910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solidFill>
                <a:prstClr val="black"/>
              </a:solidFill>
            </a:endParaRPr>
          </a:p>
        </p:txBody>
      </p:sp>
      <p:sp>
        <p:nvSpPr>
          <p:cNvPr id="10" name="Oval 9"/>
          <p:cNvSpPr/>
          <p:nvPr/>
        </p:nvSpPr>
        <p:spPr>
          <a:xfrm>
            <a:off x="5972364" y="2224287"/>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1" name="Rounded Rectangle 10"/>
          <p:cNvSpPr/>
          <p:nvPr/>
        </p:nvSpPr>
        <p:spPr>
          <a:xfrm>
            <a:off x="4360983" y="3108641"/>
            <a:ext cx="1022613" cy="83910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AU">
              <a:solidFill>
                <a:prstClr val="black"/>
              </a:solidFill>
            </a:endParaRPr>
          </a:p>
        </p:txBody>
      </p:sp>
      <p:sp>
        <p:nvSpPr>
          <p:cNvPr id="12" name="Oval 11"/>
          <p:cNvSpPr/>
          <p:nvPr/>
        </p:nvSpPr>
        <p:spPr>
          <a:xfrm>
            <a:off x="5610752" y="344506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3" name="Rectangle 5"/>
          <p:cNvSpPr>
            <a:spLocks noChangeArrowheads="1"/>
          </p:cNvSpPr>
          <p:nvPr/>
        </p:nvSpPr>
        <p:spPr bwMode="auto">
          <a:xfrm>
            <a:off x="467544" y="958761"/>
            <a:ext cx="4526487" cy="461665"/>
          </a:xfrm>
          <a:prstGeom prst="rect">
            <a:avLst/>
          </a:prstGeom>
          <a:noFill/>
          <a:ln w="9525">
            <a:noFill/>
            <a:miter lim="800000"/>
            <a:headEnd/>
            <a:tailEnd/>
          </a:ln>
          <a:effectLst/>
        </p:spPr>
        <p:txBody>
          <a:bodyPr wrap="square">
            <a:spAutoFit/>
          </a:bodyPr>
          <a:lstStyle/>
          <a:p>
            <a:r>
              <a:rPr lang="en-AU" sz="2400" b="1" dirty="0">
                <a:solidFill>
                  <a:prstClr val="black">
                    <a:lumMod val="75000"/>
                    <a:lumOff val="25000"/>
                  </a:prstClr>
                </a:solidFill>
              </a:rPr>
              <a:t>Invoice checking process</a:t>
            </a:r>
          </a:p>
        </p:txBody>
      </p:sp>
    </p:spTree>
    <p:extLst>
      <p:ext uri="{BB962C8B-B14F-4D97-AF65-F5344CB8AC3E}">
        <p14:creationId xmlns:p14="http://schemas.microsoft.com/office/powerpoint/2010/main" val="38938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6.93889E-18 -1.85185E-6 L 0.21736 -0.00069 " pathEditMode="relative" rAng="0" ptsTypes="AA">
                                      <p:cBhvr>
                                        <p:cTn id="13" dur="2000" fill="hold"/>
                                        <p:tgtEl>
                                          <p:spTgt spid="7"/>
                                        </p:tgtEl>
                                        <p:attrNameLst>
                                          <p:attrName>ppt_x</p:attrName>
                                          <p:attrName>ppt_y</p:attrName>
                                        </p:attrNameLst>
                                      </p:cBhvr>
                                      <p:rCtr x="10868" y="-46"/>
                                    </p:animMotion>
                                  </p:childTnLst>
                                </p:cTn>
                              </p:par>
                            </p:childTnLst>
                          </p:cTn>
                        </p:par>
                      </p:childTnLst>
                    </p:cTn>
                  </p:par>
                  <p:par>
                    <p:cTn id="14" fill="hold">
                      <p:stCondLst>
                        <p:cond delay="indefinite"/>
                      </p:stCondLst>
                      <p:childTnLst>
                        <p:par>
                          <p:cTn id="15" fill="hold">
                            <p:stCondLst>
                              <p:cond delay="0"/>
                            </p:stCondLst>
                            <p:childTnLst>
                              <p:par>
                                <p:cTn id="16" presetID="50" presetClass="path" presetSubtype="0" accel="50000" fill="hold" grpId="10" nodeType="clickEffect">
                                  <p:stCondLst>
                                    <p:cond delay="0"/>
                                  </p:stCondLst>
                                  <p:childTnLst>
                                    <p:animMotion origin="layout" path="M 0.21736 -0.00069 L 0.23142 -0.00069 C 0.23767 -0.00069 0.24583 -0.04954 0.24583 -0.08912 L 0.24583 -0.17731 " pathEditMode="relative" rAng="0" ptsTypes="AAAA">
                                      <p:cBhvr>
                                        <p:cTn id="17" dur="1500" fill="hold"/>
                                        <p:tgtEl>
                                          <p:spTgt spid="7"/>
                                        </p:tgtEl>
                                        <p:attrNameLst>
                                          <p:attrName>ppt_x</p:attrName>
                                          <p:attrName>ppt_y</p:attrName>
                                        </p:attrNameLst>
                                      </p:cBhvr>
                                      <p:rCtr x="1424" y="-8843"/>
                                    </p:animMotion>
                                  </p:childTnLst>
                                </p:cTn>
                              </p:par>
                            </p:childTnLst>
                          </p:cTn>
                        </p:par>
                        <p:par>
                          <p:cTn id="18" fill="hold">
                            <p:stCondLst>
                              <p:cond delay="1500"/>
                            </p:stCondLst>
                            <p:childTnLst>
                              <p:par>
                                <p:cTn id="19" presetID="63" presetClass="path" presetSubtype="0" decel="50000" fill="hold" grpId="11" nodeType="afterEffect">
                                  <p:stCondLst>
                                    <p:cond delay="0"/>
                                  </p:stCondLst>
                                  <p:childTnLst>
                                    <p:animMotion origin="layout" path="M 0.24583 -0.17731 L 0.35243 -0.17662 " pathEditMode="relative" rAng="0" ptsTypes="AA">
                                      <p:cBhvr>
                                        <p:cTn id="20" dur="1500" fill="hold"/>
                                        <p:tgtEl>
                                          <p:spTgt spid="7"/>
                                        </p:tgtEl>
                                        <p:attrNameLst>
                                          <p:attrName>ppt_x</p:attrName>
                                          <p:attrName>ppt_y</p:attrName>
                                        </p:attrNameLst>
                                      </p:cBhvr>
                                      <p:rCtr x="5330" y="23"/>
                                    </p:animMotion>
                                  </p:childTnLst>
                                </p:cTn>
                              </p:par>
                            </p:childTnLst>
                          </p:cTn>
                        </p:par>
                      </p:childTnLst>
                    </p:cTn>
                  </p:par>
                  <p:par>
                    <p:cTn id="21" fill="hold">
                      <p:stCondLst>
                        <p:cond delay="indefinite"/>
                      </p:stCondLst>
                      <p:childTnLst>
                        <p:par>
                          <p:cTn id="22" fill="hold">
                            <p:stCondLst>
                              <p:cond delay="0"/>
                            </p:stCondLst>
                            <p:childTnLst>
                              <p:par>
                                <p:cTn id="23" presetID="63" presetClass="path" presetSubtype="0" accel="50000" decel="50000" fill="hold" grpId="12" nodeType="clickEffect">
                                  <p:stCondLst>
                                    <p:cond delay="0"/>
                                  </p:stCondLst>
                                  <p:childTnLst>
                                    <p:animMotion origin="layout" path="M 0.35243 -0.17662 L 0.61389 -0.17986 " pathEditMode="relative" rAng="0" ptsTypes="AA">
                                      <p:cBhvr>
                                        <p:cTn id="24" dur="1500" fill="hold"/>
                                        <p:tgtEl>
                                          <p:spTgt spid="7"/>
                                        </p:tgtEl>
                                        <p:attrNameLst>
                                          <p:attrName>ppt_x</p:attrName>
                                          <p:attrName>ppt_y</p:attrName>
                                        </p:attrNameLst>
                                      </p:cBhvr>
                                      <p:rCtr x="13281" y="-116"/>
                                    </p:animMotion>
                                  </p:childTnLst>
                                </p:cTn>
                              </p:par>
                            </p:childTnLst>
                          </p:cTn>
                        </p:par>
                      </p:childTnLst>
                    </p:cTn>
                  </p:par>
                  <p:par>
                    <p:cTn id="25" fill="hold">
                      <p:stCondLst>
                        <p:cond delay="indefinite"/>
                      </p:stCondLst>
                      <p:childTnLst>
                        <p:par>
                          <p:cTn id="26" fill="hold">
                            <p:stCondLst>
                              <p:cond delay="0"/>
                            </p:stCondLst>
                            <p:childTnLst>
                              <p:par>
                                <p:cTn id="27" presetID="63" presetClass="path" presetSubtype="0" accel="50000" decel="50000" fill="hold" grpId="3" nodeType="clickEffect">
                                  <p:stCondLst>
                                    <p:cond delay="0"/>
                                  </p:stCondLst>
                                  <p:childTnLst>
                                    <p:animMotion origin="layout" path="M 0.21215 -0.00069 L 0.35851 -0.00023 " pathEditMode="relative" rAng="0" ptsTypes="AA">
                                      <p:cBhvr>
                                        <p:cTn id="28" dur="2000" fill="hold"/>
                                        <p:tgtEl>
                                          <p:spTgt spid="7"/>
                                        </p:tgtEl>
                                        <p:attrNameLst>
                                          <p:attrName>ppt_x</p:attrName>
                                          <p:attrName>ppt_y</p:attrName>
                                        </p:attrNameLst>
                                      </p:cBhvr>
                                      <p:rCtr x="7309" y="23"/>
                                    </p:animMotion>
                                  </p:childTnLst>
                                </p:cTn>
                              </p:par>
                            </p:childTnLst>
                          </p:cTn>
                        </p:par>
                      </p:childTnLst>
                    </p:cTn>
                  </p:par>
                  <p:par>
                    <p:cTn id="29" fill="hold">
                      <p:stCondLst>
                        <p:cond delay="indefinite"/>
                      </p:stCondLst>
                      <p:childTnLst>
                        <p:par>
                          <p:cTn id="30" fill="hold">
                            <p:stCondLst>
                              <p:cond delay="0"/>
                            </p:stCondLst>
                            <p:childTnLst>
                              <p:par>
                                <p:cTn id="31" presetID="42" presetClass="path" presetSubtype="0" decel="50000" fill="hold" grpId="5" nodeType="clickEffect">
                                  <p:stCondLst>
                                    <p:cond delay="0"/>
                                  </p:stCondLst>
                                  <p:childTnLst>
                                    <p:animMotion origin="layout" path="M 0.35851 -0.00023 L 0.57396 -0.00092 " pathEditMode="relative" rAng="0" ptsTypes="AA">
                                      <p:cBhvr>
                                        <p:cTn id="32" dur="2000" fill="hold"/>
                                        <p:tgtEl>
                                          <p:spTgt spid="7"/>
                                        </p:tgtEl>
                                        <p:attrNameLst>
                                          <p:attrName>ppt_x</p:attrName>
                                          <p:attrName>ppt_y</p:attrName>
                                        </p:attrNameLst>
                                      </p:cBhvr>
                                      <p:rCtr x="10764" y="-46"/>
                                    </p:animMotion>
                                  </p:childTnLst>
                                </p:cTn>
                              </p:par>
                            </p:childTnLst>
                          </p:cTn>
                        </p:par>
                      </p:childTnLst>
                    </p:cTn>
                  </p:par>
                  <p:par>
                    <p:cTn id="33" fill="hold">
                      <p:stCondLst>
                        <p:cond delay="indefinite"/>
                      </p:stCondLst>
                      <p:childTnLst>
                        <p:par>
                          <p:cTn id="34" fill="hold">
                            <p:stCondLst>
                              <p:cond delay="0"/>
                            </p:stCondLst>
                            <p:childTnLst>
                              <p:par>
                                <p:cTn id="35" presetID="50" presetClass="path" presetSubtype="0" accel="50000" fill="hold" grpId="2" nodeType="clickEffect">
                                  <p:stCondLst>
                                    <p:cond delay="0"/>
                                  </p:stCondLst>
                                  <p:childTnLst>
                                    <p:animMotion origin="layout" path="M 0.21736 -0.00069 L 0.23125 -0.00069 C 0.23767 -0.00069 0.24566 0.05347 0.24566 0.09792 L 0.24566 0.19722 " pathEditMode="relative" rAng="0" ptsTypes="AAAA">
                                      <p:cBhvr>
                                        <p:cTn id="36" dur="1500" fill="hold"/>
                                        <p:tgtEl>
                                          <p:spTgt spid="7"/>
                                        </p:tgtEl>
                                        <p:attrNameLst>
                                          <p:attrName>ppt_x</p:attrName>
                                          <p:attrName>ppt_y</p:attrName>
                                        </p:attrNameLst>
                                      </p:cBhvr>
                                      <p:rCtr x="1406" y="9884"/>
                                    </p:animMotion>
                                  </p:childTnLst>
                                </p:cTn>
                              </p:par>
                            </p:childTnLst>
                          </p:cTn>
                        </p:par>
                        <p:par>
                          <p:cTn id="37" fill="hold">
                            <p:stCondLst>
                              <p:cond delay="1500"/>
                            </p:stCondLst>
                            <p:childTnLst>
                              <p:par>
                                <p:cTn id="38" presetID="63" presetClass="path" presetSubtype="0" decel="50000" fill="hold" grpId="7" nodeType="afterEffect">
                                  <p:stCondLst>
                                    <p:cond delay="0"/>
                                  </p:stCondLst>
                                  <p:childTnLst>
                                    <p:animMotion origin="layout" path="M 0.24566 0.19722 L 0.35955 0.2 " pathEditMode="fixed" rAng="0" ptsTypes="AA">
                                      <p:cBhvr>
                                        <p:cTn id="39" dur="1500" fill="hold"/>
                                        <p:tgtEl>
                                          <p:spTgt spid="7"/>
                                        </p:tgtEl>
                                        <p:attrNameLst>
                                          <p:attrName>ppt_x</p:attrName>
                                          <p:attrName>ppt_y</p:attrName>
                                        </p:attrNameLst>
                                      </p:cBhvr>
                                      <p:rCtr x="5694" y="139"/>
                                    </p:animMotion>
                                  </p:childTnLst>
                                </p:cTn>
                              </p:par>
                            </p:childTnLst>
                          </p:cTn>
                        </p:par>
                      </p:childTnLst>
                    </p:cTn>
                  </p:par>
                  <p:par>
                    <p:cTn id="40" fill="hold">
                      <p:stCondLst>
                        <p:cond delay="indefinite"/>
                      </p:stCondLst>
                      <p:childTnLst>
                        <p:par>
                          <p:cTn id="41" fill="hold">
                            <p:stCondLst>
                              <p:cond delay="0"/>
                            </p:stCondLst>
                            <p:childTnLst>
                              <p:par>
                                <p:cTn id="42" presetID="63" presetClass="path" presetSubtype="0" accel="50000" decel="50000" fill="hold" grpId="8" nodeType="clickEffect">
                                  <p:stCondLst>
                                    <p:cond delay="0"/>
                                  </p:stCondLst>
                                  <p:childTnLst>
                                    <p:animMotion origin="layout" path="M 0.35955 0.2 L 0.61198 0.19722 " pathEditMode="relative" rAng="0" ptsTypes="AA">
                                      <p:cBhvr>
                                        <p:cTn id="43" dur="2000" fill="hold"/>
                                        <p:tgtEl>
                                          <p:spTgt spid="7"/>
                                        </p:tgtEl>
                                        <p:attrNameLst>
                                          <p:attrName>ppt_x</p:attrName>
                                          <p:attrName>ppt_y</p:attrName>
                                        </p:attrNameLst>
                                      </p:cBhvr>
                                      <p:rCtr x="12622" y="-139"/>
                                    </p:animMotion>
                                  </p:childTnLst>
                                </p:cTn>
                              </p:par>
                            </p:childTnLst>
                          </p:cTn>
                        </p:par>
                      </p:childTnLst>
                    </p:cTn>
                  </p:par>
                  <p:par>
                    <p:cTn id="44" fill="hold">
                      <p:stCondLst>
                        <p:cond delay="indefinite"/>
                      </p:stCondLst>
                      <p:childTnLst>
                        <p:par>
                          <p:cTn id="45" fill="hold">
                            <p:stCondLst>
                              <p:cond delay="0"/>
                            </p:stCondLst>
                            <p:childTnLst>
                              <p:par>
                                <p:cTn id="46" presetID="50" presetClass="path" presetSubtype="0" accel="50000" fill="hold" grpId="4" nodeType="clickEffect">
                                  <p:stCondLst>
                                    <p:cond delay="0"/>
                                  </p:stCondLst>
                                  <p:childTnLst>
                                    <p:animMotion origin="layout" path="M 0.61198 0.19792 L 0.62274 0.19792 C 0.6276 0.19792 0.63385 0.13565 0.63385 0.09514 L 0.63385 0.00046 " pathEditMode="relative" rAng="0" ptsTypes="AAAA">
                                      <p:cBhvr>
                                        <p:cTn id="47" dur="1250" fill="hold"/>
                                        <p:tgtEl>
                                          <p:spTgt spid="7"/>
                                        </p:tgtEl>
                                        <p:attrNameLst>
                                          <p:attrName>ppt_x</p:attrName>
                                          <p:attrName>ppt_y</p:attrName>
                                        </p:attrNameLst>
                                      </p:cBhvr>
                                      <p:rCtr x="1094" y="-9884"/>
                                    </p:animMotion>
                                  </p:childTnLst>
                                </p:cTn>
                              </p:par>
                            </p:childTnLst>
                          </p:cTn>
                        </p:par>
                        <p:par>
                          <p:cTn id="48" fill="hold">
                            <p:stCondLst>
                              <p:cond delay="1250"/>
                            </p:stCondLst>
                            <p:childTnLst>
                              <p:par>
                                <p:cTn id="49" presetID="63" presetClass="path" presetSubtype="0" decel="50000" fill="hold" grpId="15" nodeType="afterEffect">
                                  <p:stCondLst>
                                    <p:cond delay="0"/>
                                  </p:stCondLst>
                                  <p:childTnLst>
                                    <p:animMotion origin="layout" path="M 0.63403 0.00092 L 0.67552 -0.00069 " pathEditMode="relative" rAng="0" ptsTypes="AA">
                                      <p:cBhvr>
                                        <p:cTn id="50" dur="750" fill="hold"/>
                                        <p:tgtEl>
                                          <p:spTgt spid="7"/>
                                        </p:tgtEl>
                                        <p:attrNameLst>
                                          <p:attrName>ppt_x</p:attrName>
                                          <p:attrName>ppt_y</p:attrName>
                                        </p:attrNameLst>
                                      </p:cBhvr>
                                      <p:rCtr x="2101" y="46"/>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par>
                                <p:cTn id="55" presetID="26" presetClass="emph" presetSubtype="0" fill="hold" grpId="0" nodeType="withEffect">
                                  <p:stCondLst>
                                    <p:cond delay="0"/>
                                  </p:stCondLst>
                                  <p:childTnLst>
                                    <p:animEffect transition="out" filter="fade">
                                      <p:cBhvr>
                                        <p:cTn id="56" dur="1000" tmFilter="0, 0; .2, .5; .8, .5; 1, 0"/>
                                        <p:tgtEl>
                                          <p:spTgt spid="2"/>
                                        </p:tgtEl>
                                      </p:cBhvr>
                                    </p:animEffect>
                                    <p:animScale>
                                      <p:cBhvr>
                                        <p:cTn id="57" dur="500" autoRev="1" fill="hold"/>
                                        <p:tgtEl>
                                          <p:spTgt spid="2"/>
                                        </p:tgtEl>
                                      </p:cBhvr>
                                      <p:by x="105000" y="105000"/>
                                    </p:animScale>
                                  </p:childTnLst>
                                </p:cTn>
                              </p:par>
                              <p:par>
                                <p:cTn id="58" presetID="10"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p:tgtEl>
                                          <p:spTgt spid="10"/>
                                        </p:tgtEl>
                                      </p:cBhvr>
                                    </p:animEffect>
                                  </p:childTnLst>
                                </p:cTn>
                              </p:par>
                              <p:par>
                                <p:cTn id="61" presetID="53" presetClass="exit" presetSubtype="32" fill="hold" grpId="6" nodeType="withEffect">
                                  <p:stCondLst>
                                    <p:cond delay="0"/>
                                  </p:stCondLst>
                                  <p:childTnLst>
                                    <p:anim calcmode="lin" valueType="num">
                                      <p:cBhvr>
                                        <p:cTn id="62" dur="500"/>
                                        <p:tgtEl>
                                          <p:spTgt spid="7"/>
                                        </p:tgtEl>
                                        <p:attrNameLst>
                                          <p:attrName>ppt_w</p:attrName>
                                        </p:attrNameLst>
                                      </p:cBhvr>
                                      <p:tavLst>
                                        <p:tav tm="0">
                                          <p:val>
                                            <p:strVal val="ppt_w"/>
                                          </p:val>
                                        </p:tav>
                                        <p:tav tm="100000">
                                          <p:val>
                                            <p:fltVal val="0"/>
                                          </p:val>
                                        </p:tav>
                                      </p:tavLst>
                                    </p:anim>
                                    <p:anim calcmode="lin" valueType="num">
                                      <p:cBhvr>
                                        <p:cTn id="63" dur="500"/>
                                        <p:tgtEl>
                                          <p:spTgt spid="7"/>
                                        </p:tgtEl>
                                        <p:attrNameLst>
                                          <p:attrName>ppt_h</p:attrName>
                                        </p:attrNameLst>
                                      </p:cBhvr>
                                      <p:tavLst>
                                        <p:tav tm="0">
                                          <p:val>
                                            <p:strVal val="ppt_h"/>
                                          </p:val>
                                        </p:tav>
                                        <p:tav tm="100000">
                                          <p:val>
                                            <p:fltVal val="0"/>
                                          </p:val>
                                        </p:tav>
                                      </p:tavLst>
                                    </p:anim>
                                    <p:animEffect transition="out" filter="fade">
                                      <p:cBhvr>
                                        <p:cTn id="64" dur="500"/>
                                        <p:tgtEl>
                                          <p:spTgt spid="7"/>
                                        </p:tgtEl>
                                      </p:cBhvr>
                                    </p:animEffect>
                                    <p:set>
                                      <p:cBhvr>
                                        <p:cTn id="65" dur="1" fill="hold">
                                          <p:stCondLst>
                                            <p:cond delay="499"/>
                                          </p:stCondLst>
                                        </p:cTn>
                                        <p:tgtEl>
                                          <p:spTgt spid="7"/>
                                        </p:tgtEl>
                                        <p:attrNameLst>
                                          <p:attrName>style.visibility</p:attrName>
                                        </p:attrNameLst>
                                      </p:cBhvr>
                                      <p:to>
                                        <p:strVal val="hidden"/>
                                      </p:to>
                                    </p:set>
                                  </p:childTnLst>
                                </p:cTn>
                              </p:par>
                            </p:childTnLst>
                          </p:cTn>
                        </p:par>
                        <p:par>
                          <p:cTn id="66" fill="hold">
                            <p:stCondLst>
                              <p:cond delay="1000"/>
                            </p:stCondLst>
                            <p:childTnLst>
                              <p:par>
                                <p:cTn id="67" presetID="10" presetClass="exit" presetSubtype="0" fill="hold" grpId="2" nodeType="afterEffect">
                                  <p:stCondLst>
                                    <p:cond delay="0"/>
                                  </p:stCondLst>
                                  <p:childTnLst>
                                    <p:animEffect transition="out" filter="fade">
                                      <p:cBhvr>
                                        <p:cTn id="68" dur="500"/>
                                        <p:tgtEl>
                                          <p:spTgt spid="2"/>
                                        </p:tgtEl>
                                      </p:cBhvr>
                                    </p:animEffect>
                                    <p:set>
                                      <p:cBhvr>
                                        <p:cTn id="69" dur="1" fill="hold">
                                          <p:stCondLst>
                                            <p:cond delay="499"/>
                                          </p:stCondLst>
                                        </p:cTn>
                                        <p:tgtEl>
                                          <p:spTgt spid="2"/>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0"/>
                                        </p:tgtEl>
                                        <p:attrNameLst>
                                          <p:attrName>style.visibility</p:attrName>
                                        </p:attrNameLst>
                                      </p:cBhvr>
                                      <p:to>
                                        <p:strVal val="hidden"/>
                                      </p:to>
                                    </p:set>
                                  </p:childTnLst>
                                </p:cTn>
                              </p:par>
                              <p:par>
                                <p:cTn id="72" presetID="1" presetClass="entr" presetSubtype="0" fill="hold" grpId="18" nodeType="withEffect">
                                  <p:stCondLst>
                                    <p:cond delay="0"/>
                                  </p:stCondLst>
                                  <p:childTnLst>
                                    <p:set>
                                      <p:cBhvr>
                                        <p:cTn id="73" dur="1" fill="hold">
                                          <p:stCondLst>
                                            <p:cond delay="0"/>
                                          </p:stCondLst>
                                        </p:cTn>
                                        <p:tgtEl>
                                          <p:spTgt spid="7"/>
                                        </p:tgtEl>
                                        <p:attrNameLst>
                                          <p:attrName>style.visibility</p:attrName>
                                        </p:attrNameLst>
                                      </p:cBhvr>
                                      <p:to>
                                        <p:strVal val="visible"/>
                                      </p:to>
                                    </p:set>
                                  </p:childTnLst>
                                </p:cTn>
                              </p:par>
                              <p:par>
                                <p:cTn id="74" presetID="50" presetClass="path" presetSubtype="0" accel="50000" fill="hold" grpId="13" nodeType="withEffect">
                                  <p:stCondLst>
                                    <p:cond delay="0"/>
                                  </p:stCondLst>
                                  <p:childTnLst>
                                    <p:animMotion origin="layout" path="M 0.61389 -0.17986 L 0.62361 -0.17986 C 0.6283 -0.17986 0.63403 -0.13009 0.63403 -0.09282 L 0.63403 0.00093 " pathEditMode="relative" rAng="0" ptsTypes="AAAA">
                                      <p:cBhvr>
                                        <p:cTn id="75" dur="1250" fill="hold"/>
                                        <p:tgtEl>
                                          <p:spTgt spid="7"/>
                                        </p:tgtEl>
                                        <p:attrNameLst>
                                          <p:attrName>ppt_x</p:attrName>
                                          <p:attrName>ppt_y</p:attrName>
                                        </p:attrNameLst>
                                      </p:cBhvr>
                                      <p:rCtr x="1007" y="9028"/>
                                    </p:animMotion>
                                  </p:childTnLst>
                                </p:cTn>
                              </p:par>
                            </p:childTnLst>
                          </p:cTn>
                        </p:par>
                        <p:par>
                          <p:cTn id="76" fill="hold">
                            <p:stCondLst>
                              <p:cond delay="2250"/>
                            </p:stCondLst>
                            <p:childTnLst>
                              <p:par>
                                <p:cTn id="77" presetID="63" presetClass="path" presetSubtype="0" decel="50000" fill="hold" grpId="14" nodeType="afterEffect">
                                  <p:stCondLst>
                                    <p:cond delay="0"/>
                                  </p:stCondLst>
                                  <p:childTnLst>
                                    <p:animMotion origin="layout" path="M 0.63403 0.00092 L 0.67552 -0.00069 " pathEditMode="relative" rAng="0" ptsTypes="AA">
                                      <p:cBhvr>
                                        <p:cTn id="78" dur="750" fill="hold"/>
                                        <p:tgtEl>
                                          <p:spTgt spid="7"/>
                                        </p:tgtEl>
                                        <p:attrNameLst>
                                          <p:attrName>ppt_x</p:attrName>
                                          <p:attrName>ppt_y</p:attrName>
                                        </p:attrNameLst>
                                      </p:cBhvr>
                                      <p:rCtr x="2101" y="116"/>
                                    </p:animMotion>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1" nodeType="clickEffect">
                                  <p:stCondLst>
                                    <p:cond delay="0"/>
                                  </p:stCondLst>
                                  <p:childTnLst>
                                    <p:set>
                                      <p:cBhvr>
                                        <p:cTn id="82" dur="1" fill="hold">
                                          <p:stCondLst>
                                            <p:cond delay="0"/>
                                          </p:stCondLst>
                                        </p:cTn>
                                        <p:tgtEl>
                                          <p:spTgt spid="11"/>
                                        </p:tgtEl>
                                        <p:attrNameLst>
                                          <p:attrName>style.visibility</p:attrName>
                                        </p:attrNameLst>
                                      </p:cBhvr>
                                      <p:to>
                                        <p:strVal val="visible"/>
                                      </p:to>
                                    </p:set>
                                  </p:childTnLst>
                                </p:cTn>
                              </p:par>
                              <p:par>
                                <p:cTn id="83" presetID="26" presetClass="emph" presetSubtype="0" fill="hold" grpId="0" nodeType="withEffect">
                                  <p:stCondLst>
                                    <p:cond delay="0"/>
                                  </p:stCondLst>
                                  <p:childTnLst>
                                    <p:animEffect transition="out" filter="fade">
                                      <p:cBhvr>
                                        <p:cTn id="84" dur="1000" tmFilter="0, 0; .2, .5; .8, .5; 1, 0"/>
                                        <p:tgtEl>
                                          <p:spTgt spid="11"/>
                                        </p:tgtEl>
                                      </p:cBhvr>
                                    </p:animEffect>
                                    <p:animScale>
                                      <p:cBhvr>
                                        <p:cTn id="85" dur="500" autoRev="1" fill="hold"/>
                                        <p:tgtEl>
                                          <p:spTgt spid="11"/>
                                        </p:tgtEl>
                                      </p:cBhvr>
                                      <p:by x="105000" y="105000"/>
                                    </p:animScale>
                                  </p:childTnLst>
                                </p:cTn>
                              </p:par>
                              <p:par>
                                <p:cTn id="86" presetID="10" presetClass="entr" presetSubtype="0" fill="hold" grpId="0" nodeType="withEffect">
                                  <p:stCondLst>
                                    <p:cond delay="0"/>
                                  </p:stCondLst>
                                  <p:childTnLst>
                                    <p:set>
                                      <p:cBhvr>
                                        <p:cTn id="87" dur="1" fill="hold">
                                          <p:stCondLst>
                                            <p:cond delay="0"/>
                                          </p:stCondLst>
                                        </p:cTn>
                                        <p:tgtEl>
                                          <p:spTgt spid="12"/>
                                        </p:tgtEl>
                                        <p:attrNameLst>
                                          <p:attrName>style.visibility</p:attrName>
                                        </p:attrNameLst>
                                      </p:cBhvr>
                                      <p:to>
                                        <p:strVal val="visible"/>
                                      </p:to>
                                    </p:set>
                                    <p:animEffect transition="in" filter="fade">
                                      <p:cBhvr>
                                        <p:cTn id="88" dur="500"/>
                                        <p:tgtEl>
                                          <p:spTgt spid="12"/>
                                        </p:tgtEl>
                                      </p:cBhvr>
                                    </p:animEffect>
                                  </p:childTnLst>
                                </p:cTn>
                              </p:par>
                              <p:par>
                                <p:cTn id="89" presetID="1" presetClass="exit" presetSubtype="0" fill="hold" grpId="20" nodeType="withEffect">
                                  <p:stCondLst>
                                    <p:cond delay="0"/>
                                  </p:stCondLst>
                                  <p:childTnLst>
                                    <p:set>
                                      <p:cBhvr>
                                        <p:cTn id="90" dur="1" fill="hold">
                                          <p:stCondLst>
                                            <p:cond delay="0"/>
                                          </p:stCondLst>
                                        </p:cTn>
                                        <p:tgtEl>
                                          <p:spTgt spid="7"/>
                                        </p:tgtEl>
                                        <p:attrNameLst>
                                          <p:attrName>style.visibility</p:attrName>
                                        </p:attrNameLst>
                                      </p:cBhvr>
                                      <p:to>
                                        <p:strVal val="hidden"/>
                                      </p:to>
                                    </p:set>
                                  </p:childTnLst>
                                </p:cTn>
                              </p:par>
                            </p:childTnLst>
                          </p:cTn>
                        </p:par>
                        <p:par>
                          <p:cTn id="91" fill="hold">
                            <p:stCondLst>
                              <p:cond delay="1000"/>
                            </p:stCondLst>
                            <p:childTnLst>
                              <p:par>
                                <p:cTn id="92" presetID="10" presetClass="exit" presetSubtype="0" fill="hold" grpId="2" nodeType="afterEffect">
                                  <p:stCondLst>
                                    <p:cond delay="0"/>
                                  </p:stCondLst>
                                  <p:childTnLst>
                                    <p:animEffect transition="out" filter="fade">
                                      <p:cBhvr>
                                        <p:cTn id="93" dur="500"/>
                                        <p:tgtEl>
                                          <p:spTgt spid="11"/>
                                        </p:tgtEl>
                                      </p:cBhvr>
                                    </p:animEffect>
                                    <p:set>
                                      <p:cBhvr>
                                        <p:cTn id="94" dur="1" fill="hold">
                                          <p:stCondLst>
                                            <p:cond delay="499"/>
                                          </p:stCondLst>
                                        </p:cTn>
                                        <p:tgtEl>
                                          <p:spTgt spid="11"/>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2"/>
                                        </p:tgtEl>
                                        <p:attrNameLst>
                                          <p:attrName>style.visibility</p:attrName>
                                        </p:attrNameLst>
                                      </p:cBhvr>
                                      <p:to>
                                        <p:strVal val="hidden"/>
                                      </p:to>
                                    </p:set>
                                  </p:childTnLst>
                                </p:cTn>
                              </p:par>
                              <p:par>
                                <p:cTn id="97" presetID="1" presetClass="entr" presetSubtype="0" fill="hold" grpId="19" nodeType="withEffect">
                                  <p:stCondLst>
                                    <p:cond delay="0"/>
                                  </p:stCondLst>
                                  <p:childTnLst>
                                    <p:set>
                                      <p:cBhvr>
                                        <p:cTn id="98" dur="1" fill="hold">
                                          <p:stCondLst>
                                            <p:cond delay="0"/>
                                          </p:stCondLst>
                                        </p:cTn>
                                        <p:tgtEl>
                                          <p:spTgt spid="7"/>
                                        </p:tgtEl>
                                        <p:attrNameLst>
                                          <p:attrName>style.visibility</p:attrName>
                                        </p:attrNameLst>
                                      </p:cBhvr>
                                      <p:to>
                                        <p:strVal val="visible"/>
                                      </p:to>
                                    </p:set>
                                  </p:childTnLst>
                                </p:cTn>
                              </p:par>
                              <p:par>
                                <p:cTn id="99" presetID="63" presetClass="path" presetSubtype="0" accel="50000" fill="hold" grpId="17" nodeType="withEffect">
                                  <p:stCondLst>
                                    <p:cond delay="0"/>
                                  </p:stCondLst>
                                  <p:childTnLst>
                                    <p:animMotion origin="layout" path="M 0.57396 -0.00092 L 0.63403 0.00093 " pathEditMode="relative" rAng="0" ptsTypes="AA">
                                      <p:cBhvr>
                                        <p:cTn id="100" dur="750" fill="hold"/>
                                        <p:tgtEl>
                                          <p:spTgt spid="7"/>
                                        </p:tgtEl>
                                        <p:attrNameLst>
                                          <p:attrName>ppt_x</p:attrName>
                                          <p:attrName>ppt_y</p:attrName>
                                        </p:attrNameLst>
                                      </p:cBhvr>
                                      <p:rCtr x="3316" y="-69"/>
                                    </p:animMotion>
                                  </p:childTnLst>
                                </p:cTn>
                              </p:par>
                            </p:childTnLst>
                          </p:cTn>
                        </p:par>
                        <p:par>
                          <p:cTn id="101" fill="hold">
                            <p:stCondLst>
                              <p:cond delay="1750"/>
                            </p:stCondLst>
                            <p:childTnLst>
                              <p:par>
                                <p:cTn id="102" presetID="63" presetClass="path" presetSubtype="0" decel="50000" fill="hold" grpId="16" nodeType="afterEffect">
                                  <p:stCondLst>
                                    <p:cond delay="0"/>
                                  </p:stCondLst>
                                  <p:childTnLst>
                                    <p:animMotion origin="layout" path="M 0.63403 0.00092 L 0.67552 -0.00069 " pathEditMode="relative" rAng="0" ptsTypes="AA">
                                      <p:cBhvr>
                                        <p:cTn id="103" dur="750" fill="hold"/>
                                        <p:tgtEl>
                                          <p:spTgt spid="7"/>
                                        </p:tgtEl>
                                        <p:attrNameLst>
                                          <p:attrName>ppt_x</p:attrName>
                                          <p:attrName>ppt_y</p:attrName>
                                        </p:attrNameLst>
                                      </p:cBhvr>
                                      <p:rCtr x="2066" y="46"/>
                                    </p:animMotion>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grpId="9" nodeType="clickEffect">
                                  <p:stCondLst>
                                    <p:cond delay="0"/>
                                  </p:stCondLst>
                                  <p:childTnLst>
                                    <p:animMotion origin="layout" path="M 0.67552 -0.00069 L 0.85955 -0.00023 " pathEditMode="relative" rAng="0" ptsTypes="AA">
                                      <p:cBhvr>
                                        <p:cTn id="107" dur="2000" fill="hold"/>
                                        <p:tgtEl>
                                          <p:spTgt spid="7"/>
                                        </p:tgtEl>
                                        <p:attrNameLst>
                                          <p:attrName>ppt_x</p:attrName>
                                          <p:attrName>ppt_y</p:attrName>
                                        </p:attrNameLst>
                                      </p:cBhvr>
                                      <p:rCtr x="9201" y="23"/>
                                    </p:animMotion>
                                  </p:childTnLst>
                                </p:cTn>
                              </p:par>
                            </p:childTnLst>
                          </p:cTn>
                        </p:par>
                        <p:par>
                          <p:cTn id="108" fill="hold">
                            <p:stCondLst>
                              <p:cond delay="2000"/>
                            </p:stCondLst>
                            <p:childTnLst>
                              <p:par>
                                <p:cTn id="109" presetID="53" presetClass="exit" presetSubtype="32" fill="hold" grpId="21" nodeType="afterEffect">
                                  <p:stCondLst>
                                    <p:cond delay="0"/>
                                  </p:stCondLst>
                                  <p:childTnLst>
                                    <p:anim calcmode="lin" valueType="num">
                                      <p:cBhvr>
                                        <p:cTn id="110" dur="500"/>
                                        <p:tgtEl>
                                          <p:spTgt spid="7"/>
                                        </p:tgtEl>
                                        <p:attrNameLst>
                                          <p:attrName>ppt_w</p:attrName>
                                        </p:attrNameLst>
                                      </p:cBhvr>
                                      <p:tavLst>
                                        <p:tav tm="0">
                                          <p:val>
                                            <p:strVal val="ppt_w"/>
                                          </p:val>
                                        </p:tav>
                                        <p:tav tm="100000">
                                          <p:val>
                                            <p:fltVal val="0"/>
                                          </p:val>
                                        </p:tav>
                                      </p:tavLst>
                                    </p:anim>
                                    <p:anim calcmode="lin" valueType="num">
                                      <p:cBhvr>
                                        <p:cTn id="111" dur="500"/>
                                        <p:tgtEl>
                                          <p:spTgt spid="7"/>
                                        </p:tgtEl>
                                        <p:attrNameLst>
                                          <p:attrName>ppt_h</p:attrName>
                                        </p:attrNameLst>
                                      </p:cBhvr>
                                      <p:tavLst>
                                        <p:tav tm="0">
                                          <p:val>
                                            <p:strVal val="ppt_h"/>
                                          </p:val>
                                        </p:tav>
                                        <p:tav tm="100000">
                                          <p:val>
                                            <p:fltVal val="0"/>
                                          </p:val>
                                        </p:tav>
                                      </p:tavLst>
                                    </p:anim>
                                    <p:animEffect transition="out" filter="fade">
                                      <p:cBhvr>
                                        <p:cTn id="112" dur="500"/>
                                        <p:tgtEl>
                                          <p:spTgt spid="7"/>
                                        </p:tgtEl>
                                      </p:cBhvr>
                                    </p:animEffect>
                                    <p:set>
                                      <p:cBhvr>
                                        <p:cTn id="113"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7" grpId="10" animBg="1"/>
      <p:bldP spid="7" grpId="11" animBg="1"/>
      <p:bldP spid="7" grpId="12" animBg="1"/>
      <p:bldP spid="7" grpId="13" animBg="1"/>
      <p:bldP spid="7" grpId="14" animBg="1"/>
      <p:bldP spid="7" grpId="15" animBg="1"/>
      <p:bldP spid="7" grpId="16" animBg="1"/>
      <p:bldP spid="7" grpId="17" animBg="1"/>
      <p:bldP spid="7" grpId="18" animBg="1"/>
      <p:bldP spid="7" grpId="19" animBg="1"/>
      <p:bldP spid="7" grpId="20" animBg="1"/>
      <p:bldP spid="7" grpId="21" animBg="1"/>
      <p:bldP spid="2" grpId="0" animBg="1"/>
      <p:bldP spid="2" grpId="1" animBg="1"/>
      <p:bldP spid="2" grpId="2" animBg="1"/>
      <p:bldP spid="10" grpId="0" animBg="1"/>
      <p:bldP spid="10" grpId="1" animBg="1"/>
      <p:bldP spid="11" grpId="0" animBg="1"/>
      <p:bldP spid="11" grpId="1" animBg="1"/>
      <p:bldP spid="11" grpId="2" animBg="1"/>
      <p:bldP spid="12" grpId="0" animBg="1"/>
      <p:bldP spid="1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en-AU" dirty="0"/>
              <a:t>A little more on gateways: AND Gateway</a:t>
            </a:r>
          </a:p>
        </p:txBody>
      </p:sp>
      <p:sp>
        <p:nvSpPr>
          <p:cNvPr id="2" name="Slide Number Placeholder 1"/>
          <p:cNvSpPr>
            <a:spLocks noGrp="1"/>
          </p:cNvSpPr>
          <p:nvPr>
            <p:ph type="sldNum" sz="quarter" idx="11"/>
          </p:nvPr>
        </p:nvSpPr>
        <p:spPr>
          <a:xfrm>
            <a:off x="8247295" y="6641292"/>
            <a:ext cx="533400" cy="152400"/>
          </a:xfrm>
        </p:spPr>
        <p:txBody>
          <a:bodyPr/>
          <a:lstStyle/>
          <a:p>
            <a:fld id="{F06E539D-8AB8-485C-BFEF-50E8D5427D32}" type="slidenum">
              <a:rPr lang="en-AU" smtClean="0">
                <a:solidFill>
                  <a:prstClr val="black">
                    <a:lumMod val="50000"/>
                    <a:lumOff val="50000"/>
                  </a:prstClr>
                </a:solidFill>
              </a:rPr>
              <a:pPr/>
              <a:t>6</a:t>
            </a:fld>
            <a:endParaRPr lang="en-AU" dirty="0">
              <a:solidFill>
                <a:prstClr val="black">
                  <a:lumMod val="50000"/>
                  <a:lumOff val="50000"/>
                </a:prstClr>
              </a:solidFill>
            </a:endParaRPr>
          </a:p>
        </p:txBody>
      </p:sp>
      <p:sp>
        <p:nvSpPr>
          <p:cNvPr id="6" name="Rectangle 5"/>
          <p:cNvSpPr/>
          <p:nvPr/>
        </p:nvSpPr>
        <p:spPr>
          <a:xfrm>
            <a:off x="1173162" y="1614149"/>
            <a:ext cx="7074133" cy="830997"/>
          </a:xfrm>
          <a:prstGeom prst="rect">
            <a:avLst/>
          </a:prstGeom>
        </p:spPr>
        <p:txBody>
          <a:bodyPr wrap="square">
            <a:spAutoFit/>
          </a:bodyPr>
          <a:lstStyle/>
          <a:p>
            <a:pPr marL="228600" lvl="1">
              <a:spcBef>
                <a:spcPct val="20000"/>
              </a:spcBef>
              <a:buClr>
                <a:prstClr val="black">
                  <a:lumMod val="50000"/>
                  <a:lumOff val="50000"/>
                </a:prstClr>
              </a:buClr>
            </a:pPr>
            <a:r>
              <a:rPr lang="en-AU" sz="2400" dirty="0">
                <a:solidFill>
                  <a:prstClr val="black">
                    <a:lumMod val="75000"/>
                    <a:lumOff val="25000"/>
                  </a:prstClr>
                </a:solidFill>
              </a:rPr>
              <a:t>An </a:t>
            </a:r>
            <a:r>
              <a:rPr lang="en-AU" sz="2400" i="1" dirty="0">
                <a:solidFill>
                  <a:prstClr val="black">
                    <a:lumMod val="75000"/>
                    <a:lumOff val="25000"/>
                  </a:prstClr>
                </a:solidFill>
              </a:rPr>
              <a:t>AND Gateway</a:t>
            </a:r>
            <a:r>
              <a:rPr lang="en-AU" sz="2400" dirty="0">
                <a:solidFill>
                  <a:prstClr val="black">
                    <a:lumMod val="75000"/>
                    <a:lumOff val="25000"/>
                  </a:prstClr>
                </a:solidFill>
              </a:rPr>
              <a:t> provides a mechanism to create and synchronize “parallel” flows. </a:t>
            </a:r>
          </a:p>
        </p:txBody>
      </p:sp>
      <p:sp>
        <p:nvSpPr>
          <p:cNvPr id="12" name="Rectangle 3"/>
          <p:cNvSpPr txBox="1">
            <a:spLocks noChangeArrowheads="1"/>
          </p:cNvSpPr>
          <p:nvPr/>
        </p:nvSpPr>
        <p:spPr>
          <a:xfrm>
            <a:off x="952243" y="3519622"/>
            <a:ext cx="7705782" cy="1992363"/>
          </a:xfrm>
          <a:prstGeom prst="rect">
            <a:avLst/>
          </a:prstGeom>
        </p:spPr>
        <p:txBody>
          <a:bodyPr vert="horz" lIns="91440" tIns="45720" rIns="91440" bIns="45720" rtlCol="0" anchor="t">
            <a:noAutofit/>
          </a:bodyPr>
          <a:lstStyle>
            <a:lvl1pPr marL="182880" indent="-182880" algn="l" defTabSz="914400" rtl="0" eaLnBrk="1" latinLnBrk="0" hangingPunct="1">
              <a:spcBef>
                <a:spcPct val="20000"/>
              </a:spcBef>
              <a:buClr>
                <a:schemeClr val="tx1">
                  <a:lumMod val="50000"/>
                  <a:lumOff val="50000"/>
                </a:schemeClr>
              </a:buClr>
              <a:buFont typeface="Arial" pitchFamily="34" charset="0"/>
              <a:buChar char="•"/>
              <a:defRPr sz="2400" kern="1200">
                <a:solidFill>
                  <a:schemeClr val="tx1">
                    <a:lumMod val="75000"/>
                    <a:lumOff val="2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a:lstStyle>
          <a:p>
            <a:pPr marL="891858" lvl="1" indent="0">
              <a:buClr>
                <a:prstClr val="black">
                  <a:lumMod val="50000"/>
                  <a:lumOff val="50000"/>
                </a:prstClr>
              </a:buClr>
              <a:buFont typeface="Arial" pitchFamily="34" charset="0"/>
              <a:buNone/>
            </a:pPr>
            <a:r>
              <a:rPr lang="en-AU" sz="2400" i="1" dirty="0">
                <a:solidFill>
                  <a:prstClr val="black">
                    <a:lumMod val="75000"/>
                    <a:lumOff val="25000"/>
                  </a:prstClr>
                </a:solidFill>
              </a:rPr>
              <a:t>AND-split</a:t>
            </a:r>
            <a:r>
              <a:rPr lang="en-AU" sz="2400" dirty="0">
                <a:solidFill>
                  <a:prstClr val="black">
                    <a:lumMod val="75000"/>
                    <a:lumOff val="25000"/>
                  </a:prstClr>
                </a:solidFill>
              </a:rPr>
              <a:t> </a:t>
            </a:r>
            <a:r>
              <a:rPr lang="en-AU" sz="2400" dirty="0">
                <a:solidFill>
                  <a:prstClr val="black">
                    <a:lumMod val="75000"/>
                    <a:lumOff val="25000"/>
                  </a:prstClr>
                </a:solidFill>
                <a:sym typeface="Wingdings" pitchFamily="2" charset="2"/>
              </a:rPr>
              <a:t> takes </a:t>
            </a:r>
            <a:r>
              <a:rPr lang="en-AU" sz="2400" b="1" dirty="0">
                <a:solidFill>
                  <a:prstClr val="black">
                    <a:lumMod val="75000"/>
                    <a:lumOff val="25000"/>
                  </a:prstClr>
                </a:solidFill>
                <a:sym typeface="Wingdings" pitchFamily="2" charset="2"/>
              </a:rPr>
              <a:t>all </a:t>
            </a:r>
            <a:r>
              <a:rPr lang="en-AU" sz="2400" dirty="0">
                <a:solidFill>
                  <a:prstClr val="black">
                    <a:lumMod val="75000"/>
                    <a:lumOff val="25000"/>
                  </a:prstClr>
                </a:solidFill>
                <a:sym typeface="Wingdings" pitchFamily="2" charset="2"/>
              </a:rPr>
              <a:t>outgoing branches</a:t>
            </a:r>
          </a:p>
          <a:p>
            <a:pPr marL="1074738" lvl="1">
              <a:buClr>
                <a:prstClr val="black">
                  <a:lumMod val="50000"/>
                  <a:lumOff val="50000"/>
                </a:prstClr>
              </a:buClr>
            </a:pPr>
            <a:endParaRPr lang="en-AU" sz="2400" dirty="0">
              <a:solidFill>
                <a:prstClr val="black">
                  <a:lumMod val="75000"/>
                  <a:lumOff val="25000"/>
                </a:prstClr>
              </a:solidFill>
              <a:sym typeface="Wingdings" pitchFamily="2" charset="2"/>
            </a:endParaRPr>
          </a:p>
          <a:p>
            <a:pPr marL="1074738" lvl="1">
              <a:buClr>
                <a:prstClr val="black">
                  <a:lumMod val="50000"/>
                  <a:lumOff val="50000"/>
                </a:prstClr>
              </a:buClr>
            </a:pPr>
            <a:endParaRPr lang="en-AU" sz="2400" dirty="0">
              <a:solidFill>
                <a:prstClr val="black">
                  <a:lumMod val="75000"/>
                  <a:lumOff val="25000"/>
                </a:prstClr>
              </a:solidFill>
              <a:sym typeface="Wingdings" pitchFamily="2" charset="2"/>
            </a:endParaRPr>
          </a:p>
          <a:p>
            <a:pPr marL="1074738" lvl="1">
              <a:buClr>
                <a:prstClr val="black">
                  <a:lumMod val="50000"/>
                  <a:lumOff val="50000"/>
                </a:prstClr>
              </a:buClr>
            </a:pPr>
            <a:endParaRPr lang="en-AU" sz="2000" dirty="0">
              <a:solidFill>
                <a:prstClr val="black">
                  <a:lumMod val="75000"/>
                  <a:lumOff val="25000"/>
                </a:prstClr>
              </a:solidFill>
              <a:sym typeface="Wingdings" pitchFamily="2" charset="2"/>
            </a:endParaRPr>
          </a:p>
          <a:p>
            <a:pPr marL="891858" lvl="1" indent="0">
              <a:buClr>
                <a:prstClr val="black">
                  <a:lumMod val="50000"/>
                  <a:lumOff val="50000"/>
                </a:prstClr>
              </a:buClr>
              <a:buFont typeface="Arial" pitchFamily="34" charset="0"/>
              <a:buNone/>
            </a:pPr>
            <a:r>
              <a:rPr lang="en-AU" sz="2400" i="1" dirty="0">
                <a:solidFill>
                  <a:prstClr val="black">
                    <a:lumMod val="75000"/>
                    <a:lumOff val="25000"/>
                  </a:prstClr>
                </a:solidFill>
                <a:sym typeface="Wingdings" pitchFamily="2" charset="2"/>
              </a:rPr>
              <a:t>AND-join</a:t>
            </a:r>
            <a:r>
              <a:rPr lang="en-AU" sz="2400" dirty="0">
                <a:solidFill>
                  <a:prstClr val="black">
                    <a:lumMod val="75000"/>
                    <a:lumOff val="25000"/>
                  </a:prstClr>
                </a:solidFill>
                <a:sym typeface="Wingdings" pitchFamily="2" charset="2"/>
              </a:rPr>
              <a:t>  proceeds when </a:t>
            </a:r>
            <a:r>
              <a:rPr lang="en-AU" sz="2400" b="1" dirty="0">
                <a:solidFill>
                  <a:prstClr val="black">
                    <a:lumMod val="75000"/>
                    <a:lumOff val="25000"/>
                  </a:prstClr>
                </a:solidFill>
                <a:sym typeface="Wingdings" pitchFamily="2" charset="2"/>
              </a:rPr>
              <a:t>all </a:t>
            </a:r>
            <a:r>
              <a:rPr lang="en-AU" sz="2400" dirty="0">
                <a:solidFill>
                  <a:prstClr val="black">
                    <a:lumMod val="75000"/>
                    <a:lumOff val="25000"/>
                  </a:prstClr>
                </a:solidFill>
                <a:sym typeface="Wingdings" pitchFamily="2" charset="2"/>
              </a:rPr>
              <a:t>incoming branches have completed</a:t>
            </a:r>
          </a:p>
          <a:p>
            <a:pPr marL="1074738" lvl="1">
              <a:buClr>
                <a:prstClr val="black">
                  <a:lumMod val="50000"/>
                  <a:lumOff val="50000"/>
                </a:prstClr>
              </a:buClr>
              <a:buFontTx/>
              <a:buChar char="•"/>
            </a:pPr>
            <a:endParaRPr lang="en-AU" sz="2400" dirty="0">
              <a:solidFill>
                <a:prstClr val="black">
                  <a:lumMod val="75000"/>
                  <a:lumOff val="25000"/>
                </a:prstClr>
              </a:solidFill>
              <a:sym typeface="Wingdings" pitchFamily="2" charset="2"/>
            </a:endParaRPr>
          </a:p>
        </p:txBody>
      </p:sp>
      <p:graphicFrame>
        <p:nvGraphicFramePr>
          <p:cNvPr id="13" name="Object 7"/>
          <p:cNvGraphicFramePr>
            <a:graphicFrameLocks noChangeAspect="1"/>
          </p:cNvGraphicFramePr>
          <p:nvPr/>
        </p:nvGraphicFramePr>
        <p:xfrm>
          <a:off x="87313" y="2890838"/>
          <a:ext cx="1666875" cy="1663700"/>
        </p:xfrm>
        <a:graphic>
          <a:graphicData uri="http://schemas.openxmlformats.org/presentationml/2006/ole">
            <mc:AlternateContent xmlns:mc="http://schemas.openxmlformats.org/markup-compatibility/2006">
              <mc:Choice xmlns:v="urn:schemas-microsoft-com:vml" Requires="v">
                <p:oleObj name="Visio" r:id="rId3" imgW="1063800" imgH="1028160" progId="Visio.Drawing.11">
                  <p:embed/>
                </p:oleObj>
              </mc:Choice>
              <mc:Fallback>
                <p:oleObj name="Visio" r:id="rId3" imgW="1063800" imgH="1028160" progId="Visio.Drawing.11">
                  <p:embed/>
                  <p:pic>
                    <p:nvPicPr>
                      <p:cNvPr id="0" name=""/>
                      <p:cNvPicPr>
                        <a:picLocks noChangeAspect="1" noChangeArrowheads="1"/>
                      </p:cNvPicPr>
                      <p:nvPr/>
                    </p:nvPicPr>
                    <p:blipFill>
                      <a:blip r:embed="rId4"/>
                      <a:srcRect/>
                      <a:stretch>
                        <a:fillRect/>
                      </a:stretch>
                    </p:blipFill>
                    <p:spPr bwMode="auto">
                      <a:xfrm>
                        <a:off x="87313" y="2890838"/>
                        <a:ext cx="1666875" cy="1663700"/>
                      </a:xfrm>
                      <a:prstGeom prst="rect">
                        <a:avLst/>
                      </a:prstGeom>
                      <a:noFill/>
                      <a:ln>
                        <a:noFill/>
                      </a:ln>
                      <a:effectLst/>
                    </p:spPr>
                  </p:pic>
                </p:oleObj>
              </mc:Fallback>
            </mc:AlternateContent>
          </a:graphicData>
        </a:graphic>
      </p:graphicFrame>
      <p:graphicFrame>
        <p:nvGraphicFramePr>
          <p:cNvPr id="14" name="Object 7"/>
          <p:cNvGraphicFramePr>
            <a:graphicFrameLocks noChangeAspect="1"/>
          </p:cNvGraphicFramePr>
          <p:nvPr/>
        </p:nvGraphicFramePr>
        <p:xfrm>
          <a:off x="196850" y="4789488"/>
          <a:ext cx="1522413" cy="1477962"/>
        </p:xfrm>
        <a:graphic>
          <a:graphicData uri="http://schemas.openxmlformats.org/presentationml/2006/ole">
            <mc:AlternateContent xmlns:mc="http://schemas.openxmlformats.org/markup-compatibility/2006">
              <mc:Choice xmlns:v="urn:schemas-microsoft-com:vml" Requires="v">
                <p:oleObj name="Visio" r:id="rId5" imgW="971640" imgH="914040" progId="Visio.Drawing.11">
                  <p:embed/>
                </p:oleObj>
              </mc:Choice>
              <mc:Fallback>
                <p:oleObj name="Visio" r:id="rId5" imgW="971640" imgH="914040" progId="Visio.Drawing.11">
                  <p:embed/>
                  <p:pic>
                    <p:nvPicPr>
                      <p:cNvPr id="0" name=""/>
                      <p:cNvPicPr>
                        <a:picLocks noChangeAspect="1" noChangeArrowheads="1"/>
                      </p:cNvPicPr>
                      <p:nvPr/>
                    </p:nvPicPr>
                    <p:blipFill>
                      <a:blip r:embed="rId6"/>
                      <a:srcRect/>
                      <a:stretch>
                        <a:fillRect/>
                      </a:stretch>
                    </p:blipFill>
                    <p:spPr bwMode="auto">
                      <a:xfrm>
                        <a:off x="196850" y="4789488"/>
                        <a:ext cx="1522413" cy="1477962"/>
                      </a:xfrm>
                      <a:prstGeom prst="rect">
                        <a:avLst/>
                      </a:prstGeom>
                      <a:noFill/>
                      <a:ln>
                        <a:noFill/>
                      </a:ln>
                      <a:effectLst/>
                    </p:spPr>
                  </p:pic>
                </p:oleObj>
              </mc:Fallback>
            </mc:AlternateContent>
          </a:graphicData>
        </a:graphic>
      </p:graphicFrame>
      <p:graphicFrame>
        <p:nvGraphicFramePr>
          <p:cNvPr id="15" name="Object 4"/>
          <p:cNvGraphicFramePr>
            <a:graphicFrameLocks noGrp="1" noChangeAspect="1"/>
          </p:cNvGraphicFramePr>
          <p:nvPr>
            <p:ph sz="quarter" idx="4294967295"/>
          </p:nvPr>
        </p:nvGraphicFramePr>
        <p:xfrm>
          <a:off x="381000" y="1614149"/>
          <a:ext cx="792162" cy="792163"/>
        </p:xfrm>
        <a:graphic>
          <a:graphicData uri="http://schemas.openxmlformats.org/presentationml/2006/ole">
            <mc:AlternateContent xmlns:mc="http://schemas.openxmlformats.org/markup-compatibility/2006">
              <mc:Choice xmlns:v="urn:schemas-microsoft-com:vml" Requires="v">
                <p:oleObj name="Visio" r:id="rId7" imgW="577596" imgH="577596" progId="Visio.Drawing.11">
                  <p:embed/>
                </p:oleObj>
              </mc:Choice>
              <mc:Fallback>
                <p:oleObj name="Visio" r:id="rId7" imgW="577596" imgH="577596"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1614149"/>
                        <a:ext cx="792162"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0"/>
          <p:cNvSpPr/>
          <p:nvPr/>
        </p:nvSpPr>
        <p:spPr>
          <a:xfrm>
            <a:off x="196850"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6" name="Oval 15"/>
          <p:cNvSpPr/>
          <p:nvPr/>
        </p:nvSpPr>
        <p:spPr>
          <a:xfrm>
            <a:off x="196850" y="372268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7" name="Oval 16"/>
          <p:cNvSpPr/>
          <p:nvPr/>
        </p:nvSpPr>
        <p:spPr>
          <a:xfrm>
            <a:off x="467544" y="479513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8" name="Oval 17"/>
          <p:cNvSpPr/>
          <p:nvPr/>
        </p:nvSpPr>
        <p:spPr>
          <a:xfrm>
            <a:off x="467544" y="60575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Tree>
    <p:extLst>
      <p:ext uri="{BB962C8B-B14F-4D97-AF65-F5344CB8AC3E}">
        <p14:creationId xmlns:p14="http://schemas.microsoft.com/office/powerpoint/2010/main" val="315899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par>
                          <p:cTn id="12" fill="hold">
                            <p:stCondLst>
                              <p:cond delay="0"/>
                            </p:stCondLst>
                            <p:childTnLst>
                              <p:par>
                                <p:cTn id="13" presetID="50" presetClass="path" presetSubtype="0" accel="50000" fill="hold" grpId="1" nodeType="afterEffect">
                                  <p:stCondLst>
                                    <p:cond delay="0"/>
                                  </p:stCondLst>
                                  <p:childTnLst>
                                    <p:animMotion origin="layout" path="M -2.77778E-6 -1.11111E-6 L 0.03125 -1.11111E-6 C 0.04549 -1.11111E-6 0.0632 0.02523 0.0632 0.04607 L 0.0632 0.09283 " pathEditMode="relative" rAng="0" ptsTypes="AAAA">
                                      <p:cBhvr>
                                        <p:cTn id="14" dur="2000" fill="hold"/>
                                        <p:tgtEl>
                                          <p:spTgt spid="11"/>
                                        </p:tgtEl>
                                        <p:attrNameLst>
                                          <p:attrName>ppt_x</p:attrName>
                                          <p:attrName>ppt_y</p:attrName>
                                        </p:attrNameLst>
                                      </p:cBhvr>
                                      <p:rCtr x="3160" y="4630"/>
                                    </p:animMotion>
                                  </p:childTnLst>
                                </p:cTn>
                              </p:par>
                              <p:par>
                                <p:cTn id="15" presetID="50" presetClass="path" presetSubtype="0" accel="50000" fill="hold" grpId="1" nodeType="withEffect">
                                  <p:stCondLst>
                                    <p:cond delay="0"/>
                                  </p:stCondLst>
                                  <p:childTnLst>
                                    <p:animMotion origin="layout" path="M -2.77778E-6 -1.11111E-6 L 0.03004 -1.11111E-6 C 0.04358 -1.11111E-6 0.06077 -0.02546 0.06077 -0.0463 L 0.06077 -0.09329 " pathEditMode="relative" rAng="0" ptsTypes="AAAA">
                                      <p:cBhvr>
                                        <p:cTn id="16" dur="2000" fill="hold"/>
                                        <p:tgtEl>
                                          <p:spTgt spid="16"/>
                                        </p:tgtEl>
                                        <p:attrNameLst>
                                          <p:attrName>ppt_x</p:attrName>
                                          <p:attrName>ppt_y</p:attrName>
                                        </p:attrNameLst>
                                      </p:cBhvr>
                                      <p:rCtr x="3038" y="-4676"/>
                                    </p:animMotion>
                                  </p:childTnLst>
                                </p:cTn>
                              </p:par>
                            </p:childTnLst>
                          </p:cTn>
                        </p:par>
                        <p:par>
                          <p:cTn id="17" fill="hold">
                            <p:stCondLst>
                              <p:cond delay="2000"/>
                            </p:stCondLst>
                            <p:childTnLst>
                              <p:par>
                                <p:cTn id="18" presetID="63" presetClass="path" presetSubtype="0" decel="50000" fill="hold" grpId="3" nodeType="afterEffect">
                                  <p:stCondLst>
                                    <p:cond delay="0"/>
                                  </p:stCondLst>
                                  <p:childTnLst>
                                    <p:animMotion origin="layout" path="M 0.0632 0.09283 L 0.09271 0.09445 " pathEditMode="relative" rAng="0" ptsTypes="AA">
                                      <p:cBhvr>
                                        <p:cTn id="19" dur="750" fill="hold"/>
                                        <p:tgtEl>
                                          <p:spTgt spid="11"/>
                                        </p:tgtEl>
                                        <p:attrNameLst>
                                          <p:attrName>ppt_x</p:attrName>
                                          <p:attrName>ppt_y</p:attrName>
                                        </p:attrNameLst>
                                      </p:cBhvr>
                                      <p:rCtr x="1476" y="69"/>
                                    </p:animMotion>
                                  </p:childTnLst>
                                </p:cTn>
                              </p:par>
                              <p:par>
                                <p:cTn id="20" presetID="63" presetClass="path" presetSubtype="0" decel="50000" fill="hold" grpId="3" nodeType="withEffect">
                                  <p:stCondLst>
                                    <p:cond delay="0"/>
                                  </p:stCondLst>
                                  <p:childTnLst>
                                    <p:animMotion origin="layout" path="M 0.06076 -0.09328 L 0.09027 -0.09166 " pathEditMode="relative" rAng="0" ptsTypes="AA">
                                      <p:cBhvr>
                                        <p:cTn id="21" dur="750" fill="hold"/>
                                        <p:tgtEl>
                                          <p:spTgt spid="16"/>
                                        </p:tgtEl>
                                        <p:attrNameLst>
                                          <p:attrName>ppt_x</p:attrName>
                                          <p:attrName>ppt_y</p:attrName>
                                        </p:attrNameLst>
                                      </p:cBhvr>
                                      <p:rCtr x="1476" y="69"/>
                                    </p:animMotion>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2" nodeType="clickEffect">
                                  <p:stCondLst>
                                    <p:cond delay="0"/>
                                  </p:stCondLst>
                                  <p:childTnLst>
                                    <p:animEffect transition="out" filter="fade">
                                      <p:cBhvr>
                                        <p:cTn id="25" dur="500"/>
                                        <p:tgtEl>
                                          <p:spTgt spid="11"/>
                                        </p:tgtEl>
                                      </p:cBhvr>
                                    </p:animEffect>
                                    <p:set>
                                      <p:cBhvr>
                                        <p:cTn id="26" dur="1" fill="hold">
                                          <p:stCondLst>
                                            <p:cond delay="499"/>
                                          </p:stCondLst>
                                        </p:cTn>
                                        <p:tgtEl>
                                          <p:spTgt spid="11"/>
                                        </p:tgtEl>
                                        <p:attrNameLst>
                                          <p:attrName>style.visibility</p:attrName>
                                        </p:attrNameLst>
                                      </p:cBhvr>
                                      <p:to>
                                        <p:strVal val="hidden"/>
                                      </p:to>
                                    </p:set>
                                  </p:childTnLst>
                                </p:cTn>
                              </p:par>
                              <p:par>
                                <p:cTn id="27" presetID="10" presetClass="exit" presetSubtype="0" fill="hold" grpId="2" nodeType="withEffect">
                                  <p:stCondLst>
                                    <p:cond delay="0"/>
                                  </p:stCondLst>
                                  <p:childTnLst>
                                    <p:animEffect transition="out" filter="fade">
                                      <p:cBhvr>
                                        <p:cTn id="28" dur="500"/>
                                        <p:tgtEl>
                                          <p:spTgt spid="16"/>
                                        </p:tgtEl>
                                      </p:cBhvr>
                                    </p:animEffect>
                                    <p:set>
                                      <p:cBhvr>
                                        <p:cTn id="29" dur="1" fill="hold">
                                          <p:stCondLst>
                                            <p:cond delay="499"/>
                                          </p:stCondLst>
                                        </p:cTn>
                                        <p:tgtEl>
                                          <p:spTgt spid="16"/>
                                        </p:tgtEl>
                                        <p:attrNameLst>
                                          <p:attrName>style.visibility</p:attrName>
                                        </p:attrNameLst>
                                      </p:cBhvr>
                                      <p:to>
                                        <p:strVal val="hidden"/>
                                      </p:to>
                                    </p:se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50" presetClass="path" presetSubtype="0" accel="50000" decel="50000" fill="hold" grpId="1" nodeType="clickEffect">
                                  <p:stCondLst>
                                    <p:cond delay="0"/>
                                  </p:stCondLst>
                                  <p:childTnLst>
                                    <p:animMotion origin="layout" path="M -2.77778E-7 -2.59259E-6 L 0.0191 -2.59259E-6 C 0.02795 -2.59259E-6 0.03889 0.02523 0.03889 0.04584 L 0.03889 0.09236 " pathEditMode="relative" rAng="0" ptsTypes="AAAA">
                                      <p:cBhvr>
                                        <p:cTn id="42" dur="1500" fill="hold"/>
                                        <p:tgtEl>
                                          <p:spTgt spid="17"/>
                                        </p:tgtEl>
                                        <p:attrNameLst>
                                          <p:attrName>ppt_x</p:attrName>
                                          <p:attrName>ppt_y</p:attrName>
                                        </p:attrNameLst>
                                      </p:cBhvr>
                                      <p:rCtr x="1944" y="4606"/>
                                    </p:animMotion>
                                  </p:childTnLst>
                                </p:cTn>
                              </p:par>
                              <p:par>
                                <p:cTn id="43" presetID="50" presetClass="path" presetSubtype="0" accel="50000" decel="25000" fill="hold" grpId="1" nodeType="withEffect">
                                  <p:stCondLst>
                                    <p:cond delay="0"/>
                                  </p:stCondLst>
                                  <p:childTnLst>
                                    <p:animMotion origin="layout" path="M -2.77778E-7 -3.7037E-7 L 0.01927 -3.7037E-7 C 0.02795 -3.7037E-7 0.03906 -0.02546 0.03906 -0.04606 L 0.03906 -0.09213 " pathEditMode="relative" rAng="0" ptsTypes="AAAA">
                                      <p:cBhvr>
                                        <p:cTn id="44" dur="1500" fill="hold"/>
                                        <p:tgtEl>
                                          <p:spTgt spid="18"/>
                                        </p:tgtEl>
                                        <p:attrNameLst>
                                          <p:attrName>ppt_x</p:attrName>
                                          <p:attrName>ppt_y</p:attrName>
                                        </p:attrNameLst>
                                      </p:cBhvr>
                                      <p:rCtr x="1944" y="-4606"/>
                                    </p:animMotion>
                                  </p:childTnLst>
                                </p:cTn>
                              </p:par>
                            </p:childTnLst>
                          </p:cTn>
                        </p:par>
                        <p:par>
                          <p:cTn id="45" fill="hold">
                            <p:stCondLst>
                              <p:cond delay="1500"/>
                            </p:stCondLst>
                            <p:childTnLst>
                              <p:par>
                                <p:cTn id="46" presetID="1" presetClass="exit" presetSubtype="0" fill="hold" grpId="2" nodeType="afterEffect">
                                  <p:stCondLst>
                                    <p:cond delay="0"/>
                                  </p:stCondLst>
                                  <p:childTnLst>
                                    <p:set>
                                      <p:cBhvr>
                                        <p:cTn id="47" dur="1" fill="hold">
                                          <p:stCondLst>
                                            <p:cond delay="0"/>
                                          </p:stCondLst>
                                        </p:cTn>
                                        <p:tgtEl>
                                          <p:spTgt spid="18"/>
                                        </p:tgtEl>
                                        <p:attrNameLst>
                                          <p:attrName>style.visibility</p:attrName>
                                        </p:attrNameLst>
                                      </p:cBhvr>
                                      <p:to>
                                        <p:strVal val="hidden"/>
                                      </p:to>
                                    </p:set>
                                  </p:childTnLst>
                                </p:cTn>
                              </p:par>
                            </p:childTnLst>
                          </p:cTn>
                        </p:par>
                        <p:par>
                          <p:cTn id="48" fill="hold">
                            <p:stCondLst>
                              <p:cond delay="1500"/>
                            </p:stCondLst>
                            <p:childTnLst>
                              <p:par>
                                <p:cTn id="49" presetID="63" presetClass="path" presetSubtype="0" decel="50000" fill="hold" grpId="2" nodeType="afterEffect">
                                  <p:stCondLst>
                                    <p:cond delay="0"/>
                                  </p:stCondLst>
                                  <p:childTnLst>
                                    <p:animMotion origin="layout" path="M 0.03889 0.09236 L 0.08733 0.09236 " pathEditMode="relative" rAng="0" ptsTypes="AA">
                                      <p:cBhvr>
                                        <p:cTn id="50" dur="1000" fill="hold"/>
                                        <p:tgtEl>
                                          <p:spTgt spid="17"/>
                                        </p:tgtEl>
                                        <p:attrNameLst>
                                          <p:attrName>ppt_x</p:attrName>
                                          <p:attrName>ppt_y</p:attrName>
                                        </p:attrNameLst>
                                      </p:cBhvr>
                                      <p:rCtr x="241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6" grpId="0" animBg="1"/>
      <p:bldP spid="16" grpId="1" animBg="1"/>
      <p:bldP spid="16" grpId="2" animBg="1"/>
      <p:bldP spid="16" grpId="3" animBg="1"/>
      <p:bldP spid="17" grpId="0" animBg="1"/>
      <p:bldP spid="17" grpId="1" animBg="1"/>
      <p:bldP spid="17" grpId="2" animBg="1"/>
      <p:bldP spid="18" grpId="0" animBg="1"/>
      <p:bldP spid="18" grpId="1" animBg="1"/>
      <p:bldP spid="18"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7</a:t>
            </a:fld>
            <a:endParaRPr lang="en-AU">
              <a:solidFill>
                <a:prstClr val="black">
                  <a:lumMod val="50000"/>
                  <a:lumOff val="50000"/>
                </a:prstClr>
              </a:solidFill>
            </a:endParaRPr>
          </a:p>
        </p:txBody>
      </p:sp>
      <p:sp>
        <p:nvSpPr>
          <p:cNvPr id="4" name="Title 3"/>
          <p:cNvSpPr>
            <a:spLocks noGrp="1"/>
          </p:cNvSpPr>
          <p:nvPr>
            <p:ph type="title"/>
          </p:nvPr>
        </p:nvSpPr>
        <p:spPr/>
        <p:txBody>
          <a:bodyPr/>
          <a:lstStyle/>
          <a:p>
            <a:r>
              <a:rPr lang="en-AU" dirty="0"/>
              <a:t>Example: AND Gateway</a:t>
            </a: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337"/>
          <a:stretch/>
        </p:blipFill>
        <p:spPr>
          <a:xfrm>
            <a:off x="718341" y="1782501"/>
            <a:ext cx="7563302" cy="3304162"/>
          </a:xfrm>
          <a:prstGeom prst="rect">
            <a:avLst/>
          </a:prstGeom>
        </p:spPr>
      </p:pic>
      <p:sp>
        <p:nvSpPr>
          <p:cNvPr id="11" name="Oval 10"/>
          <p:cNvSpPr/>
          <p:nvPr/>
        </p:nvSpPr>
        <p:spPr>
          <a:xfrm>
            <a:off x="959066" y="335166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6" name="Oval 5"/>
          <p:cNvSpPr/>
          <p:nvPr/>
        </p:nvSpPr>
        <p:spPr>
          <a:xfrm>
            <a:off x="2957626" y="3345873"/>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7" name="Oval 6"/>
          <p:cNvSpPr/>
          <p:nvPr/>
        </p:nvSpPr>
        <p:spPr>
          <a:xfrm>
            <a:off x="3330060" y="214889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8" name="Rectangle 5"/>
          <p:cNvSpPr>
            <a:spLocks noChangeArrowheads="1"/>
          </p:cNvSpPr>
          <p:nvPr/>
        </p:nvSpPr>
        <p:spPr bwMode="auto">
          <a:xfrm>
            <a:off x="467544" y="958761"/>
            <a:ext cx="2973891" cy="461665"/>
          </a:xfrm>
          <a:prstGeom prst="rect">
            <a:avLst/>
          </a:prstGeom>
          <a:noFill/>
          <a:ln w="9525">
            <a:noFill/>
            <a:miter lim="800000"/>
            <a:headEnd/>
            <a:tailEnd/>
          </a:ln>
          <a:effectLst/>
        </p:spPr>
        <p:txBody>
          <a:bodyPr wrap="none">
            <a:spAutoFit/>
          </a:bodyPr>
          <a:lstStyle/>
          <a:p>
            <a:r>
              <a:rPr lang="en-AU" sz="2400" b="1" dirty="0">
                <a:solidFill>
                  <a:prstClr val="black">
                    <a:lumMod val="75000"/>
                    <a:lumOff val="25000"/>
                  </a:prstClr>
                </a:solidFill>
              </a:rPr>
              <a:t>Airport security check</a:t>
            </a:r>
          </a:p>
        </p:txBody>
      </p:sp>
    </p:spTree>
    <p:extLst>
      <p:ext uri="{BB962C8B-B14F-4D97-AF65-F5344CB8AC3E}">
        <p14:creationId xmlns:p14="http://schemas.microsoft.com/office/powerpoint/2010/main" val="9828534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3.88889E-6 -4.44444E-6 L 0.21736 -0.00069 " pathEditMode="relative" rAng="0" ptsTypes="AA">
                                      <p:cBhvr>
                                        <p:cTn id="13" dur="2000" fill="hold"/>
                                        <p:tgtEl>
                                          <p:spTgt spid="11"/>
                                        </p:tgtEl>
                                        <p:attrNameLst>
                                          <p:attrName>ppt_x</p:attrName>
                                          <p:attrName>ppt_y</p:attrName>
                                        </p:attrNameLst>
                                      </p:cBhvr>
                                      <p:rCtr x="10868" y="-46"/>
                                    </p:animMotion>
                                  </p:childTnLst>
                                </p:cTn>
                              </p:par>
                            </p:childTnLst>
                          </p:cTn>
                        </p:par>
                      </p:childTnLst>
                    </p:cTn>
                  </p:par>
                  <p:par>
                    <p:cTn id="14" fill="hold">
                      <p:stCondLst>
                        <p:cond delay="indefinite"/>
                      </p:stCondLst>
                      <p:childTnLst>
                        <p:par>
                          <p:cTn id="15" fill="hold">
                            <p:stCondLst>
                              <p:cond delay="0"/>
                            </p:stCondLst>
                            <p:childTnLst>
                              <p:par>
                                <p:cTn id="16" presetID="50" presetClass="path" presetSubtype="0" accel="50000" decel="50000" fill="hold" grpId="2" nodeType="clickEffect">
                                  <p:stCondLst>
                                    <p:cond delay="0"/>
                                  </p:stCondLst>
                                  <p:childTnLst>
                                    <p:animMotion origin="layout" path="M 0.21736 -0.00069 L 0.23871 -0.00069 C 0.24843 -0.00069 0.26041 0.04607 0.26041 0.0845 L 0.26041 0.17014 " pathEditMode="relative" rAng="0" ptsTypes="AAAA">
                                      <p:cBhvr>
                                        <p:cTn id="17" dur="2000" fill="hold"/>
                                        <p:tgtEl>
                                          <p:spTgt spid="11"/>
                                        </p:tgtEl>
                                        <p:attrNameLst>
                                          <p:attrName>ppt_x</p:attrName>
                                          <p:attrName>ppt_y</p:attrName>
                                        </p:attrNameLst>
                                      </p:cBhvr>
                                      <p:rCtr x="2153" y="8542"/>
                                    </p:animMotion>
                                  </p:childTnLst>
                                </p:cTn>
                              </p:par>
                              <p:par>
                                <p:cTn id="18" presetID="1" presetClass="entr" presetSubtype="0" fill="hold" grpId="3"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50" presetClass="path" presetSubtype="0" accel="50000" decel="50000" fill="hold" grpId="0" nodeType="withEffect">
                                  <p:stCondLst>
                                    <p:cond delay="0"/>
                                  </p:stCondLst>
                                  <p:childTnLst>
                                    <p:animMotion origin="layout" path="M 3.33934E-17 4.44444E-6 L 0.02049 4.44444E-6 C 0.02969 4.44444E-6 0.04115 -0.04908 0.04115 -0.08843 L 0.04115 -0.17616 " pathEditMode="relative" rAng="0" ptsTypes="AAAA">
                                      <p:cBhvr>
                                        <p:cTn id="21" dur="2000" fill="hold"/>
                                        <p:tgtEl>
                                          <p:spTgt spid="6"/>
                                        </p:tgtEl>
                                        <p:attrNameLst>
                                          <p:attrName>ppt_x</p:attrName>
                                          <p:attrName>ppt_y</p:attrName>
                                        </p:attrNameLst>
                                      </p:cBhvr>
                                      <p:rCtr x="2049" y="-8819"/>
                                    </p:animMotion>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grpId="2" nodeType="clickEffect">
                                  <p:stCondLst>
                                    <p:cond delay="0"/>
                                  </p:stCondLst>
                                  <p:childTnLst>
                                    <p:animMotion origin="layout" path="M 0.03941 -0.17546 L 0.24723 -0.17546 " pathEditMode="fixed" rAng="0" ptsTypes="AA">
                                      <p:cBhvr>
                                        <p:cTn id="25" dur="2000" fill="hold"/>
                                        <p:tgtEl>
                                          <p:spTgt spid="6"/>
                                        </p:tgtEl>
                                        <p:attrNameLst>
                                          <p:attrName>ppt_x</p:attrName>
                                          <p:attrName>ppt_y</p:attrName>
                                        </p:attrNameLst>
                                      </p:cBhvr>
                                      <p:rCtr x="10972" y="-23"/>
                                    </p:animMotion>
                                  </p:childTnLst>
                                </p:cTn>
                              </p:par>
                            </p:childTnLst>
                          </p:cTn>
                        </p:par>
                        <p:par>
                          <p:cTn id="26" fill="hold">
                            <p:stCondLst>
                              <p:cond delay="2000"/>
                            </p:stCondLst>
                            <p:childTnLst>
                              <p:par>
                                <p:cTn id="27" presetID="63" presetClass="path" presetSubtype="0" accel="50000" decel="50000" fill="hold" grpId="3" nodeType="afterEffect">
                                  <p:stCondLst>
                                    <p:cond delay="0"/>
                                  </p:stCondLst>
                                  <p:childTnLst>
                                    <p:animMotion origin="layout" path="M 0.26041 0.17431 L 0.46718 0.17385 " pathEditMode="relative" rAng="0" ptsTypes="AA">
                                      <p:cBhvr>
                                        <p:cTn id="28" dur="2000" fill="hold"/>
                                        <p:tgtEl>
                                          <p:spTgt spid="11"/>
                                        </p:tgtEl>
                                        <p:attrNameLst>
                                          <p:attrName>ppt_x</p:attrName>
                                          <p:attrName>ppt_y</p:attrName>
                                        </p:attrNameLst>
                                      </p:cBhvr>
                                      <p:rCtr x="10330" y="-23"/>
                                    </p:animMotion>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6"/>
                                        </p:tgtEl>
                                        <p:attrNameLst>
                                          <p:attrName>style.visibility</p:attrName>
                                        </p:attrNameLst>
                                      </p:cBhvr>
                                      <p:to>
                                        <p:strVal val="hidden"/>
                                      </p:to>
                                    </p:set>
                                  </p:childTnLst>
                                </p:cTn>
                              </p:par>
                              <p:par>
                                <p:cTn id="33" presetID="63" presetClass="path" presetSubtype="0" accel="50000" decel="50000" fill="hold" grpId="6" nodeType="withEffect">
                                  <p:stCondLst>
                                    <p:cond delay="0"/>
                                  </p:stCondLst>
                                  <p:childTnLst>
                                    <p:animMotion origin="layout" path="M 0.26041 0.17709 L 0.37569 0.17223 " pathEditMode="relative" rAng="0" ptsTypes="AA">
                                      <p:cBhvr>
                                        <p:cTn id="34" dur="2000" fill="hold"/>
                                        <p:tgtEl>
                                          <p:spTgt spid="11"/>
                                        </p:tgtEl>
                                        <p:attrNameLst>
                                          <p:attrName>ppt_x</p:attrName>
                                          <p:attrName>ppt_y</p:attrName>
                                        </p:attrNameLst>
                                      </p:cBhvr>
                                      <p:rCtr x="5764" y="-255"/>
                                    </p:animMotion>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par>
                          <p:cTn id="37" fill="hold">
                            <p:stCondLst>
                              <p:cond delay="2000"/>
                            </p:stCondLst>
                            <p:childTnLst>
                              <p:par>
                                <p:cTn id="38" presetID="63" presetClass="path" presetSubtype="0" accel="50000" decel="50000" fill="hold" grpId="1" nodeType="afterEffect">
                                  <p:stCondLst>
                                    <p:cond delay="0"/>
                                  </p:stCondLst>
                                  <p:childTnLst>
                                    <p:animMotion origin="layout" path="M -1.11111E-6 -2.96296E-6 L 0.2033 -0.00046 " pathEditMode="relative" rAng="0" ptsTypes="AA">
                                      <p:cBhvr>
                                        <p:cTn id="39" dur="2000" fill="hold"/>
                                        <p:tgtEl>
                                          <p:spTgt spid="7"/>
                                        </p:tgtEl>
                                        <p:attrNameLst>
                                          <p:attrName>ppt_x</p:attrName>
                                          <p:attrName>ppt_y</p:attrName>
                                        </p:attrNameLst>
                                      </p:cBhvr>
                                      <p:rCtr x="10156" y="-23"/>
                                    </p:animMotion>
                                  </p:childTnLst>
                                </p:cTn>
                              </p:par>
                              <p:par>
                                <p:cTn id="40" presetID="63" presetClass="path" presetSubtype="0" accel="50000" decel="50000" fill="hold" grpId="7" nodeType="withEffect">
                                  <p:stCondLst>
                                    <p:cond delay="0"/>
                                  </p:stCondLst>
                                  <p:childTnLst>
                                    <p:animMotion origin="layout" path="M 0.37569 0.17222 L 0.46718 0.17477 " pathEditMode="relative" rAng="0" ptsTypes="AA">
                                      <p:cBhvr>
                                        <p:cTn id="41" dur="4000" fill="hold"/>
                                        <p:tgtEl>
                                          <p:spTgt spid="11"/>
                                        </p:tgtEl>
                                        <p:attrNameLst>
                                          <p:attrName>ppt_x</p:attrName>
                                          <p:attrName>ppt_y</p:attrName>
                                        </p:attrNameLst>
                                      </p:cBhvr>
                                      <p:rCtr x="4653" y="-23"/>
                                    </p:animMotion>
                                  </p:childTnLst>
                                </p:cTn>
                              </p:par>
                            </p:childTnLst>
                          </p:cTn>
                        </p:par>
                      </p:childTnLst>
                    </p:cTn>
                  </p:par>
                  <p:par>
                    <p:cTn id="42" fill="hold">
                      <p:stCondLst>
                        <p:cond delay="indefinite"/>
                      </p:stCondLst>
                      <p:childTnLst>
                        <p:par>
                          <p:cTn id="43" fill="hold">
                            <p:stCondLst>
                              <p:cond delay="0"/>
                            </p:stCondLst>
                            <p:childTnLst>
                              <p:par>
                                <p:cTn id="44" presetID="50" presetClass="path" presetSubtype="0" accel="50000" decel="25000" fill="hold" grpId="4" nodeType="clickEffect">
                                  <p:stCondLst>
                                    <p:cond delay="0"/>
                                  </p:stCondLst>
                                  <p:childTnLst>
                                    <p:animMotion origin="layout" path="M 0.46649 0.17385 L 0.48177 0.17385 C 0.48854 0.17385 0.49722 0.11829 0.49722 0.08195 L 0.49722 -0.00277 " pathEditMode="relative" rAng="0" ptsTypes="AAAA">
                                      <p:cBhvr>
                                        <p:cTn id="45" dur="2000" fill="hold"/>
                                        <p:tgtEl>
                                          <p:spTgt spid="11"/>
                                        </p:tgtEl>
                                        <p:attrNameLst>
                                          <p:attrName>ppt_x</p:attrName>
                                          <p:attrName>ppt_y</p:attrName>
                                        </p:attrNameLst>
                                      </p:cBhvr>
                                      <p:rCtr x="1528" y="-8843"/>
                                    </p:animMotion>
                                  </p:childTnLst>
                                </p:cTn>
                              </p:par>
                              <p:par>
                                <p:cTn id="46" presetID="50" presetClass="path" presetSubtype="0" accel="50000" decel="25000" fill="hold" grpId="2" nodeType="withEffect">
                                  <p:stCondLst>
                                    <p:cond delay="0"/>
                                  </p:stCondLst>
                                  <p:childTnLst>
                                    <p:animMotion origin="layout" path="M 0.20642 -0.00092 L 0.22188 -0.00092 C 0.22882 -0.00092 0.23767 0.04676 0.23767 0.08542 L 0.23767 0.17199 " pathEditMode="relative" rAng="0" ptsTypes="AAAA">
                                      <p:cBhvr>
                                        <p:cTn id="47" dur="2000" fill="hold"/>
                                        <p:tgtEl>
                                          <p:spTgt spid="7"/>
                                        </p:tgtEl>
                                        <p:attrNameLst>
                                          <p:attrName>ppt_x</p:attrName>
                                          <p:attrName>ppt_y</p:attrName>
                                        </p:attrNameLst>
                                      </p:cBhvr>
                                      <p:rCtr x="1563" y="8634"/>
                                    </p:animMotion>
                                  </p:childTnLst>
                                </p:cTn>
                              </p:par>
                            </p:childTnLst>
                          </p:cTn>
                        </p:par>
                        <p:par>
                          <p:cTn id="48" fill="hold">
                            <p:stCondLst>
                              <p:cond delay="2000"/>
                            </p:stCondLst>
                            <p:childTnLst>
                              <p:par>
                                <p:cTn id="49" presetID="1" presetClass="exit" presetSubtype="0" fill="hold" grpId="3" nodeType="afterEffect">
                                  <p:stCondLst>
                                    <p:cond delay="0"/>
                                  </p:stCondLst>
                                  <p:childTnLst>
                                    <p:set>
                                      <p:cBhvr>
                                        <p:cTn id="50" dur="1" fill="hold">
                                          <p:stCondLst>
                                            <p:cond delay="0"/>
                                          </p:stCondLst>
                                        </p:cTn>
                                        <p:tgtEl>
                                          <p:spTgt spid="7"/>
                                        </p:tgtEl>
                                        <p:attrNameLst>
                                          <p:attrName>style.visibility</p:attrName>
                                        </p:attrNameLst>
                                      </p:cBhvr>
                                      <p:to>
                                        <p:strVal val="hidden"/>
                                      </p:to>
                                    </p:set>
                                  </p:childTnLst>
                                </p:cTn>
                              </p:par>
                            </p:childTnLst>
                          </p:cTn>
                        </p:par>
                        <p:par>
                          <p:cTn id="51" fill="hold">
                            <p:stCondLst>
                              <p:cond delay="2000"/>
                            </p:stCondLst>
                            <p:childTnLst>
                              <p:par>
                                <p:cTn id="52" presetID="42" presetClass="path" presetSubtype="0" decel="50000" fill="hold" grpId="5" nodeType="afterEffect">
                                  <p:stCondLst>
                                    <p:cond delay="0"/>
                                  </p:stCondLst>
                                  <p:childTnLst>
                                    <p:animMotion origin="layout" path="M 0.49618 -0.00046 L 0.53611 -0.00069 " pathEditMode="relative" rAng="0" ptsTypes="AA">
                                      <p:cBhvr>
                                        <p:cTn id="53" dur="1000" fill="hold"/>
                                        <p:tgtEl>
                                          <p:spTgt spid="11"/>
                                        </p:tgtEl>
                                        <p:attrNameLst>
                                          <p:attrName>ppt_x</p:attrName>
                                          <p:attrName>ppt_y</p:attrName>
                                        </p:attrNameLst>
                                      </p:cBhvr>
                                      <p:rCtr x="1997" y="-23"/>
                                    </p:animMotion>
                                  </p:childTnLst>
                                </p:cTn>
                              </p:par>
                            </p:childTnLst>
                          </p:cTn>
                        </p:par>
                        <p:par>
                          <p:cTn id="54" fill="hold">
                            <p:stCondLst>
                              <p:cond delay="3000"/>
                            </p:stCondLst>
                            <p:childTnLst>
                              <p:par>
                                <p:cTn id="55" presetID="63" presetClass="path" presetSubtype="0" accel="50000" decel="50000" fill="hold" grpId="8" nodeType="afterEffect">
                                  <p:stCondLst>
                                    <p:cond delay="0"/>
                                  </p:stCondLst>
                                  <p:childTnLst>
                                    <p:animMotion origin="layout" path="M 0.53611 -0.00069 L 0.75052 -0.00069 " pathEditMode="relative" rAng="0" ptsTypes="AA">
                                      <p:cBhvr>
                                        <p:cTn id="56" dur="2000" fill="hold"/>
                                        <p:tgtEl>
                                          <p:spTgt spid="11"/>
                                        </p:tgtEl>
                                        <p:attrNameLst>
                                          <p:attrName>ppt_x</p:attrName>
                                          <p:attrName>ppt_y</p:attrName>
                                        </p:attrNameLst>
                                      </p:cBhvr>
                                      <p:rCtr x="11146" y="0"/>
                                    </p:animMotion>
                                  </p:childTnLst>
                                </p:cTn>
                              </p:par>
                            </p:childTnLst>
                          </p:cTn>
                        </p:par>
                        <p:par>
                          <p:cTn id="57" fill="hold">
                            <p:stCondLst>
                              <p:cond delay="5000"/>
                            </p:stCondLst>
                            <p:childTnLst>
                              <p:par>
                                <p:cTn id="58" presetID="53" presetClass="exit" presetSubtype="32" fill="hold" grpId="9" nodeType="afterEffect">
                                  <p:stCondLst>
                                    <p:cond delay="0"/>
                                  </p:stCondLst>
                                  <p:childTnLst>
                                    <p:anim calcmode="lin" valueType="num">
                                      <p:cBhvr>
                                        <p:cTn id="59" dur="500"/>
                                        <p:tgtEl>
                                          <p:spTgt spid="11"/>
                                        </p:tgtEl>
                                        <p:attrNameLst>
                                          <p:attrName>ppt_w</p:attrName>
                                        </p:attrNameLst>
                                      </p:cBhvr>
                                      <p:tavLst>
                                        <p:tav tm="0">
                                          <p:val>
                                            <p:strVal val="ppt_w"/>
                                          </p:val>
                                        </p:tav>
                                        <p:tav tm="100000">
                                          <p:val>
                                            <p:fltVal val="0"/>
                                          </p:val>
                                        </p:tav>
                                      </p:tavLst>
                                    </p:anim>
                                    <p:anim calcmode="lin" valueType="num">
                                      <p:cBhvr>
                                        <p:cTn id="60" dur="500"/>
                                        <p:tgtEl>
                                          <p:spTgt spid="11"/>
                                        </p:tgtEl>
                                        <p:attrNameLst>
                                          <p:attrName>ppt_h</p:attrName>
                                        </p:attrNameLst>
                                      </p:cBhvr>
                                      <p:tavLst>
                                        <p:tav tm="0">
                                          <p:val>
                                            <p:strVal val="ppt_h"/>
                                          </p:val>
                                        </p:tav>
                                        <p:tav tm="100000">
                                          <p:val>
                                            <p:fltVal val="0"/>
                                          </p:val>
                                        </p:tav>
                                      </p:tavLst>
                                    </p:anim>
                                    <p:animEffect transition="out" filter="fade">
                                      <p:cBhvr>
                                        <p:cTn id="61" dur="500"/>
                                        <p:tgtEl>
                                          <p:spTgt spid="11"/>
                                        </p:tgtEl>
                                      </p:cBhvr>
                                    </p:animEffect>
                                    <p:set>
                                      <p:cBhvr>
                                        <p:cTn id="6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1" grpId="4" animBg="1"/>
      <p:bldP spid="11" grpId="5" animBg="1"/>
      <p:bldP spid="11" grpId="6" animBg="1"/>
      <p:bldP spid="11" grpId="7" animBg="1"/>
      <p:bldP spid="11" grpId="8" animBg="1"/>
      <p:bldP spid="11" grpId="9" animBg="1"/>
      <p:bldP spid="6" grpId="0" animBg="1"/>
      <p:bldP spid="6" grpId="1" animBg="1"/>
      <p:bldP spid="6" grpId="2" animBg="1"/>
      <p:bldP spid="6" grpId="3" animBg="1"/>
      <p:bldP spid="7" grpId="0" animBg="1"/>
      <p:bldP spid="7" grpId="1" animBg="1"/>
      <p:bldP spid="7" grpId="2" animBg="1"/>
      <p:bldP spid="7" grpId="3"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nvGraphicFramePr>
        <p:xfrm>
          <a:off x="-229738" y="2014990"/>
          <a:ext cx="9009889" cy="3051410"/>
        </p:xfrm>
        <a:graphic>
          <a:graphicData uri="http://schemas.openxmlformats.org/presentationml/2006/ole">
            <mc:AlternateContent xmlns:mc="http://schemas.openxmlformats.org/markup-compatibility/2006">
              <mc:Choice xmlns:v="urn:schemas-microsoft-com:vml" Requires="v">
                <p:oleObj name="Visio" r:id="rId3" imgW="9345168" imgH="3188336" progId="Visio.Drawing.11">
                  <p:embed/>
                </p:oleObj>
              </mc:Choice>
              <mc:Fallback>
                <p:oleObj name="Visio" r:id="rId3" imgW="9345168" imgH="3188336" progId="Visio.Drawing.11">
                  <p:embed/>
                  <p:pic>
                    <p:nvPicPr>
                      <p:cNvPr id="0" name=""/>
                      <p:cNvPicPr>
                        <a:picLocks noChangeAspect="1" noChangeArrowheads="1"/>
                      </p:cNvPicPr>
                      <p:nvPr/>
                    </p:nvPicPr>
                    <p:blipFill>
                      <a:blip r:embed="rId4"/>
                      <a:srcRect/>
                      <a:stretch>
                        <a:fillRect/>
                      </a:stretch>
                    </p:blipFill>
                    <p:spPr bwMode="auto">
                      <a:xfrm>
                        <a:off x="-229738" y="2014990"/>
                        <a:ext cx="9009889" cy="3051410"/>
                      </a:xfrm>
                      <a:prstGeom prst="rect">
                        <a:avLst/>
                      </a:prstGeom>
                      <a:noFill/>
                      <a:ln>
                        <a:noFill/>
                      </a:ln>
                      <a:effectLst/>
                    </p:spPr>
                  </p:pic>
                </p:oleObj>
              </mc:Fallback>
            </mc:AlternateContent>
          </a:graphicData>
        </a:graphic>
      </p:graphicFrame>
      <p:sp>
        <p:nvSpPr>
          <p:cNvPr id="994306" name="Rectangle 2"/>
          <p:cNvSpPr>
            <a:spLocks noGrp="1" noChangeArrowheads="1"/>
          </p:cNvSpPr>
          <p:nvPr>
            <p:ph type="title"/>
          </p:nvPr>
        </p:nvSpPr>
        <p:spPr/>
        <p:txBody>
          <a:bodyPr/>
          <a:lstStyle/>
          <a:p>
            <a:r>
              <a:rPr lang="en-AU" dirty="0"/>
              <a:t>Revised solution</a:t>
            </a:r>
          </a:p>
        </p:txBody>
      </p:sp>
      <p:sp>
        <p:nvSpPr>
          <p:cNvPr id="994308" name="Text Box 4"/>
          <p:cNvSpPr txBox="1">
            <a:spLocks noChangeArrowheads="1"/>
          </p:cNvSpPr>
          <p:nvPr/>
        </p:nvSpPr>
        <p:spPr bwMode="auto">
          <a:xfrm>
            <a:off x="2703272" y="2928114"/>
            <a:ext cx="1506537"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XOR-split</a:t>
            </a:r>
          </a:p>
        </p:txBody>
      </p:sp>
      <p:sp>
        <p:nvSpPr>
          <p:cNvPr id="994309" name="Text Box 5"/>
          <p:cNvSpPr txBox="1">
            <a:spLocks noChangeArrowheads="1"/>
          </p:cNvSpPr>
          <p:nvPr/>
        </p:nvSpPr>
        <p:spPr bwMode="auto">
          <a:xfrm>
            <a:off x="3896871" y="4103887"/>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AND-split</a:t>
            </a:r>
          </a:p>
        </p:txBody>
      </p:sp>
      <p:sp>
        <p:nvSpPr>
          <p:cNvPr id="994310" name="Text Box 6"/>
          <p:cNvSpPr txBox="1">
            <a:spLocks noChangeArrowheads="1"/>
          </p:cNvSpPr>
          <p:nvPr/>
        </p:nvSpPr>
        <p:spPr bwMode="auto">
          <a:xfrm>
            <a:off x="5781976" y="4103887"/>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AND-join</a:t>
            </a:r>
          </a:p>
        </p:txBody>
      </p:sp>
      <p:graphicFrame>
        <p:nvGraphicFramePr>
          <p:cNvPr id="994316" name="Object 12"/>
          <p:cNvGraphicFramePr>
            <a:graphicFrameLocks noChangeAspect="1"/>
          </p:cNvGraphicFramePr>
          <p:nvPr/>
        </p:nvGraphicFramePr>
        <p:xfrm>
          <a:off x="2185988" y="2879725"/>
          <a:ext cx="5002212" cy="1408113"/>
        </p:xfrm>
        <a:graphic>
          <a:graphicData uri="http://schemas.openxmlformats.org/presentationml/2006/ole">
            <mc:AlternateContent xmlns:mc="http://schemas.openxmlformats.org/markup-compatibility/2006">
              <mc:Choice xmlns:v="urn:schemas-microsoft-com:vml" Requires="v">
                <p:oleObj name="Visio" r:id="rId5" imgW="4701069" imgH="1369302" progId="Visio.Drawing.11">
                  <p:embed/>
                </p:oleObj>
              </mc:Choice>
              <mc:Fallback>
                <p:oleObj name="Visio" r:id="rId5" imgW="4701069" imgH="1369302" progId="Visio.Drawing.11">
                  <p:embed/>
                  <p:pic>
                    <p:nvPicPr>
                      <p:cNvPr id="0" name=""/>
                      <p:cNvPicPr>
                        <a:picLocks noChangeAspect="1" noChangeArrowheads="1"/>
                      </p:cNvPicPr>
                      <p:nvPr/>
                    </p:nvPicPr>
                    <p:blipFill>
                      <a:blip r:embed="rId6"/>
                      <a:srcRect/>
                      <a:stretch>
                        <a:fillRect/>
                      </a:stretch>
                    </p:blipFill>
                    <p:spPr bwMode="auto">
                      <a:xfrm>
                        <a:off x="2185988" y="2879725"/>
                        <a:ext cx="5002212"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8</a:t>
            </a:fld>
            <a:endParaRPr lang="en-AU">
              <a:solidFill>
                <a:prstClr val="black">
                  <a:lumMod val="50000"/>
                  <a:lumOff val="50000"/>
                </a:prstClr>
              </a:solidFill>
            </a:endParaRPr>
          </a:p>
        </p:txBody>
      </p:sp>
      <p:sp>
        <p:nvSpPr>
          <p:cNvPr id="9" name="Rectangle 5"/>
          <p:cNvSpPr>
            <a:spLocks noChangeArrowheads="1"/>
          </p:cNvSpPr>
          <p:nvPr/>
        </p:nvSpPr>
        <p:spPr bwMode="auto">
          <a:xfrm>
            <a:off x="467544" y="958761"/>
            <a:ext cx="1953805" cy="461665"/>
          </a:xfrm>
          <a:prstGeom prst="rect">
            <a:avLst/>
          </a:prstGeom>
          <a:noFill/>
          <a:ln w="9525">
            <a:noFill/>
            <a:miter lim="800000"/>
            <a:headEnd/>
            <a:tailEnd/>
          </a:ln>
          <a:effectLst/>
        </p:spPr>
        <p:txBody>
          <a:bodyPr wrap="none">
            <a:spAutoFit/>
          </a:bodyPr>
          <a:lstStyle/>
          <a:p>
            <a:r>
              <a:rPr lang="en-AU" sz="2400" b="1" dirty="0">
                <a:solidFill>
                  <a:prstClr val="black">
                    <a:lumMod val="75000"/>
                    <a:lumOff val="25000"/>
                  </a:prstClr>
                </a:solidFill>
              </a:rPr>
              <a:t>Order-to-cash</a:t>
            </a:r>
          </a:p>
        </p:txBody>
      </p:sp>
    </p:spTree>
    <p:extLst>
      <p:ext uri="{BB962C8B-B14F-4D97-AF65-F5344CB8AC3E}">
        <p14:creationId xmlns:p14="http://schemas.microsoft.com/office/powerpoint/2010/main" val="20854387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4316"/>
                                        </p:tgtEl>
                                        <p:attrNameLst>
                                          <p:attrName>style.visibility</p:attrName>
                                        </p:attrNameLst>
                                      </p:cBhvr>
                                      <p:to>
                                        <p:strVal val="visible"/>
                                      </p:to>
                                    </p:set>
                                    <p:animEffect transition="in" filter="fade">
                                      <p:cBhvr>
                                        <p:cTn id="7" dur="1000"/>
                                        <p:tgtEl>
                                          <p:spTgt spid="99431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994308"/>
                                        </p:tgtEl>
                                        <p:attrNameLst>
                                          <p:attrName>style.visibility</p:attrName>
                                        </p:attrNameLst>
                                      </p:cBhvr>
                                      <p:to>
                                        <p:strVal val="visible"/>
                                      </p:to>
                                    </p:set>
                                    <p:animEffect transition="in" filter="fade">
                                      <p:cBhvr>
                                        <p:cTn id="11" dur="1000"/>
                                        <p:tgtEl>
                                          <p:spTgt spid="99430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94309"/>
                                        </p:tgtEl>
                                        <p:attrNameLst>
                                          <p:attrName>style.visibility</p:attrName>
                                        </p:attrNameLst>
                                      </p:cBhvr>
                                      <p:to>
                                        <p:strVal val="visible"/>
                                      </p:to>
                                    </p:set>
                                    <p:animEffect transition="in" filter="fade">
                                      <p:cBhvr>
                                        <p:cTn id="14" dur="1000"/>
                                        <p:tgtEl>
                                          <p:spTgt spid="99430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94310"/>
                                        </p:tgtEl>
                                        <p:attrNameLst>
                                          <p:attrName>style.visibility</p:attrName>
                                        </p:attrNameLst>
                                      </p:cBhvr>
                                      <p:to>
                                        <p:strVal val="visible"/>
                                      </p:to>
                                    </p:set>
                                    <p:animEffect transition="in" filter="fade">
                                      <p:cBhvr>
                                        <p:cTn id="17" dur="1000"/>
                                        <p:tgtEl>
                                          <p:spTgt spid="994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4308" grpId="0"/>
      <p:bldP spid="994309" grpId="0"/>
      <p:bldP spid="9943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9" name="Rectangle 3"/>
          <p:cNvSpPr>
            <a:spLocks noGrp="1" noChangeArrowheads="1"/>
          </p:cNvSpPr>
          <p:nvPr>
            <p:ph idx="1"/>
          </p:nvPr>
        </p:nvSpPr>
        <p:spPr>
          <a:xfrm>
            <a:off x="467544" y="1443571"/>
            <a:ext cx="8136904" cy="4824536"/>
          </a:xfrm>
        </p:spPr>
        <p:txBody>
          <a:bodyPr/>
          <a:lstStyle/>
          <a:p>
            <a:pPr marL="0" indent="0">
              <a:buFontTx/>
              <a:buNone/>
            </a:pPr>
            <a:r>
              <a:rPr lang="en-AU" sz="2400" dirty="0"/>
              <a:t>A company has two warehouses, one in Amsterdam, the other in Hamburg, that store different products. When an order is received, it is distributed across these warehouses: if some of the relevant products are maintained in Amsterdam, a sub-order is sent there; likewise, if some relevant products are maintained in Hamburg, a sub-order is sent there. Afterwards, the order is registered and the process completes.</a:t>
            </a:r>
          </a:p>
        </p:txBody>
      </p:sp>
      <p:sp>
        <p:nvSpPr>
          <p:cNvPr id="1094658" name="Rectangle 2"/>
          <p:cNvSpPr>
            <a:spLocks noGrp="1" noChangeArrowheads="1"/>
          </p:cNvSpPr>
          <p:nvPr>
            <p:ph type="title"/>
          </p:nvPr>
        </p:nvSpPr>
        <p:spPr/>
        <p:txBody>
          <a:bodyPr/>
          <a:lstStyle/>
          <a:p>
            <a:r>
              <a:rPr lang="en-AU" dirty="0"/>
              <a:t>XOR / AND are not always what we need...</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9</a:t>
            </a:fld>
            <a:endParaRPr lang="en-AU">
              <a:solidFill>
                <a:prstClr val="black">
                  <a:lumMod val="50000"/>
                  <a:lumOff val="50000"/>
                </a:prstClr>
              </a:solidFill>
            </a:endParaRPr>
          </a:p>
        </p:txBody>
      </p:sp>
      <p:sp>
        <p:nvSpPr>
          <p:cNvPr id="6" name="Rectangle 5"/>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r>
              <a:rPr lang="en-AU" sz="2400" b="1" dirty="0">
                <a:solidFill>
                  <a:prstClr val="black">
                    <a:lumMod val="75000"/>
                    <a:lumOff val="25000"/>
                  </a:prstClr>
                </a:solidFill>
              </a:rPr>
              <a:t>Order distribution process</a:t>
            </a:r>
          </a:p>
        </p:txBody>
      </p:sp>
    </p:spTree>
    <p:extLst>
      <p:ext uri="{BB962C8B-B14F-4D97-AF65-F5344CB8AC3E}">
        <p14:creationId xmlns:p14="http://schemas.microsoft.com/office/powerpoint/2010/main" val="698169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155" y="1663347"/>
            <a:ext cx="8691996" cy="4312878"/>
          </a:xfrm>
          <a:prstGeom prst="rect">
            <a:avLst/>
          </a:prstGeom>
        </p:spPr>
      </p:pic>
      <p:sp>
        <p:nvSpPr>
          <p:cNvPr id="1095684" name="Rectangle 4"/>
          <p:cNvSpPr>
            <a:spLocks noGrp="1" noChangeArrowheads="1"/>
          </p:cNvSpPr>
          <p:nvPr>
            <p:ph type="title"/>
          </p:nvPr>
        </p:nvSpPr>
        <p:spPr/>
        <p:txBody>
          <a:bodyPr/>
          <a:lstStyle/>
          <a:p>
            <a:r>
              <a:rPr lang="en-AU" dirty="0"/>
              <a:t>Solution 1</a:t>
            </a:r>
            <a:endParaRPr lang="en-AU" sz="2400" i="1" dirty="0"/>
          </a:p>
        </p:txBody>
      </p:sp>
      <p:sp>
        <p:nvSpPr>
          <p:cNvPr id="1095688" name="Text Box 8"/>
          <p:cNvSpPr txBox="1">
            <a:spLocks noChangeArrowheads="1"/>
          </p:cNvSpPr>
          <p:nvPr/>
        </p:nvSpPr>
        <p:spPr bwMode="auto">
          <a:xfrm>
            <a:off x="1852671" y="2494580"/>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XOR-split</a:t>
            </a:r>
          </a:p>
        </p:txBody>
      </p:sp>
      <p:sp>
        <p:nvSpPr>
          <p:cNvPr id="1095689" name="Text Box 9"/>
          <p:cNvSpPr txBox="1">
            <a:spLocks noChangeArrowheads="1"/>
          </p:cNvSpPr>
          <p:nvPr/>
        </p:nvSpPr>
        <p:spPr bwMode="auto">
          <a:xfrm>
            <a:off x="5668172" y="2494580"/>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XOR-join</a:t>
            </a:r>
          </a:p>
        </p:txBody>
      </p:sp>
      <p:sp>
        <p:nvSpPr>
          <p:cNvPr id="1095690" name="Text Box 10"/>
          <p:cNvSpPr txBox="1">
            <a:spLocks noChangeArrowheads="1"/>
          </p:cNvSpPr>
          <p:nvPr/>
        </p:nvSpPr>
        <p:spPr bwMode="auto">
          <a:xfrm>
            <a:off x="2124188" y="5135267"/>
            <a:ext cx="15065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AND-split</a:t>
            </a:r>
          </a:p>
        </p:txBody>
      </p:sp>
      <p:sp>
        <p:nvSpPr>
          <p:cNvPr id="1095691" name="Text Box 11"/>
          <p:cNvSpPr txBox="1">
            <a:spLocks noChangeArrowheads="1"/>
          </p:cNvSpPr>
          <p:nvPr/>
        </p:nvSpPr>
        <p:spPr bwMode="auto">
          <a:xfrm>
            <a:off x="5939872" y="5135267"/>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AND-join</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10</a:t>
            </a:fld>
            <a:endParaRPr lang="en-AU">
              <a:solidFill>
                <a:prstClr val="black">
                  <a:lumMod val="50000"/>
                  <a:lumOff val="50000"/>
                </a:prstClr>
              </a:solidFill>
            </a:endParaRPr>
          </a:p>
        </p:txBody>
      </p:sp>
      <p:sp>
        <p:nvSpPr>
          <p:cNvPr id="9" name="Rectangle 8"/>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r>
              <a:rPr lang="en-AU" sz="2400" b="1" dirty="0">
                <a:solidFill>
                  <a:prstClr val="black">
                    <a:lumMod val="75000"/>
                    <a:lumOff val="25000"/>
                  </a:prstClr>
                </a:solidFill>
              </a:rPr>
              <a:t>Order distribution process</a:t>
            </a:r>
          </a:p>
        </p:txBody>
      </p:sp>
    </p:spTree>
    <p:extLst>
      <p:ext uri="{BB962C8B-B14F-4D97-AF65-F5344CB8AC3E}">
        <p14:creationId xmlns:p14="http://schemas.microsoft.com/office/powerpoint/2010/main" val="42049240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5688"/>
                                        </p:tgtEl>
                                        <p:attrNameLst>
                                          <p:attrName>style.visibility</p:attrName>
                                        </p:attrNameLst>
                                      </p:cBhvr>
                                      <p:to>
                                        <p:strVal val="visible"/>
                                      </p:to>
                                    </p:set>
                                    <p:animEffect transition="in" filter="fade">
                                      <p:cBhvr>
                                        <p:cTn id="7" dur="500"/>
                                        <p:tgtEl>
                                          <p:spTgt spid="109568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95689"/>
                                        </p:tgtEl>
                                        <p:attrNameLst>
                                          <p:attrName>style.visibility</p:attrName>
                                        </p:attrNameLst>
                                      </p:cBhvr>
                                      <p:to>
                                        <p:strVal val="visible"/>
                                      </p:to>
                                    </p:set>
                                    <p:animEffect transition="in" filter="fade">
                                      <p:cBhvr>
                                        <p:cTn id="11" dur="500"/>
                                        <p:tgtEl>
                                          <p:spTgt spid="109568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95690"/>
                                        </p:tgtEl>
                                        <p:attrNameLst>
                                          <p:attrName>style.visibility</p:attrName>
                                        </p:attrNameLst>
                                      </p:cBhvr>
                                      <p:to>
                                        <p:strVal val="visible"/>
                                      </p:to>
                                    </p:set>
                                    <p:animEffect transition="in" filter="fade">
                                      <p:cBhvr>
                                        <p:cTn id="15" dur="500"/>
                                        <p:tgtEl>
                                          <p:spTgt spid="109569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95691"/>
                                        </p:tgtEl>
                                        <p:attrNameLst>
                                          <p:attrName>style.visibility</p:attrName>
                                        </p:attrNameLst>
                                      </p:cBhvr>
                                      <p:to>
                                        <p:strVal val="visible"/>
                                      </p:to>
                                    </p:set>
                                    <p:animEffect transition="in" filter="fade">
                                      <p:cBhvr>
                                        <p:cTn id="19" dur="500"/>
                                        <p:tgtEl>
                                          <p:spTgt spid="1095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688" grpId="0"/>
      <p:bldP spid="1095689" grpId="0"/>
      <p:bldP spid="1095690" grpId="0"/>
      <p:bldP spid="109569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783" y="1529330"/>
            <a:ext cx="8532440" cy="4151090"/>
          </a:xfrm>
          <a:prstGeom prst="rect">
            <a:avLst/>
          </a:prstGeom>
        </p:spPr>
      </p:pic>
      <p:sp>
        <p:nvSpPr>
          <p:cNvPr id="1101826" name="Rectangle 2"/>
          <p:cNvSpPr>
            <a:spLocks noGrp="1" noChangeArrowheads="1"/>
          </p:cNvSpPr>
          <p:nvPr>
            <p:ph type="title"/>
          </p:nvPr>
        </p:nvSpPr>
        <p:spPr/>
        <p:txBody>
          <a:bodyPr/>
          <a:lstStyle/>
          <a:p>
            <a:r>
              <a:rPr lang="en-AU" dirty="0"/>
              <a:t>Solution 2</a:t>
            </a:r>
            <a:endParaRPr lang="en-AU" sz="2800" i="1" dirty="0"/>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11</a:t>
            </a:fld>
            <a:endParaRPr lang="en-AU">
              <a:solidFill>
                <a:prstClr val="black">
                  <a:lumMod val="50000"/>
                  <a:lumOff val="50000"/>
                </a:prstClr>
              </a:solidFill>
            </a:endParaRPr>
          </a:p>
        </p:txBody>
      </p:sp>
      <p:sp>
        <p:nvSpPr>
          <p:cNvPr id="5" name="Rectangle 4"/>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r>
              <a:rPr lang="en-AU" sz="2400" b="1" dirty="0">
                <a:solidFill>
                  <a:prstClr val="black">
                    <a:lumMod val="75000"/>
                    <a:lumOff val="25000"/>
                  </a:prstClr>
                </a:solidFill>
              </a:rPr>
              <a:t>Order distribution process</a:t>
            </a:r>
          </a:p>
        </p:txBody>
      </p:sp>
      <p:sp>
        <p:nvSpPr>
          <p:cNvPr id="8" name="Text Box 8"/>
          <p:cNvSpPr txBox="1">
            <a:spLocks noChangeArrowheads="1"/>
          </p:cNvSpPr>
          <p:nvPr/>
        </p:nvSpPr>
        <p:spPr bwMode="auto">
          <a:xfrm>
            <a:off x="2186738" y="4762107"/>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XOR-split</a:t>
            </a:r>
          </a:p>
        </p:txBody>
      </p:sp>
      <p:sp>
        <p:nvSpPr>
          <p:cNvPr id="9" name="Text Box 9"/>
          <p:cNvSpPr txBox="1">
            <a:spLocks noChangeArrowheads="1"/>
          </p:cNvSpPr>
          <p:nvPr/>
        </p:nvSpPr>
        <p:spPr bwMode="auto">
          <a:xfrm>
            <a:off x="5927882" y="4762107"/>
            <a:ext cx="1506538"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XOR-join</a:t>
            </a:r>
          </a:p>
        </p:txBody>
      </p:sp>
      <p:sp>
        <p:nvSpPr>
          <p:cNvPr id="10" name="Text Box 10"/>
          <p:cNvSpPr txBox="1">
            <a:spLocks noChangeArrowheads="1"/>
          </p:cNvSpPr>
          <p:nvPr/>
        </p:nvSpPr>
        <p:spPr bwMode="auto">
          <a:xfrm>
            <a:off x="1918584" y="2819510"/>
            <a:ext cx="15065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AND-split</a:t>
            </a:r>
          </a:p>
        </p:txBody>
      </p:sp>
      <p:sp>
        <p:nvSpPr>
          <p:cNvPr id="11" name="Text Box 11"/>
          <p:cNvSpPr txBox="1">
            <a:spLocks noChangeArrowheads="1"/>
          </p:cNvSpPr>
          <p:nvPr/>
        </p:nvSpPr>
        <p:spPr bwMode="auto">
          <a:xfrm>
            <a:off x="5701804" y="2819510"/>
            <a:ext cx="1506537"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AND-join</a:t>
            </a:r>
          </a:p>
        </p:txBody>
      </p:sp>
    </p:spTree>
    <p:extLst>
      <p:ext uri="{BB962C8B-B14F-4D97-AF65-F5344CB8AC3E}">
        <p14:creationId xmlns:p14="http://schemas.microsoft.com/office/powerpoint/2010/main" val="29652881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en-AU" dirty="0"/>
              <a:t>OR Gateway</a:t>
            </a:r>
          </a:p>
        </p:txBody>
      </p:sp>
      <p:sp>
        <p:nvSpPr>
          <p:cNvPr id="2" name="Slide Number Placeholder 1"/>
          <p:cNvSpPr>
            <a:spLocks noGrp="1"/>
          </p:cNvSpPr>
          <p:nvPr>
            <p:ph type="sldNum" sz="quarter" idx="11"/>
          </p:nvPr>
        </p:nvSpPr>
        <p:spPr>
          <a:xfrm>
            <a:off x="8265740" y="6641292"/>
            <a:ext cx="533400" cy="152400"/>
          </a:xfrm>
        </p:spPr>
        <p:txBody>
          <a:bodyPr/>
          <a:lstStyle/>
          <a:p>
            <a:fld id="{F06E539D-8AB8-485C-BFEF-50E8D5427D32}" type="slidenum">
              <a:rPr lang="en-AU" smtClean="0">
                <a:solidFill>
                  <a:prstClr val="black">
                    <a:lumMod val="50000"/>
                    <a:lumOff val="50000"/>
                  </a:prstClr>
                </a:solidFill>
              </a:rPr>
              <a:pPr/>
              <a:t>12</a:t>
            </a:fld>
            <a:endParaRPr lang="en-AU" dirty="0">
              <a:solidFill>
                <a:prstClr val="black">
                  <a:lumMod val="50000"/>
                  <a:lumOff val="50000"/>
                </a:prstClr>
              </a:solidFill>
            </a:endParaRPr>
          </a:p>
        </p:txBody>
      </p:sp>
      <p:sp>
        <p:nvSpPr>
          <p:cNvPr id="6" name="Rectangle 5"/>
          <p:cNvSpPr/>
          <p:nvPr/>
        </p:nvSpPr>
        <p:spPr>
          <a:xfrm>
            <a:off x="1162405" y="1205359"/>
            <a:ext cx="7074133" cy="830997"/>
          </a:xfrm>
          <a:prstGeom prst="rect">
            <a:avLst/>
          </a:prstGeom>
        </p:spPr>
        <p:txBody>
          <a:bodyPr wrap="square">
            <a:spAutoFit/>
          </a:bodyPr>
          <a:lstStyle/>
          <a:p>
            <a:pPr marL="228600" lvl="1">
              <a:spcBef>
                <a:spcPct val="20000"/>
              </a:spcBef>
              <a:buClr>
                <a:prstClr val="black">
                  <a:lumMod val="50000"/>
                  <a:lumOff val="50000"/>
                </a:prstClr>
              </a:buClr>
            </a:pPr>
            <a:r>
              <a:rPr lang="en-AU" sz="2400" dirty="0">
                <a:solidFill>
                  <a:prstClr val="black">
                    <a:lumMod val="75000"/>
                    <a:lumOff val="25000"/>
                  </a:prstClr>
                </a:solidFill>
              </a:rPr>
              <a:t>An </a:t>
            </a:r>
            <a:r>
              <a:rPr lang="en-AU" sz="2400" i="1" dirty="0">
                <a:solidFill>
                  <a:prstClr val="black">
                    <a:lumMod val="75000"/>
                    <a:lumOff val="25000"/>
                  </a:prstClr>
                </a:solidFill>
              </a:rPr>
              <a:t>OR Gateway</a:t>
            </a:r>
            <a:r>
              <a:rPr lang="en-AU" sz="2400" dirty="0">
                <a:solidFill>
                  <a:prstClr val="black">
                    <a:lumMod val="75000"/>
                    <a:lumOff val="25000"/>
                  </a:prstClr>
                </a:solidFill>
              </a:rPr>
              <a:t> provides a mechanism to create and synchronize n out of m parallel flows. </a:t>
            </a:r>
          </a:p>
        </p:txBody>
      </p:sp>
      <p:sp>
        <p:nvSpPr>
          <p:cNvPr id="12" name="Rectangle 3"/>
          <p:cNvSpPr txBox="1">
            <a:spLocks noChangeArrowheads="1"/>
          </p:cNvSpPr>
          <p:nvPr/>
        </p:nvSpPr>
        <p:spPr>
          <a:xfrm>
            <a:off x="1812946" y="3110832"/>
            <a:ext cx="6642490" cy="1992363"/>
          </a:xfrm>
          <a:prstGeom prst="rect">
            <a:avLst/>
          </a:prstGeom>
        </p:spPr>
        <p:txBody>
          <a:bodyPr vert="horz" lIns="91440" tIns="45720" rIns="91440" bIns="45720" rtlCol="0" anchor="t">
            <a:noAutofit/>
          </a:bodyPr>
          <a:lstStyle>
            <a:lvl1pPr marL="182880" indent="-182880" algn="l" defTabSz="914400" rtl="0" eaLnBrk="1" latinLnBrk="0" hangingPunct="1">
              <a:spcBef>
                <a:spcPct val="20000"/>
              </a:spcBef>
              <a:buClr>
                <a:schemeClr val="tx1">
                  <a:lumMod val="50000"/>
                  <a:lumOff val="50000"/>
                </a:schemeClr>
              </a:buClr>
              <a:buFont typeface="Arial" pitchFamily="34" charset="0"/>
              <a:buChar char="•"/>
              <a:defRPr sz="2400" kern="1200">
                <a:solidFill>
                  <a:schemeClr val="tx1">
                    <a:lumMod val="75000"/>
                    <a:lumOff val="2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Arial" pitchFamily="34" charset="0"/>
              <a:buChar char="•"/>
              <a:defRPr sz="1800" kern="1200">
                <a:solidFill>
                  <a:schemeClr val="tx1">
                    <a:lumMod val="75000"/>
                    <a:lumOff val="2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a:lstStyle>
          <a:p>
            <a:pPr marL="0" indent="0">
              <a:buClr>
                <a:prstClr val="black">
                  <a:lumMod val="50000"/>
                  <a:lumOff val="50000"/>
                </a:prstClr>
              </a:buClr>
              <a:buFont typeface="Arial" pitchFamily="34" charset="0"/>
              <a:buNone/>
            </a:pPr>
            <a:r>
              <a:rPr lang="en-AU" i="1" dirty="0">
                <a:solidFill>
                  <a:prstClr val="black">
                    <a:lumMod val="75000"/>
                    <a:lumOff val="25000"/>
                  </a:prstClr>
                </a:solidFill>
              </a:rPr>
              <a:t>OR-split</a:t>
            </a:r>
            <a:r>
              <a:rPr lang="en-AU" dirty="0">
                <a:solidFill>
                  <a:prstClr val="black">
                    <a:lumMod val="75000"/>
                    <a:lumOff val="25000"/>
                  </a:prstClr>
                </a:solidFill>
              </a:rPr>
              <a:t> </a:t>
            </a:r>
            <a:r>
              <a:rPr lang="en-AU" dirty="0">
                <a:solidFill>
                  <a:prstClr val="black">
                    <a:lumMod val="75000"/>
                    <a:lumOff val="25000"/>
                  </a:prstClr>
                </a:solidFill>
                <a:sym typeface="Wingdings" pitchFamily="2" charset="2"/>
              </a:rPr>
              <a:t> takes one or more branches depending on conditions</a:t>
            </a:r>
          </a:p>
          <a:p>
            <a:pPr marL="0" indent="0">
              <a:buClr>
                <a:prstClr val="black">
                  <a:lumMod val="50000"/>
                  <a:lumOff val="50000"/>
                </a:prstClr>
              </a:buClr>
              <a:buFont typeface="Arial" pitchFamily="34" charset="0"/>
              <a:buNone/>
            </a:pPr>
            <a:endParaRPr lang="en-AU" i="1" dirty="0">
              <a:solidFill>
                <a:prstClr val="black">
                  <a:lumMod val="75000"/>
                  <a:lumOff val="25000"/>
                </a:prstClr>
              </a:solidFill>
              <a:sym typeface="Wingdings" pitchFamily="2" charset="2"/>
            </a:endParaRPr>
          </a:p>
          <a:p>
            <a:pPr marL="0" indent="0">
              <a:buClr>
                <a:prstClr val="black">
                  <a:lumMod val="50000"/>
                  <a:lumOff val="50000"/>
                </a:prstClr>
              </a:buClr>
              <a:buFont typeface="Arial" pitchFamily="34" charset="0"/>
              <a:buNone/>
            </a:pPr>
            <a:endParaRPr lang="en-AU" i="1" dirty="0">
              <a:solidFill>
                <a:prstClr val="black">
                  <a:lumMod val="75000"/>
                  <a:lumOff val="25000"/>
                </a:prstClr>
              </a:solidFill>
              <a:sym typeface="Wingdings" pitchFamily="2" charset="2"/>
            </a:endParaRPr>
          </a:p>
          <a:p>
            <a:pPr marL="0" indent="0">
              <a:buClr>
                <a:prstClr val="black">
                  <a:lumMod val="50000"/>
                  <a:lumOff val="50000"/>
                </a:prstClr>
              </a:buClr>
              <a:buFont typeface="Arial" pitchFamily="34" charset="0"/>
              <a:buNone/>
            </a:pPr>
            <a:r>
              <a:rPr lang="en-AU" i="1" dirty="0">
                <a:solidFill>
                  <a:prstClr val="black">
                    <a:lumMod val="75000"/>
                    <a:lumOff val="25000"/>
                  </a:prstClr>
                </a:solidFill>
                <a:sym typeface="Wingdings" pitchFamily="2" charset="2"/>
              </a:rPr>
              <a:t>OR-join </a:t>
            </a:r>
            <a:r>
              <a:rPr lang="en-AU" dirty="0">
                <a:solidFill>
                  <a:prstClr val="black">
                    <a:lumMod val="75000"/>
                    <a:lumOff val="25000"/>
                  </a:prstClr>
                </a:solidFill>
                <a:sym typeface="Wingdings" pitchFamily="2" charset="2"/>
              </a:rPr>
              <a:t> proceeds when all </a:t>
            </a:r>
            <a:r>
              <a:rPr lang="en-AU" b="1" dirty="0">
                <a:solidFill>
                  <a:prstClr val="black">
                    <a:lumMod val="75000"/>
                    <a:lumOff val="25000"/>
                  </a:prstClr>
                </a:solidFill>
                <a:sym typeface="Wingdings" pitchFamily="2" charset="2"/>
              </a:rPr>
              <a:t>active </a:t>
            </a:r>
            <a:r>
              <a:rPr lang="en-AU" dirty="0">
                <a:solidFill>
                  <a:prstClr val="black">
                    <a:lumMod val="75000"/>
                    <a:lumOff val="25000"/>
                  </a:prstClr>
                </a:solidFill>
                <a:sym typeface="Wingdings" pitchFamily="2" charset="2"/>
              </a:rPr>
              <a:t>incoming branches have completed</a:t>
            </a:r>
          </a:p>
          <a:p>
            <a:pPr marL="1074738" lvl="1">
              <a:buClr>
                <a:prstClr val="black">
                  <a:lumMod val="50000"/>
                  <a:lumOff val="50000"/>
                </a:prstClr>
              </a:buClr>
              <a:buFontTx/>
              <a:buChar char="•"/>
            </a:pPr>
            <a:endParaRPr lang="en-AU" sz="2400" dirty="0">
              <a:solidFill>
                <a:prstClr val="black">
                  <a:lumMod val="75000"/>
                  <a:lumOff val="25000"/>
                </a:prstClr>
              </a:solidFill>
              <a:sym typeface="Wingdings" pitchFamily="2" charset="2"/>
            </a:endParaRPr>
          </a:p>
        </p:txBody>
      </p:sp>
      <p:graphicFrame>
        <p:nvGraphicFramePr>
          <p:cNvPr id="13" name="Object 7"/>
          <p:cNvGraphicFramePr>
            <a:graphicFrameLocks noChangeAspect="1"/>
          </p:cNvGraphicFramePr>
          <p:nvPr>
            <p:extLst>
              <p:ext uri="{D42A27DB-BD31-4B8C-83A1-F6EECF244321}">
                <p14:modId xmlns:p14="http://schemas.microsoft.com/office/powerpoint/2010/main" val="1487237265"/>
              </p:ext>
            </p:extLst>
          </p:nvPr>
        </p:nvGraphicFramePr>
        <p:xfrm>
          <a:off x="79731" y="2489985"/>
          <a:ext cx="1658937" cy="1647825"/>
        </p:xfrm>
        <a:graphic>
          <a:graphicData uri="http://schemas.openxmlformats.org/presentationml/2006/ole">
            <mc:AlternateContent xmlns:mc="http://schemas.openxmlformats.org/markup-compatibility/2006">
              <mc:Choice xmlns:v="urn:schemas-microsoft-com:vml" Requires="v">
                <p:oleObj name="Visio" r:id="rId3" imgW="1058310" imgH="1019436" progId="Visio.Drawing.11">
                  <p:embed/>
                </p:oleObj>
              </mc:Choice>
              <mc:Fallback>
                <p:oleObj name="Visio" r:id="rId3" imgW="1058310" imgH="1019436" progId="Visio.Drawing.11">
                  <p:embed/>
                  <p:pic>
                    <p:nvPicPr>
                      <p:cNvPr id="0" name=""/>
                      <p:cNvPicPr>
                        <a:picLocks noChangeAspect="1" noChangeArrowheads="1"/>
                      </p:cNvPicPr>
                      <p:nvPr/>
                    </p:nvPicPr>
                    <p:blipFill>
                      <a:blip r:embed="rId4"/>
                      <a:srcRect/>
                      <a:stretch>
                        <a:fillRect/>
                      </a:stretch>
                    </p:blipFill>
                    <p:spPr bwMode="auto">
                      <a:xfrm>
                        <a:off x="79731" y="2489985"/>
                        <a:ext cx="1658937" cy="1647825"/>
                      </a:xfrm>
                      <a:prstGeom prst="rect">
                        <a:avLst/>
                      </a:prstGeom>
                      <a:noFill/>
                      <a:ln>
                        <a:noFill/>
                      </a:ln>
                      <a:effectLst/>
                    </p:spPr>
                  </p:pic>
                </p:oleObj>
              </mc:Fallback>
            </mc:AlternateContent>
          </a:graphicData>
        </a:graphic>
      </p:graphicFrame>
      <p:graphicFrame>
        <p:nvGraphicFramePr>
          <p:cNvPr id="14" name="Object 7"/>
          <p:cNvGraphicFramePr>
            <a:graphicFrameLocks noChangeAspect="1"/>
          </p:cNvGraphicFramePr>
          <p:nvPr>
            <p:extLst>
              <p:ext uri="{D42A27DB-BD31-4B8C-83A1-F6EECF244321}">
                <p14:modId xmlns:p14="http://schemas.microsoft.com/office/powerpoint/2010/main" val="1434545422"/>
              </p:ext>
            </p:extLst>
          </p:nvPr>
        </p:nvGraphicFramePr>
        <p:xfrm>
          <a:off x="186093" y="4380698"/>
          <a:ext cx="1522413" cy="1477962"/>
        </p:xfrm>
        <a:graphic>
          <a:graphicData uri="http://schemas.openxmlformats.org/presentationml/2006/ole">
            <mc:AlternateContent xmlns:mc="http://schemas.openxmlformats.org/markup-compatibility/2006">
              <mc:Choice xmlns:v="urn:schemas-microsoft-com:vml" Requires="v">
                <p:oleObj name="Visio" r:id="rId5" imgW="971640" imgH="914040" progId="Visio.Drawing.11">
                  <p:embed/>
                </p:oleObj>
              </mc:Choice>
              <mc:Fallback>
                <p:oleObj name="Visio" r:id="rId5" imgW="971640" imgH="914040" progId="Visio.Drawing.11">
                  <p:embed/>
                  <p:pic>
                    <p:nvPicPr>
                      <p:cNvPr id="0" name=""/>
                      <p:cNvPicPr>
                        <a:picLocks noChangeAspect="1" noChangeArrowheads="1"/>
                      </p:cNvPicPr>
                      <p:nvPr/>
                    </p:nvPicPr>
                    <p:blipFill>
                      <a:blip r:embed="rId6"/>
                      <a:srcRect/>
                      <a:stretch>
                        <a:fillRect/>
                      </a:stretch>
                    </p:blipFill>
                    <p:spPr bwMode="auto">
                      <a:xfrm>
                        <a:off x="186093" y="4380698"/>
                        <a:ext cx="1522413" cy="1477962"/>
                      </a:xfrm>
                      <a:prstGeom prst="rect">
                        <a:avLst/>
                      </a:prstGeom>
                      <a:noFill/>
                      <a:ln>
                        <a:noFill/>
                      </a:ln>
                      <a:effectLst/>
                    </p:spPr>
                  </p:pic>
                </p:oleObj>
              </mc:Fallback>
            </mc:AlternateContent>
          </a:graphicData>
        </a:graphic>
      </p:graphicFrame>
      <p:graphicFrame>
        <p:nvGraphicFramePr>
          <p:cNvPr id="15" name="Object 4"/>
          <p:cNvGraphicFramePr>
            <a:graphicFrameLocks noGrp="1" noChangeAspect="1"/>
          </p:cNvGraphicFramePr>
          <p:nvPr>
            <p:ph sz="quarter" idx="4294967295"/>
            <p:extLst>
              <p:ext uri="{D42A27DB-BD31-4B8C-83A1-F6EECF244321}">
                <p14:modId xmlns:p14="http://schemas.microsoft.com/office/powerpoint/2010/main" val="606002685"/>
              </p:ext>
            </p:extLst>
          </p:nvPr>
        </p:nvGraphicFramePr>
        <p:xfrm>
          <a:off x="370243" y="1205698"/>
          <a:ext cx="792163" cy="792162"/>
        </p:xfrm>
        <a:graphic>
          <a:graphicData uri="http://schemas.openxmlformats.org/presentationml/2006/ole">
            <mc:AlternateContent xmlns:mc="http://schemas.openxmlformats.org/markup-compatibility/2006">
              <mc:Choice xmlns:v="urn:schemas-microsoft-com:vml" Requires="v">
                <p:oleObj name="Visio" r:id="rId7" imgW="586440" imgH="586440" progId="Visio.Drawing.11">
                  <p:embed/>
                </p:oleObj>
              </mc:Choice>
              <mc:Fallback>
                <p:oleObj name="Visio" r:id="rId7" imgW="586440" imgH="586440" progId="Visio.Drawing.11">
                  <p:embed/>
                  <p:pic>
                    <p:nvPicPr>
                      <p:cNvPr id="0" name=""/>
                      <p:cNvPicPr>
                        <a:picLocks noChangeAspect="1" noChangeArrowheads="1"/>
                      </p:cNvPicPr>
                      <p:nvPr/>
                    </p:nvPicPr>
                    <p:blipFill>
                      <a:blip r:embed="rId8"/>
                      <a:srcRect/>
                      <a:stretch>
                        <a:fillRect/>
                      </a:stretch>
                    </p:blipFill>
                    <p:spPr bwMode="auto">
                      <a:xfrm>
                        <a:off x="370243" y="1205698"/>
                        <a:ext cx="792163"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0"/>
          <p:cNvSpPr/>
          <p:nvPr/>
        </p:nvSpPr>
        <p:spPr>
          <a:xfrm>
            <a:off x="186093" y="33138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6" name="Oval 15"/>
          <p:cNvSpPr/>
          <p:nvPr/>
        </p:nvSpPr>
        <p:spPr>
          <a:xfrm>
            <a:off x="186093" y="33138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7" name="Oval 16"/>
          <p:cNvSpPr/>
          <p:nvPr/>
        </p:nvSpPr>
        <p:spPr>
          <a:xfrm>
            <a:off x="456787" y="438634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8" name="Oval 17"/>
          <p:cNvSpPr/>
          <p:nvPr/>
        </p:nvSpPr>
        <p:spPr>
          <a:xfrm>
            <a:off x="456787" y="564880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22" name="Oval 21"/>
          <p:cNvSpPr/>
          <p:nvPr/>
        </p:nvSpPr>
        <p:spPr>
          <a:xfrm>
            <a:off x="186091" y="33138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23" name="Oval 22"/>
          <p:cNvSpPr/>
          <p:nvPr/>
        </p:nvSpPr>
        <p:spPr>
          <a:xfrm>
            <a:off x="186092" y="3313898"/>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24" name="Oval 23"/>
          <p:cNvSpPr/>
          <p:nvPr/>
        </p:nvSpPr>
        <p:spPr>
          <a:xfrm>
            <a:off x="456786" y="438634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25" name="Oval 24"/>
          <p:cNvSpPr/>
          <p:nvPr/>
        </p:nvSpPr>
        <p:spPr>
          <a:xfrm>
            <a:off x="456785" y="565142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Tree>
    <p:extLst>
      <p:ext uri="{BB962C8B-B14F-4D97-AF65-F5344CB8AC3E}">
        <p14:creationId xmlns:p14="http://schemas.microsoft.com/office/powerpoint/2010/main" val="255045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50" presetClass="path" presetSubtype="0" accel="50000" fill="hold" grpId="1" nodeType="afterEffect">
                                  <p:stCondLst>
                                    <p:cond delay="0"/>
                                  </p:stCondLst>
                                  <p:childTnLst>
                                    <p:animMotion origin="layout" path="M -2.77778E-6 -1.11111E-6 L 0.03004 -1.11111E-6 C 0.04358 -1.11111E-6 0.06077 -0.02546 0.06077 -0.0463 L 0.06077 -0.09329 " pathEditMode="relative" rAng="0" ptsTypes="AAAA">
                                      <p:cBhvr>
                                        <p:cTn id="10" dur="2000" fill="hold"/>
                                        <p:tgtEl>
                                          <p:spTgt spid="22"/>
                                        </p:tgtEl>
                                        <p:attrNameLst>
                                          <p:attrName>ppt_x</p:attrName>
                                          <p:attrName>ppt_y</p:attrName>
                                        </p:attrNameLst>
                                      </p:cBhvr>
                                      <p:rCtr x="3038" y="-4676"/>
                                    </p:animMotion>
                                  </p:childTnLst>
                                </p:cTn>
                              </p:par>
                            </p:childTnLst>
                          </p:cTn>
                        </p:par>
                        <p:par>
                          <p:cTn id="11" fill="hold">
                            <p:stCondLst>
                              <p:cond delay="2500"/>
                            </p:stCondLst>
                            <p:childTnLst>
                              <p:par>
                                <p:cTn id="12" presetID="63" presetClass="path" presetSubtype="0" decel="50000" fill="hold" grpId="3" nodeType="afterEffect">
                                  <p:stCondLst>
                                    <p:cond delay="0"/>
                                  </p:stCondLst>
                                  <p:childTnLst>
                                    <p:animMotion origin="layout" path="M 0.06077 -0.09329 L 0.09028 -0.09167 " pathEditMode="relative" rAng="0" ptsTypes="AA">
                                      <p:cBhvr>
                                        <p:cTn id="13" dur="750" fill="hold"/>
                                        <p:tgtEl>
                                          <p:spTgt spid="22"/>
                                        </p:tgtEl>
                                        <p:attrNameLst>
                                          <p:attrName>ppt_x</p:attrName>
                                          <p:attrName>ppt_y</p:attrName>
                                        </p:attrNameLst>
                                      </p:cBhvr>
                                      <p:rCtr x="1476" y="69"/>
                                    </p:animMotion>
                                  </p:childTnLst>
                                </p:cTn>
                              </p:par>
                            </p:childTnLst>
                          </p:cTn>
                        </p:par>
                        <p:par>
                          <p:cTn id="14" fill="hold">
                            <p:stCondLst>
                              <p:cond delay="3250"/>
                            </p:stCondLst>
                            <p:childTnLst>
                              <p:par>
                                <p:cTn id="15" presetID="10" presetClass="exit" presetSubtype="0" fill="hold" grpId="2" nodeType="afterEffect">
                                  <p:stCondLst>
                                    <p:cond delay="0"/>
                                  </p:stCondLst>
                                  <p:childTnLst>
                                    <p:animEffect transition="out" filter="fade">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par>
                                <p:cTn id="18" presetID="1"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par>
                          <p:cTn id="20" fill="hold">
                            <p:stCondLst>
                              <p:cond delay="3750"/>
                            </p:stCondLst>
                            <p:childTnLst>
                              <p:par>
                                <p:cTn id="21" presetID="50" presetClass="path" presetSubtype="0" accel="50000" fill="hold" grpId="1" nodeType="afterEffect">
                                  <p:stCondLst>
                                    <p:cond delay="0"/>
                                  </p:stCondLst>
                                  <p:childTnLst>
                                    <p:animMotion origin="layout" path="M -2.77778E-6 -1.11111E-6 L 0.03125 -1.11111E-6 C 0.04549 -1.11111E-6 0.0632 0.02523 0.0632 0.04607 L 0.0632 0.09283 " pathEditMode="relative" rAng="0" ptsTypes="AAAA">
                                      <p:cBhvr>
                                        <p:cTn id="22" dur="2000" fill="hold"/>
                                        <p:tgtEl>
                                          <p:spTgt spid="23"/>
                                        </p:tgtEl>
                                        <p:attrNameLst>
                                          <p:attrName>ppt_x</p:attrName>
                                          <p:attrName>ppt_y</p:attrName>
                                        </p:attrNameLst>
                                      </p:cBhvr>
                                      <p:rCtr x="3160" y="4630"/>
                                    </p:animMotion>
                                  </p:childTnLst>
                                </p:cTn>
                              </p:par>
                            </p:childTnLst>
                          </p:cTn>
                        </p:par>
                        <p:par>
                          <p:cTn id="23" fill="hold">
                            <p:stCondLst>
                              <p:cond delay="5750"/>
                            </p:stCondLst>
                            <p:childTnLst>
                              <p:par>
                                <p:cTn id="24" presetID="63" presetClass="path" presetSubtype="0" decel="50000" fill="hold" grpId="3" nodeType="afterEffect">
                                  <p:stCondLst>
                                    <p:cond delay="0"/>
                                  </p:stCondLst>
                                  <p:childTnLst>
                                    <p:animMotion origin="layout" path="M 0.0632 0.09283 L 0.09271 0.09445 " pathEditMode="relative" rAng="0" ptsTypes="AA">
                                      <p:cBhvr>
                                        <p:cTn id="25" dur="750" fill="hold"/>
                                        <p:tgtEl>
                                          <p:spTgt spid="23"/>
                                        </p:tgtEl>
                                        <p:attrNameLst>
                                          <p:attrName>ppt_x</p:attrName>
                                          <p:attrName>ppt_y</p:attrName>
                                        </p:attrNameLst>
                                      </p:cBhvr>
                                      <p:rCtr x="1476" y="69"/>
                                    </p:animMotion>
                                  </p:childTnLst>
                                </p:cTn>
                              </p:par>
                            </p:childTnLst>
                          </p:cTn>
                        </p:par>
                        <p:par>
                          <p:cTn id="26" fill="hold">
                            <p:stCondLst>
                              <p:cond delay="6500"/>
                            </p:stCondLst>
                            <p:childTnLst>
                              <p:par>
                                <p:cTn id="27" presetID="10" presetClass="exit" presetSubtype="0" fill="hold" grpId="2" nodeType="afterEffect">
                                  <p:stCondLst>
                                    <p:cond delay="0"/>
                                  </p:stCondLst>
                                  <p:childTnLst>
                                    <p:animEffect transition="out" filter="fade">
                                      <p:cBhvr>
                                        <p:cTn id="28" dur="500"/>
                                        <p:tgtEl>
                                          <p:spTgt spid="23"/>
                                        </p:tgtEl>
                                      </p:cBhvr>
                                    </p:animEffect>
                                    <p:set>
                                      <p:cBhvr>
                                        <p:cTn id="29" dur="1" fill="hold">
                                          <p:stCondLst>
                                            <p:cond delay="499"/>
                                          </p:stCondLst>
                                        </p:cTn>
                                        <p:tgtEl>
                                          <p:spTgt spid="23"/>
                                        </p:tgtEl>
                                        <p:attrNameLst>
                                          <p:attrName>style.visibility</p:attrName>
                                        </p:attrNameLst>
                                      </p:cBhvr>
                                      <p:to>
                                        <p:strVal val="hidden"/>
                                      </p:to>
                                    </p:set>
                                  </p:childTnLst>
                                </p:cTn>
                              </p:par>
                            </p:childTnLst>
                          </p:cTn>
                        </p:par>
                        <p:par>
                          <p:cTn id="30" fill="hold">
                            <p:stCondLst>
                              <p:cond delay="7000"/>
                            </p:stCondLst>
                            <p:childTnLst>
                              <p:par>
                                <p:cTn id="31" presetID="1"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par>
                          <p:cTn id="33" fill="hold">
                            <p:stCondLst>
                              <p:cond delay="7000"/>
                            </p:stCondLst>
                            <p:childTnLst>
                              <p:par>
                                <p:cTn id="34" presetID="1" presetClass="entr" presetSubtype="0" fill="hold" grpId="3" nodeType="after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par>
                          <p:cTn id="36" fill="hold">
                            <p:stCondLst>
                              <p:cond delay="7000"/>
                            </p:stCondLst>
                            <p:childTnLst>
                              <p:par>
                                <p:cTn id="37" presetID="50" presetClass="path" presetSubtype="0" accel="50000" fill="hold" grpId="0" nodeType="afterEffect">
                                  <p:stCondLst>
                                    <p:cond delay="0"/>
                                  </p:stCondLst>
                                  <p:childTnLst>
                                    <p:animMotion origin="layout" path="M -2.77778E-6 -1.11111E-6 L 0.03125 -1.11111E-6 C 0.04549 -1.11111E-6 0.0632 0.02523 0.0632 0.04607 L 0.0632 0.09283 " pathEditMode="relative" rAng="0" ptsTypes="AAAA">
                                      <p:cBhvr>
                                        <p:cTn id="38" dur="2000" fill="hold"/>
                                        <p:tgtEl>
                                          <p:spTgt spid="11"/>
                                        </p:tgtEl>
                                        <p:attrNameLst>
                                          <p:attrName>ppt_x</p:attrName>
                                          <p:attrName>ppt_y</p:attrName>
                                        </p:attrNameLst>
                                      </p:cBhvr>
                                      <p:rCtr x="3160" y="4630"/>
                                    </p:animMotion>
                                  </p:childTnLst>
                                </p:cTn>
                              </p:par>
                              <p:par>
                                <p:cTn id="39" presetID="50" presetClass="path" presetSubtype="0" accel="50000" fill="hold" grpId="1" nodeType="withEffect">
                                  <p:stCondLst>
                                    <p:cond delay="0"/>
                                  </p:stCondLst>
                                  <p:childTnLst>
                                    <p:animMotion origin="layout" path="M -2.77778E-6 -1.11111E-6 L 0.03004 -1.11111E-6 C 0.04358 -1.11111E-6 0.06077 -0.02546 0.06077 -0.0463 L 0.06077 -0.09329 " pathEditMode="relative" rAng="0" ptsTypes="AAAA">
                                      <p:cBhvr>
                                        <p:cTn id="40" dur="2000" fill="hold"/>
                                        <p:tgtEl>
                                          <p:spTgt spid="16"/>
                                        </p:tgtEl>
                                        <p:attrNameLst>
                                          <p:attrName>ppt_x</p:attrName>
                                          <p:attrName>ppt_y</p:attrName>
                                        </p:attrNameLst>
                                      </p:cBhvr>
                                      <p:rCtr x="3038" y="-4676"/>
                                    </p:animMotion>
                                  </p:childTnLst>
                                </p:cTn>
                              </p:par>
                            </p:childTnLst>
                          </p:cTn>
                        </p:par>
                        <p:par>
                          <p:cTn id="41" fill="hold">
                            <p:stCondLst>
                              <p:cond delay="9000"/>
                            </p:stCondLst>
                            <p:childTnLst>
                              <p:par>
                                <p:cTn id="42" presetID="63" presetClass="path" presetSubtype="0" decel="50000" fill="hold" grpId="2" nodeType="afterEffect">
                                  <p:stCondLst>
                                    <p:cond delay="0"/>
                                  </p:stCondLst>
                                  <p:childTnLst>
                                    <p:animMotion origin="layout" path="M 0.0632 0.09283 L 0.06319 0.09282 " pathEditMode="relative" rAng="0" ptsTypes="AA">
                                      <p:cBhvr>
                                        <p:cTn id="43" dur="750" fill="hold"/>
                                        <p:tgtEl>
                                          <p:spTgt spid="11"/>
                                        </p:tgtEl>
                                        <p:attrNameLst>
                                          <p:attrName>ppt_x</p:attrName>
                                          <p:attrName>ppt_y</p:attrName>
                                        </p:attrNameLst>
                                      </p:cBhvr>
                                      <p:rCtr x="1302" y="46"/>
                                    </p:animMotion>
                                  </p:childTnLst>
                                </p:cTn>
                              </p:par>
                              <p:par>
                                <p:cTn id="44" presetID="63" presetClass="path" presetSubtype="0" decel="50000" fill="hold" grpId="3" nodeType="withEffect">
                                  <p:stCondLst>
                                    <p:cond delay="0"/>
                                  </p:stCondLst>
                                  <p:childTnLst>
                                    <p:animMotion origin="layout" path="M 0.06077 -0.09329 L 0.06077 -0.09329 " pathEditMode="relative" rAng="0" ptsTypes="AA">
                                      <p:cBhvr>
                                        <p:cTn id="45" dur="750" fill="hold"/>
                                        <p:tgtEl>
                                          <p:spTgt spid="16"/>
                                        </p:tgtEl>
                                        <p:attrNameLst>
                                          <p:attrName>ppt_x</p:attrName>
                                          <p:attrName>ppt_y</p:attrName>
                                        </p:attrNameLst>
                                      </p:cBhvr>
                                      <p:rCtr x="1823" y="46"/>
                                    </p:animMotion>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grpId="1" nodeType="clickEffect">
                                  <p:stCondLst>
                                    <p:cond delay="0"/>
                                  </p:stCondLst>
                                  <p:childTnLst>
                                    <p:animEffect transition="out" filter="fade">
                                      <p:cBhvr>
                                        <p:cTn id="49" dur="500"/>
                                        <p:tgtEl>
                                          <p:spTgt spid="11"/>
                                        </p:tgtEl>
                                      </p:cBhvr>
                                    </p:animEffect>
                                    <p:set>
                                      <p:cBhvr>
                                        <p:cTn id="50" dur="1" fill="hold">
                                          <p:stCondLst>
                                            <p:cond delay="499"/>
                                          </p:stCondLst>
                                        </p:cTn>
                                        <p:tgtEl>
                                          <p:spTgt spid="11"/>
                                        </p:tgtEl>
                                        <p:attrNameLst>
                                          <p:attrName>style.visibility</p:attrName>
                                        </p:attrNameLst>
                                      </p:cBhvr>
                                      <p:to>
                                        <p:strVal val="hidden"/>
                                      </p:to>
                                    </p:set>
                                  </p:childTnLst>
                                </p:cTn>
                              </p:par>
                              <p:par>
                                <p:cTn id="51" presetID="10" presetClass="exit" presetSubtype="0" fill="hold" grpId="2" nodeType="withEffect">
                                  <p:stCondLst>
                                    <p:cond delay="0"/>
                                  </p:stCondLst>
                                  <p:childTnLst>
                                    <p:animEffect transition="out" filter="fade">
                                      <p:cBhvr>
                                        <p:cTn id="52" dur="500"/>
                                        <p:tgtEl>
                                          <p:spTgt spid="16"/>
                                        </p:tgtEl>
                                      </p:cBhvr>
                                    </p:animEffect>
                                    <p:set>
                                      <p:cBhvr>
                                        <p:cTn id="53" dur="1" fill="hold">
                                          <p:stCondLst>
                                            <p:cond delay="499"/>
                                          </p:stCondLst>
                                        </p:cTn>
                                        <p:tgtEl>
                                          <p:spTgt spid="16"/>
                                        </p:tgtEl>
                                        <p:attrNameLst>
                                          <p:attrName>style.visibility</p:attrName>
                                        </p:attrNameLst>
                                      </p:cBhvr>
                                      <p:to>
                                        <p:strVal val="hidden"/>
                                      </p:to>
                                    </p:se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500"/>
                                        <p:tgtEl>
                                          <p:spTgt spid="24"/>
                                        </p:tgtEl>
                                      </p:cBhvr>
                                    </p:animEffect>
                                  </p:childTnLst>
                                </p:cTn>
                              </p:par>
                            </p:childTnLst>
                          </p:cTn>
                        </p:par>
                        <p:par>
                          <p:cTn id="58" fill="hold">
                            <p:stCondLst>
                              <p:cond delay="1000"/>
                            </p:stCondLst>
                            <p:childTnLst>
                              <p:par>
                                <p:cTn id="59" presetID="50" presetClass="path" presetSubtype="0" accel="50000" decel="50000" fill="hold" grpId="1" nodeType="afterEffect">
                                  <p:stCondLst>
                                    <p:cond delay="0"/>
                                  </p:stCondLst>
                                  <p:childTnLst>
                                    <p:animMotion origin="layout" path="M -2.77778E-7 -2.59259E-6 L 0.0191 -2.59259E-6 C 0.02795 -2.59259E-6 0.03889 0.02523 0.03889 0.04584 L 0.03889 0.09236 " pathEditMode="relative" rAng="0" ptsTypes="AAAA">
                                      <p:cBhvr>
                                        <p:cTn id="60" dur="1500" fill="hold"/>
                                        <p:tgtEl>
                                          <p:spTgt spid="24"/>
                                        </p:tgtEl>
                                        <p:attrNameLst>
                                          <p:attrName>ppt_x</p:attrName>
                                          <p:attrName>ppt_y</p:attrName>
                                        </p:attrNameLst>
                                      </p:cBhvr>
                                      <p:rCtr x="1944" y="4606"/>
                                    </p:animMotion>
                                  </p:childTnLst>
                                </p:cTn>
                              </p:par>
                            </p:childTnLst>
                          </p:cTn>
                        </p:par>
                        <p:par>
                          <p:cTn id="61" fill="hold">
                            <p:stCondLst>
                              <p:cond delay="2500"/>
                            </p:stCondLst>
                            <p:childTnLst>
                              <p:par>
                                <p:cTn id="62" presetID="63" presetClass="path" presetSubtype="0" decel="50000" fill="hold" grpId="3" nodeType="afterEffect">
                                  <p:stCondLst>
                                    <p:cond delay="0"/>
                                  </p:stCondLst>
                                  <p:childTnLst>
                                    <p:animMotion origin="layout" path="M 0.03889 0.09236 L 0.08733 0.09236 " pathEditMode="relative" rAng="0" ptsTypes="AA">
                                      <p:cBhvr>
                                        <p:cTn id="63" dur="1000" fill="hold"/>
                                        <p:tgtEl>
                                          <p:spTgt spid="24"/>
                                        </p:tgtEl>
                                        <p:attrNameLst>
                                          <p:attrName>ppt_x</p:attrName>
                                          <p:attrName>ppt_y</p:attrName>
                                        </p:attrNameLst>
                                      </p:cBhvr>
                                      <p:rCtr x="2413" y="0"/>
                                    </p:animMotion>
                                  </p:childTnLst>
                                </p:cTn>
                              </p:par>
                            </p:childTnLst>
                          </p:cTn>
                        </p:par>
                        <p:par>
                          <p:cTn id="64" fill="hold">
                            <p:stCondLst>
                              <p:cond delay="3500"/>
                            </p:stCondLst>
                            <p:childTnLst>
                              <p:par>
                                <p:cTn id="65" presetID="1" presetClass="exit" presetSubtype="0" fill="hold" grpId="2" nodeType="afterEffect">
                                  <p:stCondLst>
                                    <p:cond delay="0"/>
                                  </p:stCondLst>
                                  <p:childTnLst>
                                    <p:set>
                                      <p:cBhvr>
                                        <p:cTn id="66" dur="1" fill="hold">
                                          <p:stCondLst>
                                            <p:cond delay="0"/>
                                          </p:stCondLst>
                                        </p:cTn>
                                        <p:tgtEl>
                                          <p:spTgt spid="24"/>
                                        </p:tgtEl>
                                        <p:attrNameLst>
                                          <p:attrName>style.visibility</p:attrName>
                                        </p:attrNameLst>
                                      </p:cBhvr>
                                      <p:to>
                                        <p:strVal val="hidden"/>
                                      </p:to>
                                    </p:set>
                                  </p:childTnLst>
                                </p:cTn>
                              </p:par>
                            </p:childTnLst>
                          </p:cTn>
                        </p:par>
                        <p:par>
                          <p:cTn id="67" fill="hold">
                            <p:stCondLst>
                              <p:cond delay="3500"/>
                            </p:stCondLst>
                            <p:childTnLst>
                              <p:par>
                                <p:cTn id="68" presetID="1"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childTnLst>
                          </p:cTn>
                        </p:par>
                        <p:par>
                          <p:cTn id="70" fill="hold">
                            <p:stCondLst>
                              <p:cond delay="3500"/>
                            </p:stCondLst>
                            <p:childTnLst>
                              <p:par>
                                <p:cTn id="71" presetID="50" presetClass="path" presetSubtype="0" accel="50000" decel="25000" fill="hold" grpId="1" nodeType="afterEffect">
                                  <p:stCondLst>
                                    <p:cond delay="0"/>
                                  </p:stCondLst>
                                  <p:childTnLst>
                                    <p:animMotion origin="layout" path="M -2.77778E-7 -1.85185E-6 L 0.01927 -1.85185E-6 C 0.02795 -1.85185E-6 0.03906 -0.02546 0.03906 -0.04606 L 0.03906 -0.09213 " pathEditMode="relative" rAng="0" ptsTypes="AAAA">
                                      <p:cBhvr>
                                        <p:cTn id="72" dur="1500" fill="hold"/>
                                        <p:tgtEl>
                                          <p:spTgt spid="25"/>
                                        </p:tgtEl>
                                        <p:attrNameLst>
                                          <p:attrName>ppt_x</p:attrName>
                                          <p:attrName>ppt_y</p:attrName>
                                        </p:attrNameLst>
                                      </p:cBhvr>
                                      <p:rCtr x="1944" y="-4606"/>
                                    </p:animMotion>
                                  </p:childTnLst>
                                </p:cTn>
                              </p:par>
                            </p:childTnLst>
                          </p:cTn>
                        </p:par>
                        <p:par>
                          <p:cTn id="73" fill="hold">
                            <p:stCondLst>
                              <p:cond delay="5000"/>
                            </p:stCondLst>
                            <p:childTnLst>
                              <p:par>
                                <p:cTn id="74" presetID="63" presetClass="path" presetSubtype="0" decel="50000" fill="hold" grpId="3" nodeType="afterEffect">
                                  <p:stCondLst>
                                    <p:cond delay="0"/>
                                  </p:stCondLst>
                                  <p:childTnLst>
                                    <p:animMotion origin="layout" path="M 0.03889 -0.0919 L 0.08629 -0.0919 " pathEditMode="relative" rAng="0" ptsTypes="AA">
                                      <p:cBhvr>
                                        <p:cTn id="75" dur="1000" fill="hold"/>
                                        <p:tgtEl>
                                          <p:spTgt spid="25"/>
                                        </p:tgtEl>
                                        <p:attrNameLst>
                                          <p:attrName>ppt_x</p:attrName>
                                          <p:attrName>ppt_y</p:attrName>
                                        </p:attrNameLst>
                                      </p:cBhvr>
                                      <p:rCtr x="2361" y="0"/>
                                    </p:animMotion>
                                  </p:childTnLst>
                                </p:cTn>
                              </p:par>
                            </p:childTnLst>
                          </p:cTn>
                        </p:par>
                        <p:par>
                          <p:cTn id="76" fill="hold">
                            <p:stCondLst>
                              <p:cond delay="6000"/>
                            </p:stCondLst>
                            <p:childTnLst>
                              <p:par>
                                <p:cTn id="77" presetID="1" presetClass="exit" presetSubtype="0" fill="hold" grpId="2" nodeType="afterEffect">
                                  <p:stCondLst>
                                    <p:cond delay="0"/>
                                  </p:stCondLst>
                                  <p:childTnLst>
                                    <p:set>
                                      <p:cBhvr>
                                        <p:cTn id="78" dur="1" fill="hold">
                                          <p:stCondLst>
                                            <p:cond delay="0"/>
                                          </p:stCondLst>
                                        </p:cTn>
                                        <p:tgtEl>
                                          <p:spTgt spid="25"/>
                                        </p:tgtEl>
                                        <p:attrNameLst>
                                          <p:attrName>style.visibility</p:attrName>
                                        </p:attrNameLst>
                                      </p:cBhvr>
                                      <p:to>
                                        <p:strVal val="hidden"/>
                                      </p:to>
                                    </p:set>
                                  </p:childTnLst>
                                </p:cTn>
                              </p:par>
                            </p:childTnLst>
                          </p:cTn>
                        </p:par>
                        <p:par>
                          <p:cTn id="79" fill="hold">
                            <p:stCondLst>
                              <p:cond delay="6000"/>
                            </p:stCondLst>
                            <p:childTnLst>
                              <p:par>
                                <p:cTn id="80" presetID="1"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childTnLst>
                                </p:cTn>
                              </p:par>
                            </p:childTnLst>
                          </p:cTn>
                        </p:par>
                        <p:par>
                          <p:cTn id="82" fill="hold">
                            <p:stCondLst>
                              <p:cond delay="6000"/>
                            </p:stCondLst>
                            <p:childTnLst>
                              <p:par>
                                <p:cTn id="83" presetID="1" presetClass="entr" presetSubtype="0"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childTnLst>
                                </p:cTn>
                              </p:par>
                            </p:childTnLst>
                          </p:cTn>
                        </p:par>
                        <p:par>
                          <p:cTn id="85" fill="hold">
                            <p:stCondLst>
                              <p:cond delay="6000"/>
                            </p:stCondLst>
                            <p:childTnLst>
                              <p:par>
                                <p:cTn id="86" presetID="50" presetClass="path" presetSubtype="0" accel="50000" decel="50000" fill="hold" grpId="1" nodeType="afterEffect">
                                  <p:stCondLst>
                                    <p:cond delay="0"/>
                                  </p:stCondLst>
                                  <p:childTnLst>
                                    <p:animMotion origin="layout" path="M -2.77778E-7 -2.59259E-6 L 0.0191 -2.59259E-6 C 0.02795 -2.59259E-6 0.03889 0.02523 0.03889 0.04584 L 0.03889 0.09236 " pathEditMode="relative" rAng="0" ptsTypes="AAAA">
                                      <p:cBhvr>
                                        <p:cTn id="87" dur="1500" fill="hold"/>
                                        <p:tgtEl>
                                          <p:spTgt spid="17"/>
                                        </p:tgtEl>
                                        <p:attrNameLst>
                                          <p:attrName>ppt_x</p:attrName>
                                          <p:attrName>ppt_y</p:attrName>
                                        </p:attrNameLst>
                                      </p:cBhvr>
                                      <p:rCtr x="1944" y="4606"/>
                                    </p:animMotion>
                                  </p:childTnLst>
                                </p:cTn>
                              </p:par>
                              <p:par>
                                <p:cTn id="88" presetID="50" presetClass="path" presetSubtype="0" accel="50000" decel="25000" fill="hold" grpId="1" nodeType="withEffect">
                                  <p:stCondLst>
                                    <p:cond delay="0"/>
                                  </p:stCondLst>
                                  <p:childTnLst>
                                    <p:animMotion origin="layout" path="M -2.77778E-7 -3.7037E-7 L 0.01927 -3.7037E-7 C 0.02795 -3.7037E-7 0.03906 -0.02546 0.03906 -0.04606 L 0.03906 -0.09213 " pathEditMode="relative" rAng="0" ptsTypes="AAAA">
                                      <p:cBhvr>
                                        <p:cTn id="89" dur="1500" fill="hold"/>
                                        <p:tgtEl>
                                          <p:spTgt spid="18"/>
                                        </p:tgtEl>
                                        <p:attrNameLst>
                                          <p:attrName>ppt_x</p:attrName>
                                          <p:attrName>ppt_y</p:attrName>
                                        </p:attrNameLst>
                                      </p:cBhvr>
                                      <p:rCtr x="1944" y="-4606"/>
                                    </p:animMotion>
                                  </p:childTnLst>
                                </p:cTn>
                              </p:par>
                            </p:childTnLst>
                          </p:cTn>
                        </p:par>
                        <p:par>
                          <p:cTn id="90" fill="hold">
                            <p:stCondLst>
                              <p:cond delay="7500"/>
                            </p:stCondLst>
                            <p:childTnLst>
                              <p:par>
                                <p:cTn id="91" presetID="1" presetClass="exit" presetSubtype="0" fill="hold" grpId="2" nodeType="afterEffect">
                                  <p:stCondLst>
                                    <p:cond delay="0"/>
                                  </p:stCondLst>
                                  <p:childTnLst>
                                    <p:set>
                                      <p:cBhvr>
                                        <p:cTn id="92" dur="1" fill="hold">
                                          <p:stCondLst>
                                            <p:cond delay="0"/>
                                          </p:stCondLst>
                                        </p:cTn>
                                        <p:tgtEl>
                                          <p:spTgt spid="18"/>
                                        </p:tgtEl>
                                        <p:attrNameLst>
                                          <p:attrName>style.visibility</p:attrName>
                                        </p:attrNameLst>
                                      </p:cBhvr>
                                      <p:to>
                                        <p:strVal val="hidden"/>
                                      </p:to>
                                    </p:set>
                                  </p:childTnLst>
                                </p:cTn>
                              </p:par>
                            </p:childTnLst>
                          </p:cTn>
                        </p:par>
                        <p:par>
                          <p:cTn id="93" fill="hold">
                            <p:stCondLst>
                              <p:cond delay="7500"/>
                            </p:stCondLst>
                            <p:childTnLst>
                              <p:par>
                                <p:cTn id="94" presetID="63" presetClass="path" presetSubtype="0" decel="50000" fill="hold" grpId="2" nodeType="afterEffect">
                                  <p:stCondLst>
                                    <p:cond delay="0"/>
                                  </p:stCondLst>
                                  <p:childTnLst>
                                    <p:animMotion origin="layout" path="M 0.03889 0.09236 L 0.08733 0.09236 " pathEditMode="relative" rAng="0" ptsTypes="AA">
                                      <p:cBhvr>
                                        <p:cTn id="95" dur="1000" fill="hold"/>
                                        <p:tgtEl>
                                          <p:spTgt spid="17"/>
                                        </p:tgtEl>
                                        <p:attrNameLst>
                                          <p:attrName>ppt_x</p:attrName>
                                          <p:attrName>ppt_y</p:attrName>
                                        </p:attrNameLst>
                                      </p:cBhvr>
                                      <p:rCtr x="241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6" grpId="0" animBg="1"/>
      <p:bldP spid="16" grpId="1" animBg="1"/>
      <p:bldP spid="16" grpId="2" animBg="1"/>
      <p:bldP spid="16" grpId="3" animBg="1"/>
      <p:bldP spid="17" grpId="0" animBg="1"/>
      <p:bldP spid="17" grpId="1" animBg="1"/>
      <p:bldP spid="17" grpId="2" animBg="1"/>
      <p:bldP spid="18" grpId="0" animBg="1"/>
      <p:bldP spid="18" grpId="1" animBg="1"/>
      <p:bldP spid="18" grpId="2" animBg="1"/>
      <p:bldP spid="22" grpId="0" animBg="1"/>
      <p:bldP spid="22" grpId="1" animBg="1"/>
      <p:bldP spid="22" grpId="2" animBg="1"/>
      <p:bldP spid="22" grpId="3" animBg="1"/>
      <p:bldP spid="23" grpId="0" animBg="1"/>
      <p:bldP spid="23" grpId="1" animBg="1"/>
      <p:bldP spid="23" grpId="2" animBg="1"/>
      <p:bldP spid="23" grpId="3" animBg="1"/>
      <p:bldP spid="24" grpId="0" animBg="1"/>
      <p:bldP spid="24" grpId="1" animBg="1"/>
      <p:bldP spid="24" grpId="2" animBg="1"/>
      <p:bldP spid="24" grpId="3" animBg="1"/>
      <p:bldP spid="25" grpId="0" animBg="1"/>
      <p:bldP spid="25" grpId="1" animBg="1"/>
      <p:bldP spid="25" grpId="2" animBg="1"/>
      <p:bldP spid="25" grpId="3"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783" y="2030182"/>
            <a:ext cx="8532440" cy="2797636"/>
          </a:xfrm>
          <a:prstGeom prst="rect">
            <a:avLst/>
          </a:prstGeom>
        </p:spPr>
      </p:pic>
      <p:sp>
        <p:nvSpPr>
          <p:cNvPr id="1096710" name="Rectangle 6"/>
          <p:cNvSpPr>
            <a:spLocks noGrp="1" noChangeArrowheads="1"/>
          </p:cNvSpPr>
          <p:nvPr>
            <p:ph type="title"/>
          </p:nvPr>
        </p:nvSpPr>
        <p:spPr/>
        <p:txBody>
          <a:bodyPr/>
          <a:lstStyle/>
          <a:p>
            <a:r>
              <a:rPr lang="en-AU" dirty="0"/>
              <a:t>Solution using OR Gateway</a:t>
            </a:r>
          </a:p>
        </p:txBody>
      </p:sp>
      <p:sp>
        <p:nvSpPr>
          <p:cNvPr id="1096712" name="Text Box 8" hidden="1"/>
          <p:cNvSpPr txBox="1">
            <a:spLocks noChangeArrowheads="1"/>
          </p:cNvSpPr>
          <p:nvPr/>
        </p:nvSpPr>
        <p:spPr bwMode="auto">
          <a:xfrm>
            <a:off x="2954465" y="2925829"/>
            <a:ext cx="1506538" cy="427037"/>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OR-split</a:t>
            </a:r>
          </a:p>
        </p:txBody>
      </p:sp>
      <p:sp>
        <p:nvSpPr>
          <p:cNvPr id="1096713" name="Text Box 9" hidden="1"/>
          <p:cNvSpPr txBox="1">
            <a:spLocks noChangeArrowheads="1"/>
          </p:cNvSpPr>
          <p:nvPr/>
        </p:nvSpPr>
        <p:spPr bwMode="auto">
          <a:xfrm>
            <a:off x="4937003" y="2925829"/>
            <a:ext cx="1506537" cy="427038"/>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a:solidFill>
                  <a:prstClr val="black"/>
                </a:solidFill>
                <a:latin typeface="Arial" charset="0"/>
                <a:ea typeface="ＭＳ Ｐゴシック" pitchFamily="34" charset="-128"/>
              </a:rPr>
              <a:t>OR-join</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13</a:t>
            </a:fld>
            <a:endParaRPr lang="en-AU">
              <a:solidFill>
                <a:prstClr val="black">
                  <a:lumMod val="50000"/>
                  <a:lumOff val="50000"/>
                </a:prstClr>
              </a:solidFill>
            </a:endParaRPr>
          </a:p>
        </p:txBody>
      </p:sp>
      <p:sp>
        <p:nvSpPr>
          <p:cNvPr id="7" name="Rectangle 6"/>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r>
              <a:rPr lang="en-AU" sz="2400" b="1" dirty="0">
                <a:solidFill>
                  <a:prstClr val="black">
                    <a:lumMod val="75000"/>
                    <a:lumOff val="25000"/>
                  </a:prstClr>
                </a:solidFill>
              </a:rPr>
              <a:t>Order distribution process</a:t>
            </a:r>
          </a:p>
        </p:txBody>
      </p:sp>
      <p:sp>
        <p:nvSpPr>
          <p:cNvPr id="11" name="Oval 10"/>
          <p:cNvSpPr/>
          <p:nvPr/>
        </p:nvSpPr>
        <p:spPr>
          <a:xfrm>
            <a:off x="421644" y="330468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7" name="Oval 16"/>
          <p:cNvSpPr/>
          <p:nvPr/>
        </p:nvSpPr>
        <p:spPr>
          <a:xfrm>
            <a:off x="2414861" y="330468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
        <p:nvSpPr>
          <p:cNvPr id="18" name="Oval 17"/>
          <p:cNvSpPr/>
          <p:nvPr/>
        </p:nvSpPr>
        <p:spPr>
          <a:xfrm>
            <a:off x="2414862" y="3304680"/>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prstClr val="white"/>
              </a:solidFill>
            </a:endParaRPr>
          </a:p>
        </p:txBody>
      </p:sp>
    </p:spTree>
    <p:extLst>
      <p:ext uri="{BB962C8B-B14F-4D97-AF65-F5344CB8AC3E}">
        <p14:creationId xmlns:p14="http://schemas.microsoft.com/office/powerpoint/2010/main" val="34677899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96712"/>
                                        </p:tgtEl>
                                        <p:attrNameLst>
                                          <p:attrName>style.visibility</p:attrName>
                                        </p:attrNameLst>
                                      </p:cBhvr>
                                      <p:to>
                                        <p:strVal val="visible"/>
                                      </p:to>
                                    </p:set>
                                    <p:animEffect transition="in" filter="fade">
                                      <p:cBhvr>
                                        <p:cTn id="7" dur="1000"/>
                                        <p:tgtEl>
                                          <p:spTgt spid="109671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96713"/>
                                        </p:tgtEl>
                                        <p:attrNameLst>
                                          <p:attrName>style.visibility</p:attrName>
                                        </p:attrNameLst>
                                      </p:cBhvr>
                                      <p:to>
                                        <p:strVal val="visible"/>
                                      </p:to>
                                    </p:set>
                                    <p:animEffect transition="in" filter="fade">
                                      <p:cBhvr>
                                        <p:cTn id="11" dur="1000"/>
                                        <p:tgtEl>
                                          <p:spTgt spid="1096713"/>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1"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par>
                          <p:cTn id="19" fill="hold">
                            <p:stCondLst>
                              <p:cond delay="500"/>
                            </p:stCondLst>
                            <p:childTnLst>
                              <p:par>
                                <p:cTn id="20" presetID="63" presetClass="path" presetSubtype="0" accel="50000" decel="50000" fill="hold" grpId="7" nodeType="afterEffect">
                                  <p:stCondLst>
                                    <p:cond delay="0"/>
                                  </p:stCondLst>
                                  <p:childTnLst>
                                    <p:animMotion origin="layout" path="M 4.44444E-6 -1.48148E-6 L 0.21736 -0.0007 " pathEditMode="relative" rAng="0" ptsTypes="AA">
                                      <p:cBhvr>
                                        <p:cTn id="21" dur="2000" fill="hold"/>
                                        <p:tgtEl>
                                          <p:spTgt spid="11"/>
                                        </p:tgtEl>
                                        <p:attrNameLst>
                                          <p:attrName>ppt_x</p:attrName>
                                          <p:attrName>ppt_y</p:attrName>
                                        </p:attrNameLst>
                                      </p:cBhvr>
                                      <p:rCtr x="10885" y="-93"/>
                                    </p:animMotion>
                                  </p:childTnLst>
                                </p:cTn>
                              </p:par>
                            </p:childTnLst>
                          </p:cTn>
                        </p:par>
                        <p:par>
                          <p:cTn id="22" fill="hold">
                            <p:stCondLst>
                              <p:cond delay="2500"/>
                            </p:stCondLst>
                            <p:childTnLst>
                              <p:par>
                                <p:cTn id="23" presetID="50" presetClass="path" presetSubtype="0" accel="50000" fill="hold" grpId="6" nodeType="afterEffect">
                                  <p:stCondLst>
                                    <p:cond delay="0"/>
                                  </p:stCondLst>
                                  <p:childTnLst>
                                    <p:animMotion origin="layout" path="M 0.21736 -0.00069 L 0.23923 -0.00069 C 0.2493 -0.00069 0.26163 -0.03796 0.26163 -0.06782 L 0.26163 -0.13495 " pathEditMode="relative" rAng="0" ptsTypes="AAAA">
                                      <p:cBhvr>
                                        <p:cTn id="24" dur="1500" fill="hold"/>
                                        <p:tgtEl>
                                          <p:spTgt spid="11"/>
                                        </p:tgtEl>
                                        <p:attrNameLst>
                                          <p:attrName>ppt_x</p:attrName>
                                          <p:attrName>ppt_y</p:attrName>
                                        </p:attrNameLst>
                                      </p:cBhvr>
                                      <p:rCtr x="2205" y="-6713"/>
                                    </p:animMotion>
                                  </p:childTnLst>
                                </p:cTn>
                              </p:par>
                            </p:childTnLst>
                          </p:cTn>
                        </p:par>
                        <p:par>
                          <p:cTn id="25" fill="hold">
                            <p:stCondLst>
                              <p:cond delay="4000"/>
                            </p:stCondLst>
                            <p:childTnLst>
                              <p:par>
                                <p:cTn id="26" presetID="42" presetClass="path" presetSubtype="0" decel="50000" fill="hold" grpId="0" nodeType="afterEffect">
                                  <p:stCondLst>
                                    <p:cond delay="0"/>
                                  </p:stCondLst>
                                  <p:childTnLst>
                                    <p:animMotion origin="layout" path="M 0.26163 -0.13496 L 0.36927 -0.13194 " pathEditMode="relative" rAng="0" ptsTypes="AA">
                                      <p:cBhvr>
                                        <p:cTn id="27" dur="1250" fill="hold"/>
                                        <p:tgtEl>
                                          <p:spTgt spid="11"/>
                                        </p:tgtEl>
                                        <p:attrNameLst>
                                          <p:attrName>ppt_x</p:attrName>
                                          <p:attrName>ppt_y</p:attrName>
                                        </p:attrNameLst>
                                      </p:cBhvr>
                                      <p:rCtr x="5382" y="116"/>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grpId="3" nodeType="clickEffect">
                                  <p:stCondLst>
                                    <p:cond delay="0"/>
                                  </p:stCondLst>
                                  <p:childTnLst>
                                    <p:animMotion origin="layout" path="M 0.36927 -0.13194 L 0.59288 -0.13333 " pathEditMode="relative" rAng="0" ptsTypes="AA">
                                      <p:cBhvr>
                                        <p:cTn id="31" dur="2000" fill="hold"/>
                                        <p:tgtEl>
                                          <p:spTgt spid="11"/>
                                        </p:tgtEl>
                                        <p:attrNameLst>
                                          <p:attrName>ppt_x</p:attrName>
                                          <p:attrName>ppt_y</p:attrName>
                                        </p:attrNameLst>
                                      </p:cBhvr>
                                      <p:rCtr x="11181" y="-69"/>
                                    </p:animMotion>
                                  </p:childTnLst>
                                </p:cTn>
                              </p:par>
                            </p:childTnLst>
                          </p:cTn>
                        </p:par>
                      </p:childTnLst>
                    </p:cTn>
                  </p:par>
                  <p:par>
                    <p:cTn id="32" fill="hold">
                      <p:stCondLst>
                        <p:cond delay="indefinite"/>
                      </p:stCondLst>
                      <p:childTnLst>
                        <p:par>
                          <p:cTn id="33" fill="hold">
                            <p:stCondLst>
                              <p:cond delay="0"/>
                            </p:stCondLst>
                            <p:childTnLst>
                              <p:par>
                                <p:cTn id="34" presetID="50" presetClass="path" presetSubtype="0" fill="hold" grpId="8" nodeType="clickEffect">
                                  <p:stCondLst>
                                    <p:cond delay="0"/>
                                  </p:stCondLst>
                                  <p:childTnLst>
                                    <p:animMotion origin="layout" path="M 0.59288 -0.13333 L 0.60572 -0.13333 C 0.61163 -0.13333 0.61892 -0.09629 0.61892 -0.06574 L 0.61892 0.00185 " pathEditMode="relative" rAng="0" ptsTypes="AAAA">
                                      <p:cBhvr>
                                        <p:cTn id="35" dur="1500" fill="hold"/>
                                        <p:tgtEl>
                                          <p:spTgt spid="11"/>
                                        </p:tgtEl>
                                        <p:attrNameLst>
                                          <p:attrName>ppt_x</p:attrName>
                                          <p:attrName>ppt_y</p:attrName>
                                        </p:attrNameLst>
                                      </p:cBhvr>
                                      <p:rCtr x="1302" y="6759"/>
                                    </p:animMotion>
                                  </p:childTnLst>
                                </p:cTn>
                              </p:par>
                            </p:childTnLst>
                          </p:cTn>
                        </p:par>
                        <p:par>
                          <p:cTn id="36" fill="hold">
                            <p:stCondLst>
                              <p:cond delay="1500"/>
                            </p:stCondLst>
                            <p:childTnLst>
                              <p:par>
                                <p:cTn id="37" presetID="63" presetClass="path" presetSubtype="0" decel="50000" fill="hold" grpId="9" nodeType="afterEffect">
                                  <p:stCondLst>
                                    <p:cond delay="0"/>
                                  </p:stCondLst>
                                  <p:childTnLst>
                                    <p:animMotion origin="layout" path="M 0.61892 -0.00324 L 0.65642 -0.00023 " pathEditMode="relative" rAng="0" ptsTypes="AA">
                                      <p:cBhvr>
                                        <p:cTn id="38" dur="750" fill="hold"/>
                                        <p:tgtEl>
                                          <p:spTgt spid="11"/>
                                        </p:tgtEl>
                                        <p:attrNameLst>
                                          <p:attrName>ppt_x</p:attrName>
                                          <p:attrName>ppt_y</p:attrName>
                                        </p:attrNameLst>
                                      </p:cBhvr>
                                      <p:rCtr x="1875" y="139"/>
                                    </p:animMotion>
                                  </p:childTnLst>
                                </p:cTn>
                              </p:par>
                            </p:childTnLst>
                          </p:cTn>
                        </p:par>
                      </p:childTnLst>
                    </p:cTn>
                  </p:par>
                  <p:par>
                    <p:cTn id="39" fill="hold">
                      <p:stCondLst>
                        <p:cond delay="indefinite"/>
                      </p:stCondLst>
                      <p:childTnLst>
                        <p:par>
                          <p:cTn id="40" fill="hold">
                            <p:stCondLst>
                              <p:cond delay="0"/>
                            </p:stCondLst>
                            <p:childTnLst>
                              <p:par>
                                <p:cTn id="41" presetID="50" presetClass="path" presetSubtype="0" accel="50000" decel="50000" fill="hold" grpId="2" nodeType="clickEffect">
                                  <p:stCondLst>
                                    <p:cond delay="0"/>
                                  </p:stCondLst>
                                  <p:childTnLst>
                                    <p:animMotion origin="layout" path="M 0.21736 -0.00069 L 0.23923 -0.00069 C 0.2493 -0.00069 0.26163 0.03843 0.26163 0.0706 L 0.26163 0.14259 " pathEditMode="relative" rAng="0" ptsTypes="AAAA">
                                      <p:cBhvr>
                                        <p:cTn id="42" dur="1500" fill="hold"/>
                                        <p:tgtEl>
                                          <p:spTgt spid="11"/>
                                        </p:tgtEl>
                                        <p:attrNameLst>
                                          <p:attrName>ppt_x</p:attrName>
                                          <p:attrName>ppt_y</p:attrName>
                                        </p:attrNameLst>
                                      </p:cBhvr>
                                      <p:rCtr x="2205" y="7153"/>
                                    </p:animMotion>
                                  </p:childTnLst>
                                </p:cTn>
                              </p:par>
                            </p:childTnLst>
                          </p:cTn>
                        </p:par>
                        <p:par>
                          <p:cTn id="43" fill="hold">
                            <p:stCondLst>
                              <p:cond delay="1500"/>
                            </p:stCondLst>
                            <p:childTnLst>
                              <p:par>
                                <p:cTn id="44" presetID="63" presetClass="path" presetSubtype="0" accel="50000" decel="50000" fill="hold" grpId="4" nodeType="afterEffect">
                                  <p:stCondLst>
                                    <p:cond delay="0"/>
                                  </p:stCondLst>
                                  <p:childTnLst>
                                    <p:animMotion origin="layout" path="M 0.26163 0.14259 L 0.3717 0.14259 " pathEditMode="fixed" rAng="0" ptsTypes="AA">
                                      <p:cBhvr>
                                        <p:cTn id="45" dur="1250" fill="hold"/>
                                        <p:tgtEl>
                                          <p:spTgt spid="11"/>
                                        </p:tgtEl>
                                        <p:attrNameLst>
                                          <p:attrName>ppt_x</p:attrName>
                                          <p:attrName>ppt_y</p:attrName>
                                        </p:attrNameLst>
                                      </p:cBhvr>
                                      <p:rCtr x="5503" y="0"/>
                                    </p:animMotion>
                                  </p:childTnLst>
                                </p:cTn>
                              </p:par>
                            </p:childTnLst>
                          </p:cTn>
                        </p:par>
                        <p:par>
                          <p:cTn id="46" fill="hold">
                            <p:stCondLst>
                              <p:cond delay="2750"/>
                            </p:stCondLst>
                            <p:childTnLst>
                              <p:par>
                                <p:cTn id="47" presetID="63" presetClass="path" presetSubtype="0" accel="50000" decel="50000" fill="hold" grpId="5" nodeType="afterEffect">
                                  <p:stCondLst>
                                    <p:cond delay="0"/>
                                  </p:stCondLst>
                                  <p:childTnLst>
                                    <p:animMotion origin="layout" path="M 0.3717 0.14259 L 0.58958 0.14421 " pathEditMode="relative" rAng="0" ptsTypes="AA">
                                      <p:cBhvr>
                                        <p:cTn id="48" dur="2000" fill="hold"/>
                                        <p:tgtEl>
                                          <p:spTgt spid="11"/>
                                        </p:tgtEl>
                                        <p:attrNameLst>
                                          <p:attrName>ppt_x</p:attrName>
                                          <p:attrName>ppt_y</p:attrName>
                                        </p:attrNameLst>
                                      </p:cBhvr>
                                      <p:rCtr x="10885" y="69"/>
                                    </p:animMotion>
                                  </p:childTnLst>
                                </p:cTn>
                              </p:par>
                            </p:childTnLst>
                          </p:cTn>
                        </p:par>
                      </p:childTnLst>
                    </p:cTn>
                  </p:par>
                  <p:par>
                    <p:cTn id="49" fill="hold">
                      <p:stCondLst>
                        <p:cond delay="indefinite"/>
                      </p:stCondLst>
                      <p:childTnLst>
                        <p:par>
                          <p:cTn id="50" fill="hold">
                            <p:stCondLst>
                              <p:cond delay="0"/>
                            </p:stCondLst>
                            <p:childTnLst>
                              <p:par>
                                <p:cTn id="51" presetID="43" presetClass="path" presetSubtype="0" accel="50000" decel="50000" fill="hold" grpId="10" nodeType="clickEffect">
                                  <p:stCondLst>
                                    <p:cond delay="0"/>
                                  </p:stCondLst>
                                  <p:childTnLst>
                                    <p:animMotion origin="layout" path="M 0.58958 0.14421 L 0.60451 0.14421 C 0.61111 0.14421 0.61944 0.10417 0.61944 0.07176 L 0.61944 -0.00023 " pathEditMode="relative" rAng="0" ptsTypes="AAAA">
                                      <p:cBhvr>
                                        <p:cTn id="52" dur="1500" fill="hold"/>
                                        <p:tgtEl>
                                          <p:spTgt spid="11"/>
                                        </p:tgtEl>
                                        <p:attrNameLst>
                                          <p:attrName>ppt_x</p:attrName>
                                          <p:attrName>ppt_y</p:attrName>
                                        </p:attrNameLst>
                                      </p:cBhvr>
                                      <p:rCtr x="1493" y="-7222"/>
                                    </p:animMotion>
                                  </p:childTnLst>
                                </p:cTn>
                              </p:par>
                            </p:childTnLst>
                          </p:cTn>
                        </p:par>
                        <p:par>
                          <p:cTn id="53" fill="hold">
                            <p:stCondLst>
                              <p:cond delay="1500"/>
                            </p:stCondLst>
                            <p:childTnLst>
                              <p:par>
                                <p:cTn id="54" presetID="63" presetClass="path" presetSubtype="0" decel="50000" fill="hold" grpId="11" nodeType="afterEffect">
                                  <p:stCondLst>
                                    <p:cond delay="0"/>
                                  </p:stCondLst>
                                  <p:childTnLst>
                                    <p:animMotion origin="layout" path="M 0.61788 0.00093 L 0.65121 -1.48148E-6 " pathEditMode="relative" rAng="0" ptsTypes="AA">
                                      <p:cBhvr>
                                        <p:cTn id="55" dur="750" fill="hold"/>
                                        <p:tgtEl>
                                          <p:spTgt spid="11"/>
                                        </p:tgtEl>
                                        <p:attrNameLst>
                                          <p:attrName>ppt_x</p:attrName>
                                          <p:attrName>ppt_y</p:attrName>
                                        </p:attrNameLst>
                                      </p:cBhvr>
                                      <p:rCtr x="1667" y="-46"/>
                                    </p:animMotion>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2" nodeType="clickEffect">
                                  <p:stCondLst>
                                    <p:cond delay="0"/>
                                  </p:stCondLst>
                                  <p:childTnLst>
                                    <p:set>
                                      <p:cBhvr>
                                        <p:cTn id="59" dur="1" fill="hold">
                                          <p:stCondLst>
                                            <p:cond delay="0"/>
                                          </p:stCondLst>
                                        </p:cTn>
                                        <p:tgtEl>
                                          <p:spTgt spid="11"/>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par>
                          <p:cTn id="62" fill="hold">
                            <p:stCondLst>
                              <p:cond delay="0"/>
                            </p:stCondLst>
                            <p:childTnLst>
                              <p:par>
                                <p:cTn id="63" presetID="50" presetClass="path" presetSubtype="0" accel="50000" decel="50000" fill="hold" grpId="1" nodeType="afterEffect">
                                  <p:stCondLst>
                                    <p:cond delay="0"/>
                                  </p:stCondLst>
                                  <p:childTnLst>
                                    <p:animMotion origin="layout" path="M -0.00052 -0.00069 L 0.02135 -0.00069 C 0.03142 -0.00069 0.04375 0.0382 0.04375 0.07037 L 0.04375 0.1419 " pathEditMode="relative" rAng="0" ptsTypes="AAAA">
                                      <p:cBhvr>
                                        <p:cTn id="64" dur="1500" fill="hold"/>
                                        <p:tgtEl>
                                          <p:spTgt spid="17"/>
                                        </p:tgtEl>
                                        <p:attrNameLst>
                                          <p:attrName>ppt_x</p:attrName>
                                          <p:attrName>ppt_y</p:attrName>
                                        </p:attrNameLst>
                                      </p:cBhvr>
                                      <p:rCtr x="2205" y="7130"/>
                                    </p:animMotion>
                                  </p:childTnLst>
                                </p:cTn>
                              </p:par>
                              <p:par>
                                <p:cTn id="65" presetID="1" presetClass="entr" presetSubtype="0" fill="hold" grpId="3"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50" presetClass="path" presetSubtype="0" accel="50000" decel="50000" fill="hold" grpId="0" nodeType="withEffect">
                                  <p:stCondLst>
                                    <p:cond delay="0"/>
                                  </p:stCondLst>
                                  <p:childTnLst>
                                    <p:animMotion origin="layout" path="M -0.00052 -0.00069 L 0.02257 -0.00069 C 0.03316 -0.00069 0.04618 -0.03796 0.04618 -0.06782 L 0.04618 -0.13356 " pathEditMode="relative" rAng="0" ptsTypes="AAAA">
                                      <p:cBhvr>
                                        <p:cTn id="68" dur="1500" fill="hold"/>
                                        <p:tgtEl>
                                          <p:spTgt spid="18"/>
                                        </p:tgtEl>
                                        <p:attrNameLst>
                                          <p:attrName>ppt_x</p:attrName>
                                          <p:attrName>ppt_y</p:attrName>
                                        </p:attrNameLst>
                                      </p:cBhvr>
                                      <p:rCtr x="2326" y="-6644"/>
                                    </p:animMotion>
                                  </p:childTnLst>
                                </p:cTn>
                              </p:par>
                            </p:childTnLst>
                          </p:cTn>
                        </p:par>
                      </p:childTnLst>
                    </p:cTn>
                  </p:par>
                  <p:par>
                    <p:cTn id="69" fill="hold">
                      <p:stCondLst>
                        <p:cond delay="indefinite"/>
                      </p:stCondLst>
                      <p:childTnLst>
                        <p:par>
                          <p:cTn id="70" fill="hold">
                            <p:stCondLst>
                              <p:cond delay="0"/>
                            </p:stCondLst>
                            <p:childTnLst>
                              <p:par>
                                <p:cTn id="71" presetID="63" presetClass="path" presetSubtype="0" accel="50000" decel="50000" fill="hold" grpId="2" nodeType="clickEffect">
                                  <p:stCondLst>
                                    <p:cond delay="0"/>
                                  </p:stCondLst>
                                  <p:childTnLst>
                                    <p:animMotion origin="layout" path="M 0.04375 -0.13495 L 0.375 -0.13333 " pathEditMode="fixed" rAng="0" ptsTypes="AA">
                                      <p:cBhvr>
                                        <p:cTn id="72" dur="2000" fill="hold"/>
                                        <p:tgtEl>
                                          <p:spTgt spid="18"/>
                                        </p:tgtEl>
                                        <p:attrNameLst>
                                          <p:attrName>ppt_x</p:attrName>
                                          <p:attrName>ppt_y</p:attrName>
                                        </p:attrNameLst>
                                      </p:cBhvr>
                                      <p:rCtr x="16493" y="-23"/>
                                    </p:animMotion>
                                  </p:childTnLst>
                                </p:cTn>
                              </p:par>
                              <p:par>
                                <p:cTn id="73" presetID="63" presetClass="path" presetSubtype="0" accel="50000" decel="50000" fill="hold" grpId="4" nodeType="withEffect">
                                  <p:stCondLst>
                                    <p:cond delay="0"/>
                                  </p:stCondLst>
                                  <p:childTnLst>
                                    <p:animMotion origin="layout" path="M 0.04375 0.14259 L 0.28837 0.14352 " pathEditMode="relative" rAng="0" ptsTypes="AA">
                                      <p:cBhvr>
                                        <p:cTn id="74" dur="1500" fill="hold"/>
                                        <p:tgtEl>
                                          <p:spTgt spid="17"/>
                                        </p:tgtEl>
                                        <p:attrNameLst>
                                          <p:attrName>ppt_x</p:attrName>
                                          <p:attrName>ppt_y</p:attrName>
                                        </p:attrNameLst>
                                      </p:cBhvr>
                                      <p:rCtr x="12222" y="46"/>
                                    </p:animMotion>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grpId="7" nodeType="clickEffect">
                                  <p:stCondLst>
                                    <p:cond delay="0"/>
                                  </p:stCondLst>
                                  <p:childTnLst>
                                    <p:animMotion origin="layout" path="M 0.28837 0.14352 L 0.3717 0.14421 " pathEditMode="relative" rAng="0" ptsTypes="AA">
                                      <p:cBhvr>
                                        <p:cTn id="78" dur="1000" fill="hold"/>
                                        <p:tgtEl>
                                          <p:spTgt spid="17"/>
                                        </p:tgtEl>
                                        <p:attrNameLst>
                                          <p:attrName>ppt_x</p:attrName>
                                          <p:attrName>ppt_y</p:attrName>
                                        </p:attrNameLst>
                                      </p:cBhvr>
                                      <p:rCtr x="4375" y="-23"/>
                                    </p:animMotion>
                                  </p:childTnLst>
                                </p:cTn>
                              </p:par>
                            </p:childTnLst>
                          </p:cTn>
                        </p:par>
                      </p:childTnLst>
                    </p:cTn>
                  </p:par>
                  <p:par>
                    <p:cTn id="79" fill="hold">
                      <p:stCondLst>
                        <p:cond delay="indefinite"/>
                      </p:stCondLst>
                      <p:childTnLst>
                        <p:par>
                          <p:cTn id="80" fill="hold">
                            <p:stCondLst>
                              <p:cond delay="0"/>
                            </p:stCondLst>
                            <p:childTnLst>
                              <p:par>
                                <p:cTn id="81" presetID="50" presetClass="path" presetSubtype="0" accel="50000" decel="25000" fill="hold" grpId="2" nodeType="clickEffect">
                                  <p:stCondLst>
                                    <p:cond delay="0"/>
                                  </p:stCondLst>
                                  <p:childTnLst>
                                    <p:animMotion origin="layout" path="M 0.3717 0.14421 L 0.38628 0.14421 C 0.39271 0.14421 0.40104 0.09908 0.40104 0.06968 L 0.40104 0.00139 " pathEditMode="relative" rAng="0" ptsTypes="AAAA">
                                      <p:cBhvr>
                                        <p:cTn id="82" dur="1500" fill="hold"/>
                                        <p:tgtEl>
                                          <p:spTgt spid="17"/>
                                        </p:tgtEl>
                                        <p:attrNameLst>
                                          <p:attrName>ppt_x</p:attrName>
                                          <p:attrName>ppt_y</p:attrName>
                                        </p:attrNameLst>
                                      </p:cBhvr>
                                      <p:rCtr x="1458" y="-7153"/>
                                    </p:animMotion>
                                  </p:childTnLst>
                                </p:cTn>
                              </p:par>
                              <p:par>
                                <p:cTn id="83" presetID="50" presetClass="path" presetSubtype="0" accel="50000" decel="50000" fill="hold" grpId="4" nodeType="withEffect">
                                  <p:stCondLst>
                                    <p:cond delay="0"/>
                                  </p:stCondLst>
                                  <p:childTnLst>
                                    <p:animMotion origin="layout" path="M 0.375 -0.13333 L 0.38802 -0.13333 C 0.39375 -0.13333 0.40104 -0.09653 0.40104 -0.0662 L 0.40104 0.00139 " pathEditMode="relative" rAng="0" ptsTypes="AAAA">
                                      <p:cBhvr>
                                        <p:cTn id="84" dur="1500" fill="hold"/>
                                        <p:tgtEl>
                                          <p:spTgt spid="18"/>
                                        </p:tgtEl>
                                        <p:attrNameLst>
                                          <p:attrName>ppt_x</p:attrName>
                                          <p:attrName>ppt_y</p:attrName>
                                        </p:attrNameLst>
                                      </p:cBhvr>
                                      <p:rCtr x="1302" y="6736"/>
                                    </p:animMotion>
                                  </p:childTnLst>
                                </p:cTn>
                              </p:par>
                            </p:childTnLst>
                          </p:cTn>
                        </p:par>
                        <p:par>
                          <p:cTn id="85" fill="hold">
                            <p:stCondLst>
                              <p:cond delay="1500"/>
                            </p:stCondLst>
                            <p:childTnLst>
                              <p:par>
                                <p:cTn id="86" presetID="42" presetClass="path" presetSubtype="0" decel="50000" fill="hold" grpId="3" nodeType="afterEffect">
                                  <p:stCondLst>
                                    <p:cond delay="0"/>
                                  </p:stCondLst>
                                  <p:childTnLst>
                                    <p:animMotion origin="layout" path="M 0.40104 0.00186 L 0.43854 -0.00023 " pathEditMode="relative" rAng="0" ptsTypes="AA">
                                      <p:cBhvr>
                                        <p:cTn id="87" dur="750" fill="hold"/>
                                        <p:tgtEl>
                                          <p:spTgt spid="17"/>
                                        </p:tgtEl>
                                        <p:attrNameLst>
                                          <p:attrName>ppt_x</p:attrName>
                                          <p:attrName>ppt_y</p:attrName>
                                        </p:attrNameLst>
                                      </p:cBhvr>
                                      <p:rCtr x="1892" y="-208"/>
                                    </p:animMotion>
                                  </p:childTnLst>
                                </p:cTn>
                              </p:par>
                              <p:par>
                                <p:cTn id="88" presetID="1" presetClass="exit" presetSubtype="0" fill="hold" grpId="5" nodeType="withEffect">
                                  <p:stCondLst>
                                    <p:cond delay="0"/>
                                  </p:stCondLst>
                                  <p:childTnLst>
                                    <p:set>
                                      <p:cBhvr>
                                        <p:cTn id="89" dur="1" fill="hold">
                                          <p:stCondLst>
                                            <p:cond delay="0"/>
                                          </p:stCondLst>
                                        </p:cTn>
                                        <p:tgtEl>
                                          <p:spTgt spid="18"/>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63" presetClass="path" presetSubtype="0" accel="50000" decel="50000" fill="hold" grpId="5" nodeType="clickEffect">
                                  <p:stCondLst>
                                    <p:cond delay="0"/>
                                  </p:stCondLst>
                                  <p:childTnLst>
                                    <p:animMotion origin="layout" path="M 0.43854 -0.00023 L 0.63663 -0.00023 " pathEditMode="relative" rAng="0" ptsTypes="AA">
                                      <p:cBhvr>
                                        <p:cTn id="93" dur="1500" fill="hold"/>
                                        <p:tgtEl>
                                          <p:spTgt spid="17"/>
                                        </p:tgtEl>
                                        <p:attrNameLst>
                                          <p:attrName>ppt_x</p:attrName>
                                          <p:attrName>ppt_y</p:attrName>
                                        </p:attrNameLst>
                                      </p:cBhvr>
                                      <p:rCtr x="9896" y="0"/>
                                    </p:animMotion>
                                  </p:childTnLst>
                                </p:cTn>
                              </p:par>
                            </p:childTnLst>
                          </p:cTn>
                        </p:par>
                        <p:par>
                          <p:cTn id="94" fill="hold">
                            <p:stCondLst>
                              <p:cond delay="1500"/>
                            </p:stCondLst>
                            <p:childTnLst>
                              <p:par>
                                <p:cTn id="95" presetID="53" presetClass="exit" presetSubtype="32" fill="hold" grpId="6" nodeType="afterEffect">
                                  <p:stCondLst>
                                    <p:cond delay="0"/>
                                  </p:stCondLst>
                                  <p:childTnLst>
                                    <p:anim calcmode="lin" valueType="num">
                                      <p:cBhvr>
                                        <p:cTn id="96" dur="500"/>
                                        <p:tgtEl>
                                          <p:spTgt spid="17"/>
                                        </p:tgtEl>
                                        <p:attrNameLst>
                                          <p:attrName>ppt_w</p:attrName>
                                        </p:attrNameLst>
                                      </p:cBhvr>
                                      <p:tavLst>
                                        <p:tav tm="0">
                                          <p:val>
                                            <p:strVal val="ppt_w"/>
                                          </p:val>
                                        </p:tav>
                                        <p:tav tm="100000">
                                          <p:val>
                                            <p:fltVal val="0"/>
                                          </p:val>
                                        </p:tav>
                                      </p:tavLst>
                                    </p:anim>
                                    <p:anim calcmode="lin" valueType="num">
                                      <p:cBhvr>
                                        <p:cTn id="97" dur="500"/>
                                        <p:tgtEl>
                                          <p:spTgt spid="17"/>
                                        </p:tgtEl>
                                        <p:attrNameLst>
                                          <p:attrName>ppt_h</p:attrName>
                                        </p:attrNameLst>
                                      </p:cBhvr>
                                      <p:tavLst>
                                        <p:tav tm="0">
                                          <p:val>
                                            <p:strVal val="ppt_h"/>
                                          </p:val>
                                        </p:tav>
                                        <p:tav tm="100000">
                                          <p:val>
                                            <p:fltVal val="0"/>
                                          </p:val>
                                        </p:tav>
                                      </p:tavLst>
                                    </p:anim>
                                    <p:animEffect transition="out" filter="fade">
                                      <p:cBhvr>
                                        <p:cTn id="98" dur="500"/>
                                        <p:tgtEl>
                                          <p:spTgt spid="17"/>
                                        </p:tgtEl>
                                      </p:cBhvr>
                                    </p:animEffect>
                                    <p:set>
                                      <p:cBhvr>
                                        <p:cTn id="99" dur="1" fill="hold">
                                          <p:stCondLst>
                                            <p:cond delay="499"/>
                                          </p:stCondLst>
                                        </p:cTn>
                                        <p:tgtEl>
                                          <p:spTgt spid="17"/>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1" nodeType="clickEffect">
                                  <p:stCondLst>
                                    <p:cond delay="0"/>
                                  </p:stCondLst>
                                  <p:childTnLst>
                                    <p:set>
                                      <p:cBhvr>
                                        <p:cTn id="103"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712" grpId="0"/>
      <p:bldP spid="1096713" grpId="0"/>
      <p:bldP spid="11" grpId="0" animBg="1"/>
      <p:bldP spid="11" grpId="1" animBg="1"/>
      <p:bldP spid="11" grpId="2" animBg="1"/>
      <p:bldP spid="11" grpId="3" animBg="1"/>
      <p:bldP spid="11" grpId="4" animBg="1"/>
      <p:bldP spid="11" grpId="5" animBg="1"/>
      <p:bldP spid="11" grpId="6" animBg="1"/>
      <p:bldP spid="11" grpId="7" animBg="1"/>
      <p:bldP spid="11" grpId="8" animBg="1"/>
      <p:bldP spid="11" grpId="9" animBg="1"/>
      <p:bldP spid="11" grpId="10" animBg="1"/>
      <p:bldP spid="11" grpId="11" animBg="1"/>
      <p:bldP spid="11" grpId="12" animBg="1"/>
      <p:bldP spid="17" grpId="0" animBg="1"/>
      <p:bldP spid="17" grpId="1" animBg="1"/>
      <p:bldP spid="17" grpId="2" animBg="1"/>
      <p:bldP spid="17" grpId="3" animBg="1"/>
      <p:bldP spid="17" grpId="4" animBg="1"/>
      <p:bldP spid="17" grpId="5" animBg="1"/>
      <p:bldP spid="17" grpId="6" animBg="1"/>
      <p:bldP spid="17" grpId="7" animBg="1"/>
      <p:bldP spid="18" grpId="0" animBg="1"/>
      <p:bldP spid="18" grpId="1" animBg="1"/>
      <p:bldP spid="18" grpId="2" animBg="1"/>
      <p:bldP spid="18" grpId="3" animBg="1"/>
      <p:bldP spid="18" grpId="4" animBg="1"/>
      <p:bldP spid="18" grpId="5"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0114" name="Rectangle 2"/>
          <p:cNvSpPr>
            <a:spLocks noGrp="1" noChangeArrowheads="1"/>
          </p:cNvSpPr>
          <p:nvPr>
            <p:ph type="title"/>
          </p:nvPr>
        </p:nvSpPr>
        <p:spPr/>
        <p:txBody>
          <a:bodyPr/>
          <a:lstStyle/>
          <a:p>
            <a:r>
              <a:rPr lang="en-AU" dirty="0"/>
              <a:t>What join type do we need here?</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14</a:t>
            </a:fld>
            <a:endParaRPr lang="en-AU">
              <a:solidFill>
                <a:prstClr val="black">
                  <a:lumMod val="50000"/>
                  <a:lumOff val="50000"/>
                </a:prstClr>
              </a:solidFill>
            </a:endParaRP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t="1" b="601"/>
          <a:stretch/>
        </p:blipFill>
        <p:spPr>
          <a:xfrm>
            <a:off x="141120" y="1457964"/>
            <a:ext cx="8539534" cy="3958988"/>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61904" y="3641406"/>
            <a:ext cx="545769" cy="819900"/>
          </a:xfrm>
          <a:prstGeom prst="rect">
            <a:avLst/>
          </a:prstGeom>
        </p:spPr>
      </p:pic>
    </p:spTree>
    <p:extLst>
      <p:ext uri="{BB962C8B-B14F-4D97-AF65-F5344CB8AC3E}">
        <p14:creationId xmlns:p14="http://schemas.microsoft.com/office/powerpoint/2010/main" val="38600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3" cstate="print">
            <a:extLst>
              <a:ext uri="{28A0092B-C50C-407E-A947-70E740481C1C}">
                <a14:useLocalDpi xmlns:a14="http://schemas.microsoft.com/office/drawing/2010/main" val="0"/>
              </a:ext>
            </a:extLst>
          </a:blip>
          <a:srcRect b="1755"/>
          <a:stretch/>
        </p:blipFill>
        <p:spPr>
          <a:xfrm>
            <a:off x="162046" y="4818538"/>
            <a:ext cx="8618105" cy="1235022"/>
          </a:xfrm>
          <a:prstGeom prst="rect">
            <a:avLst/>
          </a:prstGeom>
        </p:spPr>
      </p:pic>
      <p:sp>
        <p:nvSpPr>
          <p:cNvPr id="3" name="Title 2"/>
          <p:cNvSpPr>
            <a:spLocks noGrp="1"/>
          </p:cNvSpPr>
          <p:nvPr>
            <p:ph type="title"/>
          </p:nvPr>
        </p:nvSpPr>
        <p:spPr/>
        <p:txBody>
          <a:bodyPr/>
          <a:lstStyle/>
          <a:p>
            <a:r>
              <a:rPr lang="en-US" dirty="0"/>
              <a:t>Rework and repetition</a:t>
            </a:r>
          </a:p>
        </p:txBody>
      </p:sp>
      <p:sp>
        <p:nvSpPr>
          <p:cNvPr id="10" name="Rectangle 3"/>
          <p:cNvSpPr txBox="1">
            <a:spLocks noChangeArrowheads="1"/>
          </p:cNvSpPr>
          <p:nvPr/>
        </p:nvSpPr>
        <p:spPr bwMode="auto">
          <a:xfrm>
            <a:off x="467543" y="984197"/>
            <a:ext cx="8265555" cy="3975588"/>
          </a:xfrm>
          <a:prstGeom prst="rect">
            <a:avLst/>
          </a:prstGeom>
          <a:noFill/>
          <a:ln w="9525">
            <a:noFill/>
            <a:miter lim="800000"/>
            <a:headEnd/>
            <a:tailEnd/>
          </a:ln>
        </p:spPr>
        <p:txBody>
          <a:bodyPr vert="horz" wrap="square" lIns="84992" tIns="42497" rIns="84992" bIns="42497" numCol="1" anchor="t" anchorCtr="0" compatLnSpc="1">
            <a:prstTxWarp prst="textNoShape">
              <a:avLst/>
            </a:prstTxWarp>
          </a:bodyPr>
          <a:lstStyle/>
          <a:p>
            <a:pPr marL="316531" indent="-316531" defTabSz="703402" eaLnBrk="0" fontAlgn="base" hangingPunct="0">
              <a:spcBef>
                <a:spcPct val="20000"/>
              </a:spcBef>
              <a:spcAft>
                <a:spcPct val="0"/>
              </a:spcAft>
              <a:defRPr/>
            </a:pPr>
            <a:r>
              <a:rPr lang="en-AU" sz="2400" b="1" kern="0" dirty="0">
                <a:solidFill>
                  <a:prstClr val="black">
                    <a:lumMod val="75000"/>
                    <a:lumOff val="25000"/>
                  </a:prstClr>
                </a:solidFill>
                <a:ea typeface="ＭＳ Ｐゴシック" pitchFamily="-106" charset="-128"/>
                <a:cs typeface="ＭＳ Ｐゴシック" pitchFamily="-106" charset="-128"/>
              </a:rPr>
              <a:t>Address ministerial correspondence</a:t>
            </a:r>
          </a:p>
          <a:p>
            <a:pPr defTabSz="703402" eaLnBrk="0" fontAlgn="base" hangingPunct="0">
              <a:spcBef>
                <a:spcPct val="20000"/>
              </a:spcBef>
              <a:spcAft>
                <a:spcPct val="0"/>
              </a:spcAft>
            </a:pPr>
            <a:r>
              <a:rPr lang="en-AU" sz="2000" kern="0" dirty="0">
                <a:solidFill>
                  <a:prstClr val="black">
                    <a:lumMod val="75000"/>
                    <a:lumOff val="25000"/>
                  </a:prstClr>
                </a:solidFill>
                <a:ea typeface="ＭＳ Ｐゴシック" pitchFamily="-106" charset="-128"/>
              </a:rPr>
              <a:t>In the treasury minister’s office, once a ministerial inquiry has been received, it is registered into the system. Then the inquiry is investigated so that a ministerial response can be prepared. </a:t>
            </a:r>
          </a:p>
          <a:p>
            <a:pPr defTabSz="703402" eaLnBrk="0" fontAlgn="base" hangingPunct="0">
              <a:spcBef>
                <a:spcPct val="20000"/>
              </a:spcBef>
              <a:spcAft>
                <a:spcPct val="0"/>
              </a:spcAft>
            </a:pPr>
            <a:r>
              <a:rPr lang="en-AU" sz="2000" kern="0" dirty="0">
                <a:solidFill>
                  <a:prstClr val="black">
                    <a:lumMod val="75000"/>
                    <a:lumOff val="25000"/>
                  </a:prstClr>
                </a:solidFill>
                <a:ea typeface="ＭＳ Ｐゴシック" pitchFamily="-106" charset="-128"/>
              </a:rPr>
              <a:t>The finalization of a response includes the preparation of the response itself by the cabinet officer and the review of the response by the principal registrar. If the registrar does not approve the response, the latter needs to be prepared again by the cabinet officer for review. The process finishes only once the response has been approved. </a:t>
            </a:r>
            <a:endParaRPr lang="en-AU" sz="2000" kern="0" dirty="0">
              <a:solidFill>
                <a:prstClr val="black">
                  <a:lumMod val="75000"/>
                  <a:lumOff val="25000"/>
                </a:prstClr>
              </a:solidFill>
              <a:ea typeface="ＭＳ Ｐゴシック" pitchFamily="-106" charset="-128"/>
              <a:cs typeface="ＭＳ Ｐゴシック" pitchFamily="-106" charset="-128"/>
            </a:endParaRPr>
          </a:p>
        </p:txBody>
      </p:sp>
      <p:sp>
        <p:nvSpPr>
          <p:cNvPr id="13" name="Text Box 4"/>
          <p:cNvSpPr txBox="1">
            <a:spLocks noChangeArrowheads="1"/>
          </p:cNvSpPr>
          <p:nvPr/>
        </p:nvSpPr>
        <p:spPr bwMode="auto">
          <a:xfrm>
            <a:off x="3108077" y="4425836"/>
            <a:ext cx="2388362" cy="348109"/>
          </a:xfrm>
          <a:prstGeom prst="rect">
            <a:avLst/>
          </a:prstGeom>
          <a:noFill/>
          <a:ln w="9525">
            <a:noFill/>
            <a:miter lim="800000"/>
            <a:headEnd/>
            <a:tailEnd/>
          </a:ln>
          <a:effectLst/>
        </p:spPr>
        <p:txBody>
          <a:bodyPr wrap="square">
            <a:spAutoFit/>
          </a:bodyPr>
          <a:lstStyle/>
          <a:p>
            <a:pPr algn="ctr" defTabSz="844083">
              <a:defRPr/>
            </a:pPr>
            <a:r>
              <a:rPr lang="en-AU" sz="1662" kern="0" dirty="0">
                <a:solidFill>
                  <a:sysClr val="windowText" lastClr="000000"/>
                </a:solidFill>
                <a:ea typeface="ＭＳ Ｐゴシック" pitchFamily="34" charset="-128"/>
              </a:rPr>
              <a:t>XOR-join: entry point</a:t>
            </a:r>
          </a:p>
        </p:txBody>
      </p:sp>
      <p:sp>
        <p:nvSpPr>
          <p:cNvPr id="14" name="Text Box 4"/>
          <p:cNvSpPr txBox="1">
            <a:spLocks noChangeArrowheads="1"/>
          </p:cNvSpPr>
          <p:nvPr/>
        </p:nvSpPr>
        <p:spPr bwMode="auto">
          <a:xfrm>
            <a:off x="6491245" y="4425835"/>
            <a:ext cx="2190532" cy="348109"/>
          </a:xfrm>
          <a:prstGeom prst="rect">
            <a:avLst/>
          </a:prstGeom>
          <a:noFill/>
          <a:ln w="9525">
            <a:noFill/>
            <a:miter lim="800000"/>
            <a:headEnd/>
            <a:tailEnd/>
          </a:ln>
          <a:effectLst/>
        </p:spPr>
        <p:txBody>
          <a:bodyPr wrap="square">
            <a:spAutoFit/>
          </a:bodyPr>
          <a:lstStyle/>
          <a:p>
            <a:pPr algn="ctr" defTabSz="844083">
              <a:defRPr/>
            </a:pPr>
            <a:r>
              <a:rPr lang="en-AU" sz="1662" kern="0" dirty="0">
                <a:solidFill>
                  <a:sysClr val="windowText" lastClr="000000"/>
                </a:solidFill>
                <a:ea typeface="ＭＳ Ｐゴシック" pitchFamily="34" charset="-128"/>
              </a:rPr>
              <a:t>XOR-split: exit point</a:t>
            </a:r>
          </a:p>
        </p:txBody>
      </p:sp>
      <p:sp>
        <p:nvSpPr>
          <p:cNvPr id="2" name="Slide Number Placeholder 1"/>
          <p:cNvSpPr>
            <a:spLocks noGrp="1"/>
          </p:cNvSpPr>
          <p:nvPr>
            <p:ph type="sldNum" sz="quarter" idx="11"/>
          </p:nvPr>
        </p:nvSpPr>
        <p:spPr>
          <a:xfrm>
            <a:off x="8246751" y="6625771"/>
            <a:ext cx="533400" cy="152400"/>
          </a:xfrm>
        </p:spPr>
        <p:txBody>
          <a:bodyPr/>
          <a:lstStyle/>
          <a:p>
            <a:fld id="{F06E539D-8AB8-485C-BFEF-50E8D5427D32}" type="slidenum">
              <a:rPr lang="en-AU" smtClean="0">
                <a:solidFill>
                  <a:prstClr val="black">
                    <a:lumMod val="50000"/>
                    <a:lumOff val="50000"/>
                  </a:prstClr>
                </a:solidFill>
              </a:rPr>
              <a:pPr/>
              <a:t>15</a:t>
            </a:fld>
            <a:endParaRPr lang="en-AU">
              <a:solidFill>
                <a:prstClr val="black">
                  <a:lumMod val="50000"/>
                  <a:lumOff val="50000"/>
                </a:prstClr>
              </a:solidFill>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6577" y="4731722"/>
            <a:ext cx="3657600" cy="1354015"/>
          </a:xfrm>
          <a:prstGeom prst="rect">
            <a:avLst/>
          </a:prstGeom>
        </p:spPr>
      </p:pic>
    </p:spTree>
    <p:extLst>
      <p:ext uri="{BB962C8B-B14F-4D97-AF65-F5344CB8AC3E}">
        <p14:creationId xmlns:p14="http://schemas.microsoft.com/office/powerpoint/2010/main" val="131370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10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8370" name="Object 4"/>
          <p:cNvGraphicFramePr>
            <a:graphicFrameLocks noChangeAspect="1"/>
          </p:cNvGraphicFramePr>
          <p:nvPr>
            <p:extLst>
              <p:ext uri="{D42A27DB-BD31-4B8C-83A1-F6EECF244321}">
                <p14:modId xmlns:p14="http://schemas.microsoft.com/office/powerpoint/2010/main" val="3362781054"/>
              </p:ext>
            </p:extLst>
          </p:nvPr>
        </p:nvGraphicFramePr>
        <p:xfrm>
          <a:off x="1006280" y="3778250"/>
          <a:ext cx="7007225" cy="2128838"/>
        </p:xfrm>
        <a:graphic>
          <a:graphicData uri="http://schemas.openxmlformats.org/presentationml/2006/ole">
            <mc:AlternateContent xmlns:mc="http://schemas.openxmlformats.org/markup-compatibility/2006">
              <mc:Choice xmlns:v="urn:schemas-microsoft-com:vml" Requires="v">
                <p:oleObj name="Visio" r:id="rId3" imgW="4052870" imgH="1333667" progId="Visio.Drawing.11">
                  <p:embed/>
                </p:oleObj>
              </mc:Choice>
              <mc:Fallback>
                <p:oleObj name="Visio" r:id="rId3" imgW="4052870" imgH="1333667" progId="Visio.Drawing.11">
                  <p:embed/>
                  <p:pic>
                    <p:nvPicPr>
                      <p:cNvPr id="0" name=""/>
                      <p:cNvPicPr>
                        <a:picLocks noChangeAspect="1" noChangeArrowheads="1"/>
                      </p:cNvPicPr>
                      <p:nvPr/>
                    </p:nvPicPr>
                    <p:blipFill>
                      <a:blip r:embed="rId4"/>
                      <a:srcRect/>
                      <a:stretch>
                        <a:fillRect/>
                      </a:stretch>
                    </p:blipFill>
                    <p:spPr bwMode="auto">
                      <a:xfrm>
                        <a:off x="1006280" y="3778250"/>
                        <a:ext cx="7007225" cy="2128838"/>
                      </a:xfrm>
                      <a:prstGeom prst="rect">
                        <a:avLst/>
                      </a:prstGeom>
                      <a:noFill/>
                      <a:ln>
                        <a:noFill/>
                      </a:ln>
                      <a:effectLst/>
                    </p:spPr>
                  </p:pic>
                </p:oleObj>
              </mc:Fallback>
            </mc:AlternateContent>
          </a:graphicData>
        </a:graphic>
      </p:graphicFrame>
      <p:sp>
        <p:nvSpPr>
          <p:cNvPr id="698373" name="Rectangle 2"/>
          <p:cNvSpPr>
            <a:spLocks noGrp="1" noChangeArrowheads="1"/>
          </p:cNvSpPr>
          <p:nvPr>
            <p:ph type="title"/>
          </p:nvPr>
        </p:nvSpPr>
        <p:spPr>
          <a:xfrm>
            <a:off x="461157" y="324183"/>
            <a:ext cx="7920037" cy="606669"/>
          </a:xfrm>
        </p:spPr>
        <p:txBody>
          <a:bodyPr/>
          <a:lstStyle/>
          <a:p>
            <a:pPr eaLnBrk="1" hangingPunct="1"/>
            <a:r>
              <a:rPr lang="en-AU" dirty="0"/>
              <a:t>Implicit vs. explicit gateways</a:t>
            </a:r>
            <a:endParaRPr lang="en-AU" i="1" dirty="0"/>
          </a:p>
        </p:txBody>
      </p:sp>
      <p:graphicFrame>
        <p:nvGraphicFramePr>
          <p:cNvPr id="698371" name="Object 5"/>
          <p:cNvGraphicFramePr>
            <a:graphicFrameLocks noChangeAspect="1"/>
          </p:cNvGraphicFramePr>
          <p:nvPr>
            <p:extLst>
              <p:ext uri="{D42A27DB-BD31-4B8C-83A1-F6EECF244321}">
                <p14:modId xmlns:p14="http://schemas.microsoft.com/office/powerpoint/2010/main" val="2801821168"/>
              </p:ext>
            </p:extLst>
          </p:nvPr>
        </p:nvGraphicFramePr>
        <p:xfrm>
          <a:off x="1050259" y="1506201"/>
          <a:ext cx="6381918" cy="1872452"/>
        </p:xfrm>
        <a:graphic>
          <a:graphicData uri="http://schemas.openxmlformats.org/presentationml/2006/ole">
            <mc:AlternateContent xmlns:mc="http://schemas.openxmlformats.org/markup-compatibility/2006">
              <mc:Choice xmlns:v="urn:schemas-microsoft-com:vml" Requires="v">
                <p:oleObj name="Visio" r:id="rId5" imgW="3690961" imgH="1173480" progId="Visio.Drawing.11">
                  <p:embed/>
                </p:oleObj>
              </mc:Choice>
              <mc:Fallback>
                <p:oleObj name="Visio" r:id="rId5" imgW="3690961" imgH="117348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0259" y="1506201"/>
                        <a:ext cx="6381918" cy="1872452"/>
                      </a:xfrm>
                      <a:prstGeom prst="rect">
                        <a:avLst/>
                      </a:prstGeom>
                      <a:noFill/>
                      <a:ln>
                        <a:noFill/>
                      </a:ln>
                      <a:effec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16</a:t>
            </a:fld>
            <a:endParaRPr lang="en-AU">
              <a:solidFill>
                <a:prstClr val="black">
                  <a:lumMod val="50000"/>
                  <a:lumOff val="50000"/>
                </a:prstClr>
              </a:solidFill>
            </a:endParaRPr>
          </a:p>
        </p:txBody>
      </p:sp>
      <p:sp>
        <p:nvSpPr>
          <p:cNvPr id="3" name="Rectangle 2"/>
          <p:cNvSpPr/>
          <p:nvPr/>
        </p:nvSpPr>
        <p:spPr>
          <a:xfrm>
            <a:off x="4279187" y="1166117"/>
            <a:ext cx="3524035" cy="2434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4330557" y="3675509"/>
            <a:ext cx="3832259" cy="2434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37805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7554" name="Rectangle 2"/>
          <p:cNvSpPr>
            <a:spLocks noGrp="1" noChangeArrowheads="1"/>
          </p:cNvSpPr>
          <p:nvPr>
            <p:ph type="title"/>
          </p:nvPr>
        </p:nvSpPr>
        <p:spPr>
          <a:xfrm>
            <a:off x="254142" y="334091"/>
            <a:ext cx="8059737" cy="659423"/>
          </a:xfrm>
        </p:spPr>
        <p:txBody>
          <a:bodyPr/>
          <a:lstStyle/>
          <a:p>
            <a:r>
              <a:rPr lang="en-AU" dirty="0"/>
              <a:t>What’s this process doing?</a:t>
            </a:r>
          </a:p>
        </p:txBody>
      </p:sp>
      <p:graphicFrame>
        <p:nvGraphicFramePr>
          <p:cNvPr id="1687557" name="Object 5"/>
          <p:cNvGraphicFramePr>
            <a:graphicFrameLocks noChangeAspect="1"/>
          </p:cNvGraphicFramePr>
          <p:nvPr/>
        </p:nvGraphicFramePr>
        <p:xfrm>
          <a:off x="0" y="1379537"/>
          <a:ext cx="8795554" cy="3589819"/>
        </p:xfrm>
        <a:graphic>
          <a:graphicData uri="http://schemas.openxmlformats.org/presentationml/2006/ole">
            <mc:AlternateContent xmlns:mc="http://schemas.openxmlformats.org/markup-compatibility/2006">
              <mc:Choice xmlns:v="urn:schemas-microsoft-com:vml" Requires="v">
                <p:oleObj name="Visio" r:id="rId3" imgW="10920234" imgH="4246646" progId="Visio.Drawing.11">
                  <p:embed/>
                </p:oleObj>
              </mc:Choice>
              <mc:Fallback>
                <p:oleObj name="Visio" r:id="rId3" imgW="10920234" imgH="4246646" progId="Visio.Drawing.11">
                  <p:embed/>
                  <p:pic>
                    <p:nvPicPr>
                      <p:cNvPr id="0" name=""/>
                      <p:cNvPicPr>
                        <a:picLocks noChangeAspect="1" noChangeArrowheads="1"/>
                      </p:cNvPicPr>
                      <p:nvPr/>
                    </p:nvPicPr>
                    <p:blipFill>
                      <a:blip r:embed="rId4"/>
                      <a:srcRect/>
                      <a:stretch>
                        <a:fillRect/>
                      </a:stretch>
                    </p:blipFill>
                    <p:spPr bwMode="auto">
                      <a:xfrm>
                        <a:off x="0" y="1379537"/>
                        <a:ext cx="8795554" cy="3589819"/>
                      </a:xfrm>
                      <a:prstGeom prst="rect">
                        <a:avLst/>
                      </a:prstGeom>
                      <a:noFill/>
                      <a:ln>
                        <a:noFill/>
                      </a:ln>
                      <a:effec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17</a:t>
            </a:fld>
            <a:endParaRPr lang="en-AU">
              <a:solidFill>
                <a:prstClr val="black">
                  <a:lumMod val="50000"/>
                  <a:lumOff val="50000"/>
                </a:prstClr>
              </a:solidFill>
            </a:endParaRPr>
          </a:p>
        </p:txBody>
      </p:sp>
    </p:spTree>
    <p:extLst>
      <p:ext uri="{BB962C8B-B14F-4D97-AF65-F5344CB8AC3E}">
        <p14:creationId xmlns:p14="http://schemas.microsoft.com/office/powerpoint/2010/main" val="256533787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AU" sz="3200" dirty="0">
                <a:solidFill>
                  <a:srgbClr val="C00000"/>
                </a:solidFill>
              </a:rPr>
              <a:t>What’s needed to create a model?</a:t>
            </a:r>
          </a:p>
        </p:txBody>
      </p:sp>
    </p:spTree>
    <p:extLst>
      <p:ext uri="{BB962C8B-B14F-4D97-AF65-F5344CB8AC3E}">
        <p14:creationId xmlns:p14="http://schemas.microsoft.com/office/powerpoint/2010/main" val="2101593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altLang="en-US" dirty="0"/>
              <a:t>What’s needed to create a model?</a:t>
            </a:r>
          </a:p>
        </p:txBody>
      </p:sp>
      <p:sp>
        <p:nvSpPr>
          <p:cNvPr id="23556" name="AutoShape 5"/>
          <p:cNvSpPr>
            <a:spLocks noChangeArrowheads="1"/>
          </p:cNvSpPr>
          <p:nvPr/>
        </p:nvSpPr>
        <p:spPr bwMode="auto">
          <a:xfrm>
            <a:off x="653562" y="1180618"/>
            <a:ext cx="4330212" cy="2200025"/>
          </a:xfrm>
          <a:prstGeom prst="roundRect">
            <a:avLst>
              <a:gd name="adj" fmla="val 16667"/>
            </a:avLst>
          </a:prstGeom>
          <a:solidFill>
            <a:srgbClr val="99CCFF"/>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38" name="AutoShape 6"/>
          <p:cNvSpPr>
            <a:spLocks noChangeArrowheads="1"/>
          </p:cNvSpPr>
          <p:nvPr/>
        </p:nvSpPr>
        <p:spPr bwMode="auto">
          <a:xfrm>
            <a:off x="767862" y="2315308"/>
            <a:ext cx="1143000" cy="939312"/>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Syntax</a:t>
            </a:r>
          </a:p>
        </p:txBody>
      </p:sp>
      <p:sp>
        <p:nvSpPr>
          <p:cNvPr id="18439" name="Text Box 7"/>
          <p:cNvSpPr txBox="1">
            <a:spLocks noChangeArrowheads="1"/>
          </p:cNvSpPr>
          <p:nvPr/>
        </p:nvSpPr>
        <p:spPr bwMode="auto">
          <a:xfrm>
            <a:off x="827324" y="1268129"/>
            <a:ext cx="2468946"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Language</a:t>
            </a:r>
          </a:p>
        </p:txBody>
      </p:sp>
      <p:sp>
        <p:nvSpPr>
          <p:cNvPr id="18440" name="AutoShape 8"/>
          <p:cNvSpPr>
            <a:spLocks noChangeArrowheads="1"/>
          </p:cNvSpPr>
          <p:nvPr/>
        </p:nvSpPr>
        <p:spPr bwMode="auto">
          <a:xfrm>
            <a:off x="2061797" y="2328497"/>
            <a:ext cx="1346688" cy="939311"/>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Semantics</a:t>
            </a:r>
          </a:p>
        </p:txBody>
      </p:sp>
      <p:sp>
        <p:nvSpPr>
          <p:cNvPr id="18441" name="AutoShape 9"/>
          <p:cNvSpPr>
            <a:spLocks noChangeArrowheads="1"/>
          </p:cNvSpPr>
          <p:nvPr/>
        </p:nvSpPr>
        <p:spPr bwMode="auto">
          <a:xfrm>
            <a:off x="3616569" y="2315308"/>
            <a:ext cx="1225062" cy="939312"/>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Notation</a:t>
            </a:r>
          </a:p>
        </p:txBody>
      </p:sp>
      <p:grpSp>
        <p:nvGrpSpPr>
          <p:cNvPr id="3" name="Group 2"/>
          <p:cNvGrpSpPr/>
          <p:nvPr/>
        </p:nvGrpSpPr>
        <p:grpSpPr>
          <a:xfrm>
            <a:off x="634512" y="3572590"/>
            <a:ext cx="4330211" cy="785279"/>
            <a:chOff x="634512" y="3572590"/>
            <a:chExt cx="4330211" cy="785279"/>
          </a:xfrm>
        </p:grpSpPr>
        <p:sp>
          <p:nvSpPr>
            <p:cNvPr id="23554" name="AutoShape 22"/>
            <p:cNvSpPr>
              <a:spLocks noChangeArrowheads="1"/>
            </p:cNvSpPr>
            <p:nvPr/>
          </p:nvSpPr>
          <p:spPr bwMode="auto">
            <a:xfrm>
              <a:off x="634512" y="3572590"/>
              <a:ext cx="4330211" cy="785279"/>
            </a:xfrm>
            <a:prstGeom prst="roundRect">
              <a:avLst>
                <a:gd name="adj" fmla="val 16667"/>
              </a:avLst>
            </a:prstGeom>
            <a:solidFill>
              <a:srgbClr val="FFC000"/>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2" name="Text Box 11"/>
            <p:cNvSpPr txBox="1">
              <a:spLocks noChangeArrowheads="1"/>
            </p:cNvSpPr>
            <p:nvPr/>
          </p:nvSpPr>
          <p:spPr bwMode="auto">
            <a:xfrm>
              <a:off x="764681" y="3618017"/>
              <a:ext cx="2784738"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Conventions</a:t>
              </a:r>
            </a:p>
          </p:txBody>
        </p:sp>
      </p:grpSp>
      <p:grpSp>
        <p:nvGrpSpPr>
          <p:cNvPr id="4" name="Group 3"/>
          <p:cNvGrpSpPr/>
          <p:nvPr/>
        </p:nvGrpSpPr>
        <p:grpSpPr>
          <a:xfrm>
            <a:off x="653562" y="4573262"/>
            <a:ext cx="4290646" cy="762000"/>
            <a:chOff x="653562" y="4573262"/>
            <a:chExt cx="4290646" cy="762000"/>
          </a:xfrm>
        </p:grpSpPr>
        <p:sp>
          <p:nvSpPr>
            <p:cNvPr id="23562" name="AutoShape 12"/>
            <p:cNvSpPr>
              <a:spLocks noChangeArrowheads="1"/>
            </p:cNvSpPr>
            <p:nvPr/>
          </p:nvSpPr>
          <p:spPr bwMode="auto">
            <a:xfrm>
              <a:off x="653562" y="4573262"/>
              <a:ext cx="4290646" cy="762000"/>
            </a:xfrm>
            <a:prstGeom prst="roundRect">
              <a:avLst>
                <a:gd name="adj" fmla="val 16667"/>
              </a:avLst>
            </a:prstGeom>
            <a:solidFill>
              <a:schemeClr val="bg1">
                <a:lumMod val="85000"/>
              </a:schemeClr>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5" name="Text Box 14"/>
            <p:cNvSpPr txBox="1">
              <a:spLocks noChangeArrowheads="1"/>
            </p:cNvSpPr>
            <p:nvPr/>
          </p:nvSpPr>
          <p:spPr bwMode="auto">
            <a:xfrm>
              <a:off x="734379" y="4590848"/>
              <a:ext cx="1834221"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Tool</a:t>
              </a:r>
            </a:p>
          </p:txBody>
        </p:sp>
      </p:grpSp>
      <p:grpSp>
        <p:nvGrpSpPr>
          <p:cNvPr id="5" name="Group 4"/>
          <p:cNvGrpSpPr/>
          <p:nvPr/>
        </p:nvGrpSpPr>
        <p:grpSpPr>
          <a:xfrm>
            <a:off x="6552766" y="2551375"/>
            <a:ext cx="1960685" cy="1390650"/>
            <a:chOff x="6547338" y="2852364"/>
            <a:chExt cx="1960685" cy="1390650"/>
          </a:xfrm>
        </p:grpSpPr>
        <p:sp>
          <p:nvSpPr>
            <p:cNvPr id="23565" name="AutoShape 15"/>
            <p:cNvSpPr>
              <a:spLocks noChangeArrowheads="1"/>
            </p:cNvSpPr>
            <p:nvPr/>
          </p:nvSpPr>
          <p:spPr bwMode="auto">
            <a:xfrm>
              <a:off x="6547338" y="2852364"/>
              <a:ext cx="1960685" cy="1390650"/>
            </a:xfrm>
            <a:prstGeom prst="roundRect">
              <a:avLst>
                <a:gd name="adj" fmla="val 16667"/>
              </a:avLst>
            </a:prstGeom>
            <a:solidFill>
              <a:srgbClr val="92D050"/>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7" name="Text Box 16"/>
            <p:cNvSpPr txBox="1">
              <a:spLocks noChangeArrowheads="1"/>
            </p:cNvSpPr>
            <p:nvPr/>
          </p:nvSpPr>
          <p:spPr bwMode="auto">
            <a:xfrm>
              <a:off x="7104167" y="3361632"/>
              <a:ext cx="867545"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a:t>
              </a:r>
            </a:p>
          </p:txBody>
        </p:sp>
      </p:grpSp>
      <p:sp>
        <p:nvSpPr>
          <p:cNvPr id="19" name="AutoShape 22"/>
          <p:cNvSpPr>
            <a:spLocks noChangeArrowheads="1"/>
          </p:cNvSpPr>
          <p:nvPr/>
        </p:nvSpPr>
        <p:spPr bwMode="auto">
          <a:xfrm>
            <a:off x="653562" y="1180618"/>
            <a:ext cx="4330211" cy="2176579"/>
          </a:xfrm>
          <a:prstGeom prst="roundRect">
            <a:avLst>
              <a:gd name="adj" fmla="val 16667"/>
            </a:avLst>
          </a:prstGeom>
          <a:noFill/>
          <a:ln w="76200">
            <a:solidFill>
              <a:srgbClr val="C00000"/>
            </a:solidFill>
            <a:headEnd type="none" w="sm" len="sm"/>
            <a:tailEnd type="none" w="sm" len="sm"/>
          </a:ln>
        </p:spPr>
        <p:style>
          <a:lnRef idx="2">
            <a:schemeClr val="accent6"/>
          </a:lnRef>
          <a:fillRef idx="1">
            <a:schemeClr val="lt1"/>
          </a:fillRef>
          <a:effectRef idx="0">
            <a:schemeClr val="accent6"/>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19</a:t>
            </a:fld>
            <a:endParaRPr lang="en-AU">
              <a:solidFill>
                <a:prstClr val="black">
                  <a:lumMod val="50000"/>
                  <a:lumOff val="50000"/>
                </a:prstClr>
              </a:solidFill>
            </a:endParaRPr>
          </a:p>
        </p:txBody>
      </p:sp>
      <p:sp>
        <p:nvSpPr>
          <p:cNvPr id="21" name="AutoShape 23"/>
          <p:cNvSpPr>
            <a:spLocks/>
          </p:cNvSpPr>
          <p:nvPr/>
        </p:nvSpPr>
        <p:spPr bwMode="auto">
          <a:xfrm>
            <a:off x="5362341" y="1134319"/>
            <a:ext cx="915882" cy="4224762"/>
          </a:xfrm>
          <a:prstGeom prst="rightBrace">
            <a:avLst>
              <a:gd name="adj1" fmla="val 25164"/>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20" name="AutoShape 6"/>
          <p:cNvSpPr>
            <a:spLocks noChangeArrowheads="1"/>
          </p:cNvSpPr>
          <p:nvPr/>
        </p:nvSpPr>
        <p:spPr bwMode="auto">
          <a:xfrm>
            <a:off x="764681" y="1689941"/>
            <a:ext cx="4076950" cy="474450"/>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Vocabulary</a:t>
            </a:r>
          </a:p>
        </p:txBody>
      </p:sp>
    </p:spTree>
    <p:extLst>
      <p:ext uri="{BB962C8B-B14F-4D97-AF65-F5344CB8AC3E}">
        <p14:creationId xmlns:p14="http://schemas.microsoft.com/office/powerpoint/2010/main" val="3639954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Effect transition="in" filter="fade">
                                      <p:cBhvr>
                                        <p:cTn id="7" dur="500"/>
                                        <p:tgtEl>
                                          <p:spTgt spid="184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6"/>
                                        </p:tgtEl>
                                        <p:attrNameLst>
                                          <p:attrName>style.visibility</p:attrName>
                                        </p:attrNameLst>
                                      </p:cBhvr>
                                      <p:to>
                                        <p:strVal val="visible"/>
                                      </p:to>
                                    </p:set>
                                    <p:animEffect transition="in" filter="fade">
                                      <p:cBhvr>
                                        <p:cTn id="10" dur="500"/>
                                        <p:tgtEl>
                                          <p:spTgt spid="2355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8438"/>
                                        </p:tgtEl>
                                        <p:attrNameLst>
                                          <p:attrName>style.visibility</p:attrName>
                                        </p:attrNameLst>
                                      </p:cBhvr>
                                      <p:to>
                                        <p:strVal val="visible"/>
                                      </p:to>
                                    </p:set>
                                    <p:animEffect transition="in" filter="fade">
                                      <p:cBhvr>
                                        <p:cTn id="42" dur="500"/>
                                        <p:tgtEl>
                                          <p:spTgt spid="18438"/>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18440"/>
                                        </p:tgtEl>
                                        <p:attrNameLst>
                                          <p:attrName>style.visibility</p:attrName>
                                        </p:attrNameLst>
                                      </p:cBhvr>
                                      <p:to>
                                        <p:strVal val="visible"/>
                                      </p:to>
                                    </p:set>
                                    <p:animEffect transition="in" filter="fade">
                                      <p:cBhvr>
                                        <p:cTn id="46" dur="500"/>
                                        <p:tgtEl>
                                          <p:spTgt spid="18440"/>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8441"/>
                                        </p:tgtEl>
                                        <p:attrNameLst>
                                          <p:attrName>style.visibility</p:attrName>
                                        </p:attrNameLst>
                                      </p:cBhvr>
                                      <p:to>
                                        <p:strVal val="visible"/>
                                      </p:to>
                                    </p:set>
                                    <p:animEffect transition="in" filter="fade">
                                      <p:cBhvr>
                                        <p:cTn id="50" dur="500"/>
                                        <p:tgtEl>
                                          <p:spTgt spid="18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nimBg="1"/>
      <p:bldP spid="18438" grpId="0" animBg="1"/>
      <p:bldP spid="18439" grpId="0"/>
      <p:bldP spid="18440" grpId="0" animBg="1"/>
      <p:bldP spid="18441" grpId="0" animBg="1"/>
      <p:bldP spid="19" grpId="0" animBg="1"/>
      <p:bldP spid="21"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idx="1"/>
          </p:nvPr>
        </p:nvSpPr>
        <p:spPr>
          <a:xfrm>
            <a:off x="521333" y="1092205"/>
            <a:ext cx="8136904" cy="4824536"/>
          </a:xfrm>
        </p:spPr>
        <p:txBody>
          <a:bodyPr>
            <a:noAutofit/>
          </a:bodyPr>
          <a:lstStyle/>
          <a:p>
            <a:r>
              <a:rPr lang="en-US" altLang="en-US" dirty="0"/>
              <a:t>from  Ancient Greek </a:t>
            </a:r>
            <a:r>
              <a:rPr lang="en-US" altLang="en-US" dirty="0" err="1"/>
              <a:t>συν</a:t>
            </a:r>
            <a:r>
              <a:rPr lang="en-US" altLang="en-US" dirty="0"/>
              <a:t>- (</a:t>
            </a:r>
            <a:r>
              <a:rPr lang="en-US" altLang="en-US" i="1" dirty="0" err="1"/>
              <a:t>syn</a:t>
            </a:r>
            <a:r>
              <a:rPr lang="en-US" altLang="en-US" i="1" dirty="0"/>
              <a:t>-)</a:t>
            </a:r>
            <a:r>
              <a:rPr lang="en-US" altLang="en-US" dirty="0"/>
              <a:t>, "together", and </a:t>
            </a:r>
            <a:r>
              <a:rPr lang="en-US" altLang="en-US" dirty="0" err="1"/>
              <a:t>τάξις</a:t>
            </a:r>
            <a:r>
              <a:rPr lang="en-US" altLang="en-US" dirty="0"/>
              <a:t> (</a:t>
            </a:r>
            <a:r>
              <a:rPr lang="en-US" altLang="en-US" i="1" dirty="0" err="1"/>
              <a:t>táxis</a:t>
            </a:r>
            <a:r>
              <a:rPr lang="en-US" altLang="en-US" i="1" dirty="0"/>
              <a:t>)</a:t>
            </a:r>
            <a:r>
              <a:rPr lang="en-US" altLang="en-US" dirty="0"/>
              <a:t>, "arrangement”</a:t>
            </a:r>
          </a:p>
          <a:p>
            <a:r>
              <a:rPr lang="en-US" altLang="en-US" dirty="0"/>
              <a:t>Provides the constructs and the set of rules to combine these constructs</a:t>
            </a:r>
          </a:p>
          <a:p>
            <a:r>
              <a:rPr lang="en-US" altLang="en-US" dirty="0"/>
              <a:t>E.g. in English grammar: </a:t>
            </a:r>
            <a:r>
              <a:rPr lang="en-US" altLang="en-US" i="1" dirty="0"/>
              <a:t>“The present perfect of any verb is composed of two elements: the appropriate form of the auxiliary verb </a:t>
            </a:r>
            <a:r>
              <a:rPr lang="en-US" altLang="en-US" b="1" i="1" dirty="0"/>
              <a:t>to have </a:t>
            </a:r>
            <a:r>
              <a:rPr lang="en-US" altLang="en-US" i="1" dirty="0"/>
              <a:t>(present tense), plus the past participle of the main verb.”</a:t>
            </a:r>
            <a:br>
              <a:rPr lang="en-US" altLang="en-US" i="1" dirty="0"/>
            </a:br>
            <a:endParaRPr lang="en-US" altLang="en-US" i="1" dirty="0"/>
          </a:p>
          <a:p>
            <a:r>
              <a:rPr lang="en-US" altLang="en-US" dirty="0"/>
              <a:t>“I have enrolled in a unit.” </a:t>
            </a:r>
          </a:p>
          <a:p>
            <a:r>
              <a:rPr lang="en-US" altLang="en-US" dirty="0"/>
              <a:t>“I has enrolled in a unit”.</a:t>
            </a:r>
          </a:p>
          <a:p>
            <a:endParaRPr lang="en-US" altLang="en-US" dirty="0"/>
          </a:p>
          <a:p>
            <a:r>
              <a:rPr lang="en-US" altLang="en-US" dirty="0"/>
              <a:t>Aim: </a:t>
            </a:r>
            <a:r>
              <a:rPr lang="en-US" altLang="en-US" i="1" dirty="0"/>
              <a:t>Syntactical correctness</a:t>
            </a:r>
          </a:p>
        </p:txBody>
      </p:sp>
      <p:sp>
        <p:nvSpPr>
          <p:cNvPr id="12291" name="Rectangle 2"/>
          <p:cNvSpPr>
            <a:spLocks noGrp="1" noChangeArrowheads="1"/>
          </p:cNvSpPr>
          <p:nvPr>
            <p:ph type="title"/>
          </p:nvPr>
        </p:nvSpPr>
        <p:spPr/>
        <p:txBody>
          <a:bodyPr/>
          <a:lstStyle/>
          <a:p>
            <a:r>
              <a:rPr lang="en-US" altLang="en-US"/>
              <a:t>Modelling Language: Syntax</a:t>
            </a:r>
          </a:p>
        </p:txBody>
      </p:sp>
      <p:sp>
        <p:nvSpPr>
          <p:cNvPr id="12293" name="Line 13"/>
          <p:cNvSpPr>
            <a:spLocks noChangeShapeType="1"/>
          </p:cNvSpPr>
          <p:nvPr/>
        </p:nvSpPr>
        <p:spPr bwMode="auto">
          <a:xfrm flipV="1">
            <a:off x="893750" y="5288377"/>
            <a:ext cx="2932752" cy="65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pic>
        <p:nvPicPr>
          <p:cNvPr id="12294" name="Picture 14" descr="aaaaaaaaaaaaaaaaaaaa076455322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7920" y="4595447"/>
            <a:ext cx="1314450" cy="1696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20</a:t>
            </a:fld>
            <a:endParaRPr lang="en-AU">
              <a:solidFill>
                <a:prstClr val="black">
                  <a:lumMod val="50000"/>
                  <a:lumOff val="50000"/>
                </a:prstClr>
              </a:solidFill>
            </a:endParaRPr>
          </a:p>
        </p:txBody>
      </p:sp>
    </p:spTree>
    <p:extLst>
      <p:ext uri="{BB962C8B-B14F-4D97-AF65-F5344CB8AC3E}">
        <p14:creationId xmlns:p14="http://schemas.microsoft.com/office/powerpoint/2010/main" val="406624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idx="1"/>
          </p:nvPr>
        </p:nvSpPr>
        <p:spPr/>
        <p:txBody>
          <a:bodyPr/>
          <a:lstStyle/>
          <a:p>
            <a:r>
              <a:rPr lang="en-US" altLang="en-US" dirty="0"/>
              <a:t>from ancient Greek </a:t>
            </a:r>
            <a:r>
              <a:rPr lang="en-US" altLang="en-US" i="1" dirty="0" err="1"/>
              <a:t>σημ</a:t>
            </a:r>
            <a:r>
              <a:rPr lang="en-US" altLang="en-US" i="1" dirty="0"/>
              <a:t>αντικός</a:t>
            </a:r>
            <a:r>
              <a:rPr lang="en-US" altLang="en-US" dirty="0"/>
              <a:t> (</a:t>
            </a:r>
            <a:r>
              <a:rPr lang="en-US" altLang="en-US" i="1" dirty="0"/>
              <a:t>semantikos</a:t>
            </a:r>
            <a:r>
              <a:rPr lang="en-US" altLang="en-US" dirty="0"/>
              <a:t>), "significant", from </a:t>
            </a:r>
            <a:r>
              <a:rPr lang="en-US" altLang="en-US" i="1" dirty="0"/>
              <a:t>σημαίνω</a:t>
            </a:r>
            <a:r>
              <a:rPr lang="en-US" altLang="en-US" dirty="0"/>
              <a:t> (</a:t>
            </a:r>
            <a:r>
              <a:rPr lang="en-US" altLang="en-US" i="1" dirty="0"/>
              <a:t>semaino</a:t>
            </a:r>
            <a:r>
              <a:rPr lang="en-US" altLang="en-US" dirty="0"/>
              <a:t>), "to signify, to indicate" and that from </a:t>
            </a:r>
            <a:r>
              <a:rPr lang="en-US" altLang="en-US" i="1" dirty="0"/>
              <a:t>σήμα</a:t>
            </a:r>
            <a:r>
              <a:rPr lang="en-US" altLang="en-US" dirty="0"/>
              <a:t> (</a:t>
            </a:r>
            <a:r>
              <a:rPr lang="en-US" altLang="en-US" i="1" dirty="0"/>
              <a:t>sema</a:t>
            </a:r>
            <a:r>
              <a:rPr lang="en-US" altLang="en-US" dirty="0"/>
              <a:t>), "sign, mark, token". </a:t>
            </a:r>
          </a:p>
          <a:p>
            <a:endParaRPr lang="en-US" altLang="en-US" dirty="0"/>
          </a:p>
          <a:p>
            <a:r>
              <a:rPr lang="en-US" altLang="en-US" dirty="0"/>
              <a:t>The study of meaning, and the study of relations between different elements.</a:t>
            </a:r>
          </a:p>
          <a:p>
            <a:endParaRPr lang="en-US" altLang="en-US" dirty="0"/>
          </a:p>
          <a:p>
            <a:r>
              <a:rPr lang="en-US" altLang="en-US" dirty="0"/>
              <a:t>Aim: </a:t>
            </a:r>
            <a:r>
              <a:rPr lang="en-US" altLang="en-US" i="1" dirty="0"/>
              <a:t>semantical correctness </a:t>
            </a:r>
          </a:p>
        </p:txBody>
      </p:sp>
      <p:sp>
        <p:nvSpPr>
          <p:cNvPr id="14339" name="Rectangle 2"/>
          <p:cNvSpPr>
            <a:spLocks noGrp="1" noChangeArrowheads="1"/>
          </p:cNvSpPr>
          <p:nvPr>
            <p:ph type="title"/>
          </p:nvPr>
        </p:nvSpPr>
        <p:spPr/>
        <p:txBody>
          <a:bodyPr/>
          <a:lstStyle/>
          <a:p>
            <a:r>
              <a:rPr lang="en-US" altLang="en-US"/>
              <a:t>Modelling Language: Semantics</a:t>
            </a:r>
          </a:p>
        </p:txBody>
      </p:sp>
      <p:sp>
        <p:nvSpPr>
          <p:cNvPr id="14341" name="Text Box 5"/>
          <p:cNvSpPr txBox="1">
            <a:spLocks noChangeArrowheads="1"/>
          </p:cNvSpPr>
          <p:nvPr/>
        </p:nvSpPr>
        <p:spPr bwMode="auto">
          <a:xfrm flipV="1">
            <a:off x="4160227" y="5243396"/>
            <a:ext cx="32824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3600" b="1" dirty="0">
                <a:solidFill>
                  <a:prstClr val="black"/>
                </a:solidFill>
                <a:latin typeface="Times New Roman" panose="02020603050405020304" pitchFamily="18" charset="0"/>
              </a:rPr>
              <a:t>=</a:t>
            </a:r>
          </a:p>
        </p:txBody>
      </p:sp>
      <p:pic>
        <p:nvPicPr>
          <p:cNvPr id="14342" name="Picture 6" descr="aaaaaaaaaaaaaamcdonald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6550" y="5083669"/>
            <a:ext cx="1131277" cy="84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7" descr="aaaaaaaaaaaaaaaaaaaaaaaabigma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0020" y="4948853"/>
            <a:ext cx="1359877" cy="107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21</a:t>
            </a:fld>
            <a:endParaRPr lang="en-AU">
              <a:solidFill>
                <a:prstClr val="black">
                  <a:lumMod val="50000"/>
                  <a:lumOff val="50000"/>
                </a:prstClr>
              </a:solidFill>
            </a:endParaRPr>
          </a:p>
        </p:txBody>
      </p:sp>
    </p:spTree>
    <p:extLst>
      <p:ext uri="{BB962C8B-B14F-4D97-AF65-F5344CB8AC3E}">
        <p14:creationId xmlns:p14="http://schemas.microsoft.com/office/powerpoint/2010/main" val="4152966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idx="1"/>
          </p:nvPr>
        </p:nvSpPr>
        <p:spPr/>
        <p:txBody>
          <a:bodyPr/>
          <a:lstStyle/>
          <a:p>
            <a:r>
              <a:rPr lang="en-US" altLang="en-US" dirty="0"/>
              <a:t>Defines a set of symbols for the </a:t>
            </a:r>
            <a:r>
              <a:rPr lang="en-US" altLang="en-US" dirty="0" err="1"/>
              <a:t>visualisation</a:t>
            </a:r>
            <a:r>
              <a:rPr lang="en-US" altLang="en-US" dirty="0"/>
              <a:t> of the constructs and their relationships</a:t>
            </a:r>
          </a:p>
          <a:p>
            <a:r>
              <a:rPr lang="en-US" altLang="en-US" dirty="0"/>
              <a:t>Textual symbols: E </a:t>
            </a:r>
            <a:r>
              <a:rPr lang="en-US" altLang="en-US" dirty="0" err="1">
                <a:latin typeface="Times New Roman" panose="02020603050405020304" pitchFamily="18" charset="0"/>
              </a:rPr>
              <a:t>E</a:t>
            </a:r>
            <a:r>
              <a:rPr lang="en-US" altLang="en-US" dirty="0">
                <a:latin typeface="Times New Roman" panose="02020603050405020304" pitchFamily="18" charset="0"/>
              </a:rPr>
              <a:t> </a:t>
            </a:r>
            <a:r>
              <a:rPr lang="en-US" altLang="en-US" dirty="0" err="1">
                <a:latin typeface="Algerian" panose="04020705040A02060702" pitchFamily="82" charset="0"/>
              </a:rPr>
              <a:t>E</a:t>
            </a:r>
            <a:r>
              <a:rPr lang="en-US" altLang="en-US" dirty="0">
                <a:latin typeface="Algerian" panose="04020705040A02060702" pitchFamily="82" charset="0"/>
              </a:rPr>
              <a:t> </a:t>
            </a:r>
            <a:r>
              <a:rPr lang="en-US" altLang="en-US" dirty="0" err="1">
                <a:latin typeface="Baskerville Old Face" panose="02020602080505020303" pitchFamily="18" charset="0"/>
              </a:rPr>
              <a:t>E</a:t>
            </a:r>
            <a:r>
              <a:rPr lang="en-US" altLang="en-US" dirty="0">
                <a:latin typeface="Baskerville Old Face" panose="02020602080505020303" pitchFamily="18" charset="0"/>
              </a:rPr>
              <a:t> </a:t>
            </a:r>
            <a:r>
              <a:rPr lang="en-US" altLang="en-US" dirty="0" err="1">
                <a:latin typeface="Berlin Sans FB Demi" panose="020E0802020502020306" pitchFamily="34" charset="0"/>
              </a:rPr>
              <a:t>E</a:t>
            </a:r>
            <a:r>
              <a:rPr lang="en-US" altLang="en-US" dirty="0">
                <a:latin typeface="Berlin Sans FB Demi" panose="020E0802020502020306" pitchFamily="34" charset="0"/>
              </a:rPr>
              <a:t> </a:t>
            </a:r>
            <a:r>
              <a:rPr lang="en-US" altLang="en-US" dirty="0" err="1">
                <a:latin typeface="Berling Antiqua" pitchFamily="18" charset="0"/>
              </a:rPr>
              <a:t>E</a:t>
            </a:r>
            <a:r>
              <a:rPr lang="en-US" altLang="en-US" dirty="0">
                <a:latin typeface="Berlin Sans FB Demi" panose="020E0802020502020306" pitchFamily="34" charset="0"/>
              </a:rPr>
              <a:t> </a:t>
            </a:r>
            <a:r>
              <a:rPr lang="en-US" altLang="en-US" dirty="0" err="1">
                <a:latin typeface="Britannic Bold" panose="020B0903060703020204" pitchFamily="34" charset="0"/>
              </a:rPr>
              <a:t>E</a:t>
            </a:r>
            <a:r>
              <a:rPr lang="en-US" altLang="en-US" dirty="0">
                <a:latin typeface="Berlin Sans FB Demi" panose="020E0802020502020306" pitchFamily="34" charset="0"/>
              </a:rPr>
              <a:t> </a:t>
            </a:r>
            <a:r>
              <a:rPr lang="en-US" altLang="en-US" dirty="0" err="1">
                <a:latin typeface="Copperplate Gothic Bold" panose="020E0705020206020404" pitchFamily="34" charset="0"/>
              </a:rPr>
              <a:t>E</a:t>
            </a:r>
            <a:r>
              <a:rPr lang="en-US" altLang="en-US" dirty="0">
                <a:latin typeface="Berlin Sans FB Demi" panose="020E0802020502020306" pitchFamily="34" charset="0"/>
              </a:rPr>
              <a:t> </a:t>
            </a:r>
            <a:r>
              <a:rPr lang="en-US" altLang="en-US" dirty="0" err="1">
                <a:latin typeface="Goudy Stout" panose="0202090407030B020401" pitchFamily="18" charset="0"/>
              </a:rPr>
              <a:t>E</a:t>
            </a:r>
            <a:r>
              <a:rPr lang="en-US" altLang="en-US" dirty="0">
                <a:latin typeface="Berlin Sans FB Demi" panose="020E0802020502020306" pitchFamily="34" charset="0"/>
              </a:rPr>
              <a:t> </a:t>
            </a:r>
            <a:r>
              <a:rPr lang="en-US" altLang="en-US" dirty="0" err="1">
                <a:latin typeface="Kunstler Script" panose="030304020206070D0D06" pitchFamily="66" charset="0"/>
              </a:rPr>
              <a:t>E</a:t>
            </a:r>
            <a:r>
              <a:rPr lang="en-US" altLang="en-US" dirty="0">
                <a:latin typeface="Berlin Sans FB Demi" panose="020E0802020502020306" pitchFamily="34" charset="0"/>
              </a:rPr>
              <a:t> </a:t>
            </a:r>
            <a:r>
              <a:rPr lang="en-US" altLang="en-US" dirty="0" err="1">
                <a:latin typeface="Old English Text MT" panose="03040902040508030806" pitchFamily="66" charset="0"/>
              </a:rPr>
              <a:t>E</a:t>
            </a:r>
            <a:r>
              <a:rPr lang="en-US" altLang="en-US" dirty="0">
                <a:latin typeface="Berlin Sans FB Demi" panose="020E0802020502020306" pitchFamily="34" charset="0"/>
              </a:rPr>
              <a:t> </a:t>
            </a:r>
            <a:r>
              <a:rPr lang="en-US" altLang="en-US" dirty="0" err="1">
                <a:latin typeface="Ravie" panose="04040805050809020602" pitchFamily="82" charset="0"/>
              </a:rPr>
              <a:t>E</a:t>
            </a:r>
            <a:endParaRPr lang="en-US" altLang="en-US" dirty="0">
              <a:latin typeface="Ravie" panose="04040805050809020602" pitchFamily="82" charset="0"/>
            </a:endParaRPr>
          </a:p>
          <a:p>
            <a:r>
              <a:rPr lang="en-US" altLang="en-US" dirty="0"/>
              <a:t>Graphical symbols:</a:t>
            </a:r>
          </a:p>
          <a:p>
            <a:pPr>
              <a:buFontTx/>
              <a:buNone/>
            </a:pPr>
            <a:endParaRPr lang="en-US" altLang="en-US" dirty="0"/>
          </a:p>
          <a:p>
            <a:r>
              <a:rPr lang="en-US" altLang="en-US" dirty="0"/>
              <a:t>Alternative symbols can refer to the same construct</a:t>
            </a:r>
            <a:br>
              <a:rPr lang="en-US" altLang="en-US" dirty="0"/>
            </a:br>
            <a:r>
              <a:rPr lang="en-US" altLang="en-US" dirty="0"/>
              <a:t>(</a:t>
            </a:r>
            <a:r>
              <a:rPr lang="en-US" altLang="en-US" i="1" dirty="0"/>
              <a:t>redundancy</a:t>
            </a:r>
            <a:r>
              <a:rPr lang="en-US" altLang="en-US" dirty="0"/>
              <a:t>)</a:t>
            </a:r>
          </a:p>
          <a:p>
            <a:r>
              <a:rPr lang="en-US" altLang="en-US" dirty="0"/>
              <a:t>The same symbol sometimes refers to different constructs (</a:t>
            </a:r>
            <a:r>
              <a:rPr lang="en-US" altLang="en-US" i="1" dirty="0"/>
              <a:t>overload</a:t>
            </a:r>
            <a:r>
              <a:rPr lang="en-US" altLang="en-US" dirty="0"/>
              <a:t>)</a:t>
            </a:r>
            <a:endParaRPr lang="en-US" altLang="en-US" dirty="0">
              <a:latin typeface="Berlin Sans FB Demi" panose="020E0802020502020306" pitchFamily="34" charset="0"/>
            </a:endParaRPr>
          </a:p>
        </p:txBody>
      </p:sp>
      <p:sp>
        <p:nvSpPr>
          <p:cNvPr id="15363" name="Rectangle 2"/>
          <p:cNvSpPr>
            <a:spLocks noGrp="1" noChangeArrowheads="1"/>
          </p:cNvSpPr>
          <p:nvPr>
            <p:ph type="title"/>
          </p:nvPr>
        </p:nvSpPr>
        <p:spPr/>
        <p:txBody>
          <a:bodyPr/>
          <a:lstStyle/>
          <a:p>
            <a:r>
              <a:rPr lang="en-US" altLang="en-US"/>
              <a:t>Modelling Language: Notation</a:t>
            </a:r>
          </a:p>
        </p:txBody>
      </p:sp>
      <p:pic>
        <p:nvPicPr>
          <p:cNvPr id="15365" name="Picture 7" descr="aaaaaaaaaaaaaaaaaaaaaaaaabasic-nota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6791" y="5457523"/>
            <a:ext cx="3733800" cy="7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66" name="Group 8"/>
          <p:cNvGrpSpPr>
            <a:grpSpLocks/>
          </p:cNvGrpSpPr>
          <p:nvPr/>
        </p:nvGrpSpPr>
        <p:grpSpPr bwMode="auto">
          <a:xfrm>
            <a:off x="3822689" y="2732049"/>
            <a:ext cx="924658" cy="451338"/>
            <a:chOff x="3925" y="1061"/>
            <a:chExt cx="914" cy="536"/>
          </a:xfrm>
        </p:grpSpPr>
        <p:sp>
          <p:nvSpPr>
            <p:cNvPr id="15369" name="Rectangle 9"/>
            <p:cNvSpPr>
              <a:spLocks noChangeArrowheads="1"/>
            </p:cNvSpPr>
            <p:nvPr/>
          </p:nvSpPr>
          <p:spPr bwMode="auto">
            <a:xfrm>
              <a:off x="3980" y="1108"/>
              <a:ext cx="859" cy="489"/>
            </a:xfrm>
            <a:prstGeom prst="rect">
              <a:avLst/>
            </a:prstGeom>
            <a:solidFill>
              <a:srgbClr val="AAAAAA"/>
            </a:solidFill>
            <a:ln w="0">
              <a:solidFill>
                <a:srgbClr val="AAAAAA"/>
              </a:solidFill>
              <a:miter lim="800000"/>
              <a:headEnd/>
              <a:tailEnd/>
            </a:ln>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15370" name="Line 10"/>
            <p:cNvSpPr>
              <a:spLocks noChangeShapeType="1"/>
            </p:cNvSpPr>
            <p:nvPr/>
          </p:nvSpPr>
          <p:spPr bwMode="auto">
            <a:xfrm>
              <a:off x="4697" y="1518"/>
              <a:ext cx="0" cy="47"/>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1" name="Line 11"/>
            <p:cNvSpPr>
              <a:spLocks noChangeShapeType="1"/>
            </p:cNvSpPr>
            <p:nvPr/>
          </p:nvSpPr>
          <p:spPr bwMode="auto">
            <a:xfrm>
              <a:off x="4697" y="1518"/>
              <a:ext cx="47" cy="0"/>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2" name="Line 12"/>
            <p:cNvSpPr>
              <a:spLocks noChangeShapeType="1"/>
            </p:cNvSpPr>
            <p:nvPr/>
          </p:nvSpPr>
          <p:spPr bwMode="auto">
            <a:xfrm>
              <a:off x="4697" y="1542"/>
              <a:ext cx="47" cy="0"/>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3" name="Line 13"/>
            <p:cNvSpPr>
              <a:spLocks noChangeShapeType="1"/>
            </p:cNvSpPr>
            <p:nvPr/>
          </p:nvSpPr>
          <p:spPr bwMode="auto">
            <a:xfrm>
              <a:off x="4697" y="1565"/>
              <a:ext cx="63" cy="0"/>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4" name="Line 14"/>
            <p:cNvSpPr>
              <a:spLocks noChangeShapeType="1"/>
            </p:cNvSpPr>
            <p:nvPr/>
          </p:nvSpPr>
          <p:spPr bwMode="auto">
            <a:xfrm>
              <a:off x="4760" y="1518"/>
              <a:ext cx="47" cy="47"/>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5" name="Line 15"/>
            <p:cNvSpPr>
              <a:spLocks noChangeShapeType="1"/>
            </p:cNvSpPr>
            <p:nvPr/>
          </p:nvSpPr>
          <p:spPr bwMode="auto">
            <a:xfrm flipV="1">
              <a:off x="4760" y="1518"/>
              <a:ext cx="47" cy="47"/>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6" name="Line 16"/>
            <p:cNvSpPr>
              <a:spLocks noChangeShapeType="1"/>
            </p:cNvSpPr>
            <p:nvPr/>
          </p:nvSpPr>
          <p:spPr bwMode="auto">
            <a:xfrm>
              <a:off x="4012" y="1108"/>
              <a:ext cx="0" cy="481"/>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7" name="Line 17"/>
            <p:cNvSpPr>
              <a:spLocks noChangeShapeType="1"/>
            </p:cNvSpPr>
            <p:nvPr/>
          </p:nvSpPr>
          <p:spPr bwMode="auto">
            <a:xfrm>
              <a:off x="4051" y="1108"/>
              <a:ext cx="0" cy="481"/>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8" name="Line 18"/>
            <p:cNvSpPr>
              <a:spLocks noChangeShapeType="1"/>
            </p:cNvSpPr>
            <p:nvPr/>
          </p:nvSpPr>
          <p:spPr bwMode="auto">
            <a:xfrm>
              <a:off x="4744" y="1108"/>
              <a:ext cx="0" cy="481"/>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79" name="Line 19"/>
            <p:cNvSpPr>
              <a:spLocks noChangeShapeType="1"/>
            </p:cNvSpPr>
            <p:nvPr/>
          </p:nvSpPr>
          <p:spPr bwMode="auto">
            <a:xfrm>
              <a:off x="4799" y="1108"/>
              <a:ext cx="0" cy="481"/>
            </a:xfrm>
            <a:prstGeom prst="line">
              <a:avLst/>
            </a:prstGeom>
            <a:noFill/>
            <a:ln w="0">
              <a:solidFill>
                <a:srgbClr val="AAAAAA"/>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0" name="Rectangle 20"/>
            <p:cNvSpPr>
              <a:spLocks noChangeArrowheads="1"/>
            </p:cNvSpPr>
            <p:nvPr/>
          </p:nvSpPr>
          <p:spPr bwMode="auto">
            <a:xfrm>
              <a:off x="3925" y="1061"/>
              <a:ext cx="866" cy="481"/>
            </a:xfrm>
            <a:prstGeom prst="rect">
              <a:avLst/>
            </a:prstGeom>
            <a:solidFill>
              <a:srgbClr val="96FFFF"/>
            </a:solidFill>
            <a:ln w="12700">
              <a:solidFill>
                <a:srgbClr val="000000"/>
              </a:solidFill>
              <a:miter lim="800000"/>
              <a:headEnd/>
              <a:tailEnd/>
            </a:ln>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15381" name="Line 21"/>
            <p:cNvSpPr>
              <a:spLocks noChangeShapeType="1"/>
            </p:cNvSpPr>
            <p:nvPr/>
          </p:nvSpPr>
          <p:spPr bwMode="auto">
            <a:xfrm>
              <a:off x="4642" y="1471"/>
              <a:ext cx="0"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2" name="Line 22"/>
            <p:cNvSpPr>
              <a:spLocks noChangeShapeType="1"/>
            </p:cNvSpPr>
            <p:nvPr/>
          </p:nvSpPr>
          <p:spPr bwMode="auto">
            <a:xfrm>
              <a:off x="4642" y="1471"/>
              <a:ext cx="5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3" name="Line 23"/>
            <p:cNvSpPr>
              <a:spLocks noChangeShapeType="1"/>
            </p:cNvSpPr>
            <p:nvPr/>
          </p:nvSpPr>
          <p:spPr bwMode="auto">
            <a:xfrm>
              <a:off x="4642" y="1494"/>
              <a:ext cx="5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4" name="Line 24"/>
            <p:cNvSpPr>
              <a:spLocks noChangeShapeType="1"/>
            </p:cNvSpPr>
            <p:nvPr/>
          </p:nvSpPr>
          <p:spPr bwMode="auto">
            <a:xfrm>
              <a:off x="4642" y="1518"/>
              <a:ext cx="6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5" name="Line 25"/>
            <p:cNvSpPr>
              <a:spLocks noChangeShapeType="1"/>
            </p:cNvSpPr>
            <p:nvPr/>
          </p:nvSpPr>
          <p:spPr bwMode="auto">
            <a:xfrm>
              <a:off x="4705" y="1471"/>
              <a:ext cx="55"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6" name="Line 26"/>
            <p:cNvSpPr>
              <a:spLocks noChangeShapeType="1"/>
            </p:cNvSpPr>
            <p:nvPr/>
          </p:nvSpPr>
          <p:spPr bwMode="auto">
            <a:xfrm flipV="1">
              <a:off x="4705" y="1471"/>
              <a:ext cx="55"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7" name="Line 27"/>
            <p:cNvSpPr>
              <a:spLocks noChangeShapeType="1"/>
            </p:cNvSpPr>
            <p:nvPr/>
          </p:nvSpPr>
          <p:spPr bwMode="auto">
            <a:xfrm>
              <a:off x="3957"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8" name="Line 28"/>
            <p:cNvSpPr>
              <a:spLocks noChangeShapeType="1"/>
            </p:cNvSpPr>
            <p:nvPr/>
          </p:nvSpPr>
          <p:spPr bwMode="auto">
            <a:xfrm>
              <a:off x="3996"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89" name="Line 29"/>
            <p:cNvSpPr>
              <a:spLocks noChangeShapeType="1"/>
            </p:cNvSpPr>
            <p:nvPr/>
          </p:nvSpPr>
          <p:spPr bwMode="auto">
            <a:xfrm>
              <a:off x="4697"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0" name="Line 30"/>
            <p:cNvSpPr>
              <a:spLocks noChangeShapeType="1"/>
            </p:cNvSpPr>
            <p:nvPr/>
          </p:nvSpPr>
          <p:spPr bwMode="auto">
            <a:xfrm>
              <a:off x="4744"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1" name="Rectangle 31"/>
            <p:cNvSpPr>
              <a:spLocks noChangeArrowheads="1"/>
            </p:cNvSpPr>
            <p:nvPr/>
          </p:nvSpPr>
          <p:spPr bwMode="auto">
            <a:xfrm>
              <a:off x="3925" y="1061"/>
              <a:ext cx="866" cy="481"/>
            </a:xfrm>
            <a:prstGeom prst="rect">
              <a:avLst/>
            </a:prstGeom>
            <a:solidFill>
              <a:srgbClr val="96FFFF"/>
            </a:solidFill>
            <a:ln w="12700">
              <a:solidFill>
                <a:srgbClr val="000000"/>
              </a:solidFill>
              <a:miter lim="800000"/>
              <a:headEnd/>
              <a:tailEnd/>
            </a:ln>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15392" name="Line 32"/>
            <p:cNvSpPr>
              <a:spLocks noChangeShapeType="1"/>
            </p:cNvSpPr>
            <p:nvPr/>
          </p:nvSpPr>
          <p:spPr bwMode="auto">
            <a:xfrm>
              <a:off x="4642" y="1471"/>
              <a:ext cx="0"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3" name="Line 33"/>
            <p:cNvSpPr>
              <a:spLocks noChangeShapeType="1"/>
            </p:cNvSpPr>
            <p:nvPr/>
          </p:nvSpPr>
          <p:spPr bwMode="auto">
            <a:xfrm>
              <a:off x="4642" y="1471"/>
              <a:ext cx="5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4" name="Line 34"/>
            <p:cNvSpPr>
              <a:spLocks noChangeShapeType="1"/>
            </p:cNvSpPr>
            <p:nvPr/>
          </p:nvSpPr>
          <p:spPr bwMode="auto">
            <a:xfrm>
              <a:off x="4642" y="1494"/>
              <a:ext cx="5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5" name="Line 35"/>
            <p:cNvSpPr>
              <a:spLocks noChangeShapeType="1"/>
            </p:cNvSpPr>
            <p:nvPr/>
          </p:nvSpPr>
          <p:spPr bwMode="auto">
            <a:xfrm>
              <a:off x="4642" y="1518"/>
              <a:ext cx="63"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6" name="Line 36"/>
            <p:cNvSpPr>
              <a:spLocks noChangeShapeType="1"/>
            </p:cNvSpPr>
            <p:nvPr/>
          </p:nvSpPr>
          <p:spPr bwMode="auto">
            <a:xfrm>
              <a:off x="4705" y="1471"/>
              <a:ext cx="55"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7" name="Line 37"/>
            <p:cNvSpPr>
              <a:spLocks noChangeShapeType="1"/>
            </p:cNvSpPr>
            <p:nvPr/>
          </p:nvSpPr>
          <p:spPr bwMode="auto">
            <a:xfrm flipV="1">
              <a:off x="4705" y="1471"/>
              <a:ext cx="55"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8" name="Line 38"/>
            <p:cNvSpPr>
              <a:spLocks noChangeShapeType="1"/>
            </p:cNvSpPr>
            <p:nvPr/>
          </p:nvSpPr>
          <p:spPr bwMode="auto">
            <a:xfrm>
              <a:off x="3957"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399" name="Line 39"/>
            <p:cNvSpPr>
              <a:spLocks noChangeShapeType="1"/>
            </p:cNvSpPr>
            <p:nvPr/>
          </p:nvSpPr>
          <p:spPr bwMode="auto">
            <a:xfrm>
              <a:off x="3996"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400" name="Line 40"/>
            <p:cNvSpPr>
              <a:spLocks noChangeShapeType="1"/>
            </p:cNvSpPr>
            <p:nvPr/>
          </p:nvSpPr>
          <p:spPr bwMode="auto">
            <a:xfrm>
              <a:off x="4697"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401" name="Line 41"/>
            <p:cNvSpPr>
              <a:spLocks noChangeShapeType="1"/>
            </p:cNvSpPr>
            <p:nvPr/>
          </p:nvSpPr>
          <p:spPr bwMode="auto">
            <a:xfrm>
              <a:off x="4744" y="1061"/>
              <a:ext cx="0" cy="48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15402" name="Rectangle 42"/>
            <p:cNvSpPr>
              <a:spLocks noChangeArrowheads="1"/>
            </p:cNvSpPr>
            <p:nvPr/>
          </p:nvSpPr>
          <p:spPr bwMode="auto">
            <a:xfrm>
              <a:off x="4338" y="1148"/>
              <a:ext cx="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pPr>
              <a:endParaRPr lang="en-US" altLang="en-US" sz="1662">
                <a:solidFill>
                  <a:prstClr val="black"/>
                </a:solidFill>
              </a:endParaRPr>
            </a:p>
          </p:txBody>
        </p:sp>
        <p:sp>
          <p:nvSpPr>
            <p:cNvPr id="15403" name="Rectangle 43"/>
            <p:cNvSpPr>
              <a:spLocks noChangeArrowheads="1"/>
            </p:cNvSpPr>
            <p:nvPr/>
          </p:nvSpPr>
          <p:spPr bwMode="auto">
            <a:xfrm>
              <a:off x="4354" y="1273"/>
              <a:ext cx="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fontAlgn="base">
                <a:spcBef>
                  <a:spcPct val="0"/>
                </a:spcBef>
                <a:spcAft>
                  <a:spcPct val="0"/>
                </a:spcAft>
                <a:buFontTx/>
                <a:buNone/>
              </a:pPr>
              <a:endParaRPr lang="en-US" altLang="en-US" sz="1662">
                <a:solidFill>
                  <a:prstClr val="black"/>
                </a:solidFill>
              </a:endParaRPr>
            </a:p>
          </p:txBody>
        </p:sp>
      </p:grpSp>
      <p:sp>
        <p:nvSpPr>
          <p:cNvPr id="15367" name="AutoShape 44"/>
          <p:cNvSpPr>
            <a:spLocks noChangeArrowheads="1"/>
          </p:cNvSpPr>
          <p:nvPr/>
        </p:nvSpPr>
        <p:spPr bwMode="auto">
          <a:xfrm>
            <a:off x="5063870" y="2690500"/>
            <a:ext cx="751742" cy="496765"/>
          </a:xfrm>
          <a:prstGeom prst="roundRect">
            <a:avLst>
              <a:gd name="adj" fmla="val 15662"/>
            </a:avLst>
          </a:prstGeom>
          <a:solidFill>
            <a:srgbClr val="96FF96"/>
          </a:solidFill>
          <a:ln w="12700">
            <a:solidFill>
              <a:srgbClr val="000000"/>
            </a:solidFill>
            <a:round/>
            <a:headEnd/>
            <a:tailEnd/>
          </a:ln>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15368" name="Freeform 45"/>
          <p:cNvSpPr>
            <a:spLocks/>
          </p:cNvSpPr>
          <p:nvPr/>
        </p:nvSpPr>
        <p:spPr bwMode="auto">
          <a:xfrm>
            <a:off x="6143858" y="2700498"/>
            <a:ext cx="819150" cy="468923"/>
          </a:xfrm>
          <a:custGeom>
            <a:avLst/>
            <a:gdLst>
              <a:gd name="T0" fmla="*/ 2147483646 w 1048"/>
              <a:gd name="T1" fmla="*/ 0 h 646"/>
              <a:gd name="T2" fmla="*/ 2147483646 w 1048"/>
              <a:gd name="T3" fmla="*/ 0 h 646"/>
              <a:gd name="T4" fmla="*/ 2147483646 w 1048"/>
              <a:gd name="T5" fmla="*/ 2147483646 h 646"/>
              <a:gd name="T6" fmla="*/ 2147483646 w 1048"/>
              <a:gd name="T7" fmla="*/ 2147483646 h 646"/>
              <a:gd name="T8" fmla="*/ 2147483646 w 1048"/>
              <a:gd name="T9" fmla="*/ 2147483646 h 646"/>
              <a:gd name="T10" fmla="*/ 0 w 1048"/>
              <a:gd name="T11" fmla="*/ 2147483646 h 646"/>
              <a:gd name="T12" fmla="*/ 2147483646 w 1048"/>
              <a:gd name="T13" fmla="*/ 0 h 646"/>
              <a:gd name="T14" fmla="*/ 0 60000 65536"/>
              <a:gd name="T15" fmla="*/ 0 60000 65536"/>
              <a:gd name="T16" fmla="*/ 0 60000 65536"/>
              <a:gd name="T17" fmla="*/ 0 60000 65536"/>
              <a:gd name="T18" fmla="*/ 0 60000 65536"/>
              <a:gd name="T19" fmla="*/ 0 60000 65536"/>
              <a:gd name="T20" fmla="*/ 0 60000 65536"/>
              <a:gd name="T21" fmla="*/ 0 w 1048"/>
              <a:gd name="T22" fmla="*/ 0 h 646"/>
              <a:gd name="T23" fmla="*/ 1048 w 1048"/>
              <a:gd name="T24" fmla="*/ 646 h 6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8" h="646">
                <a:moveTo>
                  <a:pt x="119" y="0"/>
                </a:moveTo>
                <a:lnTo>
                  <a:pt x="922" y="0"/>
                </a:lnTo>
                <a:lnTo>
                  <a:pt x="1048" y="323"/>
                </a:lnTo>
                <a:lnTo>
                  <a:pt x="922" y="646"/>
                </a:lnTo>
                <a:lnTo>
                  <a:pt x="119" y="646"/>
                </a:lnTo>
                <a:lnTo>
                  <a:pt x="0" y="323"/>
                </a:lnTo>
                <a:lnTo>
                  <a:pt x="119" y="0"/>
                </a:lnTo>
                <a:close/>
              </a:path>
            </a:pathLst>
          </a:custGeom>
          <a:solidFill>
            <a:srgbClr val="FFAFFF"/>
          </a:solidFill>
          <a:ln w="12700">
            <a:solidFill>
              <a:srgbClr val="000000"/>
            </a:solidFill>
            <a:round/>
            <a:headEnd/>
            <a:tailEnd/>
          </a:ln>
        </p:spPr>
        <p:txBody>
          <a:bodyPr/>
          <a:lstStyle/>
          <a:p>
            <a:pPr algn="ctr" eaLnBrk="0" fontAlgn="base" hangingPunct="0">
              <a:spcBef>
                <a:spcPct val="0"/>
              </a:spcBef>
              <a:spcAft>
                <a:spcPct val="0"/>
              </a:spcAft>
            </a:pPr>
            <a:endParaRPr lang="en-AU" sz="2031">
              <a:solidFill>
                <a:prstClr val="black"/>
              </a:solidFill>
              <a:latin typeface="Arial" charset="0"/>
              <a:ea typeface="ＭＳ Ｐゴシック" pitchFamily="34" charset="-128"/>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22</a:t>
            </a:fld>
            <a:endParaRPr lang="en-AU">
              <a:solidFill>
                <a:prstClr val="black">
                  <a:lumMod val="50000"/>
                  <a:lumOff val="50000"/>
                </a:prstClr>
              </a:solidFill>
            </a:endParaRPr>
          </a:p>
        </p:txBody>
      </p:sp>
    </p:spTree>
    <p:extLst>
      <p:ext uri="{BB962C8B-B14F-4D97-AF65-F5344CB8AC3E}">
        <p14:creationId xmlns:p14="http://schemas.microsoft.com/office/powerpoint/2010/main" val="3289327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AU" altLang="en-US"/>
              <a:t>Example: Chess</a:t>
            </a:r>
          </a:p>
        </p:txBody>
      </p:sp>
      <p:sp>
        <p:nvSpPr>
          <p:cNvPr id="16388" name="AutoShape 2" descr="data:image/jpeg;base64,/9j/4AAQSkZJRgABAQAAAQABAAD/2wCEAAkGBxQSEhUUEhQUFRUXFBwVFhcVGBYXFxQaFRcWFxUYFxgYHCghGB0lHRUWITEhJSkrLi4uFyAzODMsNygtLisBCgoKDg0OGxAQGzQmICQsLCwsLCwsLywsLCwsLCwsLCwsLCwsLCwsLCwsLCwsLCwsLCwsLCwsLCwsLCwsLCwsLP/AABEIALkAyAMBIgACEQEDEQH/xAAcAAABBQEBAQAAAAAAAAAAAAAFAAEEBgcDAgj/xABEEAACAQIDBAcGAwYDBwUAAAABAgMAEQQSIQUGMUETIlFhcYGRBxQyobHBQlJyI2KS0eHwQ4KiFTNTY5OywiQ0g+Lx/8QAGQEAAgMBAAAAAAAAAAAAAAAAAgQAAQMF/8QAJBEAAgICAgIDAQEBAQAAAAAAAAECEQMhBBIiMRNBUTKBYSP/2gAMAwEAAhEDEQA/AMmp6anoR4VXrcj2cPjY+nmkMEH4CFDPLyJAJsqjtN7ngOdA9zN1n2jM0SSJHlTOzOCbDMFFlBFzc9tbdu/gDg8ImGaUSlL2cIY9CxYCxY8L28qwz5ekdewJNt0jGt8Nz5dnlSzCWFzlSVVy9YC5V0JOVrXPEggcarlb5vDsKLHxJFM8qKsnSjoslycpUXLgiwzHlzrGd6ti+5Yp4M/SBQrK2XKSHAYXFzry48u+h4+b5FT9hJ/QJtSpU9MBCpU1OKhBUqVIVRBUqenqyDU9KlU2QY01PSqEGpUqVUQRpjSpURBqVNSqFCp6anqiHOnrnmr1mqyrNI9hjgY2YE2LYayj81pFJt22GtafiF6xr552DsmbFzpFhw3SEghluOiFxeQsOAW9/pxr6a/2YBGirYBVC6k3OUAd55Uhy4bTQHZKQHJC6sQoHEsQoHmdBWOe03EpJtB2jdHHRxrdGDLcJqLjQ2uK2za2wRicPNAWX9rGyA5SQCR1SfAgV84Y/AyYd2injaKRfiRuV+BHIg9o0NDxI7cv8CUlZwp683p708FY96Veb096hLHpU16RPHUAKBmJ/evaw51aTZUpqK2eqVdsRGoSORGur5hY/Ejx5M6m3EWkUg9h7teUYzaLqbE2HGwFyalNEU4vaYqVI016lhD01K9K9Qg1KlSqIg1KnpVZDzTU5pjVlCpUqVUQjirNuHukdpTPH0oiWNA7m2ZiGbKAq3Fz3k2FVmrJ7Ptt+6Y6KQm0bnopL8AshAB8myn1qpXTr2Ys3HdHcXD7PYvD0rSFSjPI1yQSDbKoCjUDl51aWJPdUJpiNKgYjEntrmTm37IsbYVaPtZvWqzvVuXg8e3SThlkyhekjkysAvAENdG81rji8Y3bUKKdnYKDxNqxWSUXcTT4v1mT78btf7OxAiEomVk6RWAAYAkizgEi+nLjVdz0Z3z2qMVjJZFN0B6OM9qR9UHzNz50ErrwTcVfsGz3nr1EpZhY5bda97ag6a8q5U6m398a0WnYMraoISbZeTIhK2TqpZVDWAFsx5iuMrgP17WYa35kCy/U0NmXW1RGFjWna0K9aLDg8WsQUEqUDF8rWYElVVhbjqFA9K64Z1WUNh1Rxf4DwIYWKvfgbEi/EceVVgDWjGBOWNnubkhF7ri5Ppep2J1tkvafRrKywsXQGyuQQWGlgR2jUX52qLeuINODWL2OR0qO16e9cc1PmqqC7HW9KuealmqF9jpT14DU3SDtHqKhLPZFNalelmq7JY1KlT1LKsjgUiL6U4FegtSwKPojcbbHveBhlY3cL0cn647Kx8+q3nRDErVL9hsC+7z/ALYF2lBaHQGMKLCQcyHvx4dQDiDWhYrBt2Vzssak6CjJeiqY+g22Mf7thZ5howTo4/1y9VbeAJPlVlxmzmJ5DxI/nVV9o2ywcLCBKpKyljEOL5lsGB49TUcLdessauasNv6Mhy8hy09Ka1Gxso9lIbKPZXT+RA9GBKVGH2X3VxfZxolkRXRgh+NRp1saJz4XI4LsAOVwTz1uOY8K4bQMd7C/kGF++zcK2jTjYrPUgdzozJEViiv+IM3o2X7GhkeS+oY+Fh8zwqy7UmDYfDjoHRgCY2LAgxXYMCtrkl7G54W76j9Eh/SA9KnKGmtQDAqVPSqiCpxTUqhCVszo+mi6VWePpUDqnxOuYXVbakkchqa+k5MHhY16MYWLIARl6NLWHZpWe+yHc61sdiF1I/8ATqw+Ec5TfmeC91zzrTZsQpNhr/SkeTl3UWRK3s+et/YcPHjpkwqlI1IVk1ASQX6RUB1C8LfLSq9mrXPaxuuJ4/foBeSNbYlRxdBosv6l4HtHhrkJprFJTgmmV60es1KvNKtCycmErumBJ+FWY8lUFmbwA41YVwFqt24W0cPhmkEwyM5GWW17AfhJHwi+t+/WlHmN3GkHvZ/uQcAWld88kkYRlAAVLNmsDxJvoeFW3EYYEaA/OvWFxkTC8cqMO5gw9RXuTEr+cetLzfbbFrldgLE7MYnQH1oZvDumcSI2RssscbKFOXK4LZrX4g/LWrHLiIub/M1Ak2rAmt/78Sawj4uzbtJmWiDkQQeYIII7iDqK9e7irLvVtGGcp0anOCcz8iLaC/PXW9A1jrW2MRdraIjYQVDxgiiGaVlUHhc6tbko4mjBjoFvFu6cSVZXysotY3ykceXA1pjq/J6Knaj4rZT8RipJ3ByhctwANAAe0muWOzvbMVJGmZSWv5ga0SxG7zwoxlWU5RfNE0ZjA7STqD3WoM86jgsnm5H0rqxcevicuSl28jmsOvH0BP2q37KngkjCTM6LGhEbdGoFybhSWYE3PYKqcEhZgqJcsQACzG5JsOYqzYLYWLVgbwxEHiLMykdgF6jnGK8iRjJvxOseCV75eXG4I8xfiO+vLbI7qtUbymNUmleYqSbuFBBYAHgL20GhqNtAFIpHUXZUZhftApCWTyqLH4xfW5LZU8XgFjF2v3AAkm3HQcqhQRq7ZRmB5ZgQCezxrxi9r9IRnAfLoOroe/4uPOumFaIFWyukisGy9axsQQdSdPOnYw1tiks29ejo2z2otufu371ikjkv0QvJJ3qtur5kgeF6iSbX70U20BUsDw8x3HuNFN3N8vdJGfoUlzJkIztHbUG4OVuys5QyVoP5IM3jDQmQfljGgA0vbh4D+VSLqvAAeH961kj+2KYCy4SFR+9M5+iirDu1vwmOU2XK6gF1BJAvpzANr89fEc0J8aUI9mi1kUnRc1ZCdQOy9uR0IYcweYr52342EMDjZoF+AEPHc3IRxdRc8bajvy3rbBtDX5VQ/adAs+MB/EsCI57xnax8Ay+tTiTUZNByg7RmNqVGn2RSp/uiurLm7LXFmFMYTXggjlXOGydsJR71BpxlX5mtOx2DGXhyrLthufeoNP8AGT/uFa/jF6tSS0Y5JNSRQMWlpBx4j61B24yjEzDslaje0ouvVd3lwbHFznkZL+oFZY0rZonsi4nHpGLkMbkABRckm58uB1oNPvfGI3ZI3LK6rlYhPjDm/M26h5cxXLfLClcKTrpIvlxqnwSWuSQxOtyL29a6HHwQnG2L5884SpFhO/78sOnm7n6WrpBvtK5/9vGfAyfc2qoz4kn8v8Iplx0g4NbwAFMLBiX0YPPk/S4bU3ozxSxSQlC8ZVWBvcm1tCOHmaq+OhIjQkGx0BsQGt2d+o0764+8O3xNc9p4+tTtozFsJBcknpZjcm+n7EAfKjjCMLUTOU5SpyB+yWtNGf8AmJ/3itcnXrt+pvqax/CPZ1PYwPowrZ8bHaR/1t9TS3J/lDHG/pnBQK47Ut0E1v8AhP8A9tSFSnkwmdWRuDKVJHIEEXHhe/lSaqxx3RRsVseOSQhcyktoR3nmD5UA2iHjcKxByjqkcCp4Ec+zj2V3bFT4Z3jLElC0ZBuR1TlJUnhwHlQuVyxJJuTzrsykmtHISa9nt8Sx4mvSZ+PDvNcCKP7p7ry49yE6qKRnlYEql+AsPiY9g8TWbklthJXoBtISdTWt+znd4CH3hJRI0ihG0CiPKcxX95rga93fRHD+yfAhbNLiGb8wkjT/AE5D9aO7E3VhwsQiiZbXJLGys5PNgDxA0pHkciMsbUWMYoNStkrB7PChmklSIgdV3sVVuRNyL+FUQxlus1yW1JJuSTqb1p2G2XC8bRSkMGK6AkG6k2II151SNvbHaCV1AfJm6jOLZh6a0pgrqMKXlQDOFFKpDoRSpiwqO5lFc3kHZXHozSFYh2yfsVQcTBYf4q/WtZxa9Wsv3UizYuHuYt/CDWqYsdWi+mL5X5Ipu1E61C94ZAuJe/PKfVAaObUTWgu92HJlifk8Ceq3U/asILbNYvyRXN4sH7zh3iQqGOVhmNhdTcAm2nOswmwzwu0cq5XU6i4Nri41UkVrC4Y1RN+kPvSrfjEvZpxHGuhxJvt0MeVBV2KpLXO1SsWluZ86i06xI7wIW0UEmx0Hdcn5Cp+1IysGHU/lLf8AUN/oK87GhDdPflhnYdxGXh61O3rhyiMflRR/pFFFabI3tFeUcfA1tm1JD0rDvv8AxAN96xbDi5t2qR8tK2raCZxBKL2lwsT+eTI3zWleQvCxjjvzo5YRXdgiKWZjZVHEn++dXvZ25gy3nck/ljsAP8xBv5VC9nOAAMsx43EaX5CwZz53UeVXyU2FJdU1ZrlytOkZvvN7IsLimaSKSSGZuNz0kbEAC5B1HDkawveXd+fAzmDEplcagjVXHJkPMGvqqfE2NUT2zbMXE7NaYj9phnVlbnkchZFPdwbxUVvx+RcujMJQdWfPzWt2f33Vt+4OPihwcUcYDrYsXW12Zjd79hB0seSisObn60X3Y2ycO9urkY6lg11PaCrAjlr3U3kgpqmZqTjtH0GNtxH8LegP0pl2rhyeGv6TVb2HjVkNiUzHUFbhX48iSVYcxc35dlSui61cvPicPY3inGfosU23IMOVLqQWGZbLe4uRfTvBoTvHvmk8RiSLjbrOfhsb3Ve2uG82DzDDk/8ACYejg/8AlQI4Gqx1Fa+zRY09shvKTSqYcKaVHZpRIIHOuMmQcaFtKx4mpOysEZ5kiBsWNrnkBqfkKBRCbLb7PsMrzu4GiLlv3v8A0Hzq/YoaUN3f2SmETIl7E5iTqWPabeFEcQ4I0rRNKLQlkl2nZWtpJUXakXSYRH5wuQf0yf1AorjMOW5VzwkGVXRwrK65SpNr+fKsF7NW6plOvWbb8a7QA/5aD6mtH3i2b7tIuRiUcFlGYMRY2IuOPGsx2+5faJ5kBR/p/rTnDj/6FcmSeOwHtQWJ8aHiim2lsT9vKhYroz9iK9BzdqPM8y9uGkHyB+1Sd7G4d5vao+6GuLVfzxyJ5tE+X/VaoeJxbSW6QqSAPxAcRVxdRaKa3ZAQ6itp3TxazbKja13w0rRScT1JOsjHzFvOsfQRg9a3kxP0qzbE3jgw6Og6YB/i6I6m3C4k6voL1nLGpxcWw4zcJKSRtO420Qekj4EESAdoIyt6EL61aMRitKoe5+w1lczRTSZYyLA5ekbMoLZhwym5Fra27avGIwp5Vyclw0Ntwk7BONxVUr2rbaEWzmiv18Q4RRzyxkNIx7h1V/zVeZNlsTra3jVE9sO5ymH30TkNGETo3IKFSbWjsAQbm9tb691BxY9sqbLzSShSMYMd1Pct/SmwcObSparoVHNCPpXTBQZdTwPDxFd2tiF6O+xdqlLxuWtfkSCCNAVPJhyNbLszaSYpBNGwJY9cDQq9+tdfwgnMRyOtrgVhGOQhmYcySD5mt+2Nu4mGVXj+HERxSKONgEFx6uT50ry0vjd/Rrh1OydvBDfDwv8AlkZP41Vh80+dV4tV2OzzNh5IgQG0ZSeGZTw8xpVMxmzpI2KOtmHL6EdvCudFXFMehL2jgZKVeGRuylRpIK2RJNln8Jojuvs9xiojb4SSfCxB+teoWzsEXrMeAHz8BV62HsoQjXVj8R+w7qBNlTkooMI5FRcTiDU1WqPiIwaKXr2JxavZXsfj3HA1W8bj5WNrmrhisGDQ2TZy1g4sZTS+gPjcA3QwyN8JzAns1vr2VjuDnE+PeTkzkjwGg+Va/v8AbYGE2fIB8Up6KMdhYddu6y8+1hWQbnw/tc3dXU4OPfYU5GS40QtvrZj4mg4qxbyC7HxNV4LTmReRjD0EdgY0QYrDzN8McyO36VcFh36Xrzt/ZZw2ImgNz0Urx3PEhGIVvMAHzqERVy3rVZ0wuNUXE8Ijl7p8MFSQHXiyZGHbr30ARSiprpho7miLRjsrvho1FX1KbNeKplgnwrsmaJVOUlWV00YadvGrpsCaZ8OrSSszdbU21AYgcAOysm3Z2rCU6GR7ZuHKxF9RWx7uQlcLGCcxyXLcL5iTf50jycPV3+m2PPcerW0BttYuVYp2VyGSF3UgA2KqSpsdDrWCbQ2xNiwrzSSykD8ZJCntUCwHPgBX0JtaDPFOoFy2HlAHaTG1vnXyuBQ8BJKTa+ws/tBVL3vblyt96aWcC1we4XH2NCyKSiuhYvROzdIwAFvEn7C/oK3fdfESRYaGORukZY1AOVlsNSFyk6WBtyvbhWSbg7PafFJGguWPy7zyFbmkK3OnO3hblSXLk+tG2Krsn4baUnLSh29quJUZ9Q0YyntsTcfP50VwsQo0cPHNHkkAI5doPaDyNJY03abNnJRadGaUqlbawBw8zRk3AAIPaDwv36GlVtU6YynatHH2XZWecsAJBlCg8cpuSR5j5VpKpWd+zqIIZlfLmLKVI4kAHQ3q/KG/CaJi2ZbO5S1cnrnM8lD8RJJ+WhlVgRhf2SJjUCaUdtQsVJNyU+oqu7XmlRGdrKqi51H0qv8ADWv+gP2yYiNoIE0LdIzDWxAyqpt4nt7Koe72KEdyVvy0dFtp+/b5VD3l2wcTLe/VGi+FT9iFchzWrs8WDiqEcrTB+08RmJ6jW7yPsaEm/Zai204QT1RQswkcqOd2VGqHtpRfBYl/c5UBcomIjmZRlyLdJIg1rZs12UcbcOdrCVQ86Obq7QjgkdMSCcPiIzBNbigYgrIO0owDUIQJfHg/hrgcWR8OlTdtbIOFlMUoJIAIZSMsit8LobcDQ5VuQFUkk2A4kk8AAONVbIi8+zbciXabNI79Hh42CuV+N2IzFE7NOLHhcWvy+kY0VUCqAFACqBwAUWA9BVH9jm78uDwNplyPLKZih0KAqqoD32W/+ar1OxA5elIZptt/iNEiAsJDhuzWsJ9oPs9OzWM0QEmFkfKt754CblUa/wAQtcBu6xtcX3DEYlwdPtVX9pWyZsVs2TowzvHIkuRdSwTMHsOdgxNh2VjxMvXJ1X2aZYNxtnz22DLd1OmDI5613XELb4hTNiV7RXX0LFk3PxDQTB0Yo3DStgxOKMiieO12F2A4E8yOw1g2GxwUButa9gbG3qdKtW7e+EgkWG0hBPwx5Szn8q30W/5uVBkxxnHYFyi7iadhdoueTelF8HLIxH4e81W9p4rFieQFIV1BtmZrXUG2gA0v216gOIb4pgo/5aAfNy3yFcWcFFtWdFW1dBHfbCL0qMrklkObW/wkBT53OndSobtdwrKmpyrqSSSxOupOtNVyk29GsFUUiLsdePHkQRe48xR5MZIn+LYfvhT89D86oOA2pJm42B5KLf1ozHJm1P1+5uflRdWiSplgxG35FGhjbwDj53oPid6p/wDhRH/5X+f7OuLkd58f61EkkJ4CjWgOqZ7k3jmPxRqveHdv/AUG3ixJkw0v7WMHITlyuCe67H7V2xBb+n/596B7XhZo2HAW56fKjjXZMpx0UPDoLgMbDtPKrO+GiWPqzITwFm48uFV33dlOqhh4XBqbPLAwH7BVI45XcfIk11sctHPnHexTyhTYn7iokmMWuEoUcAfWuBt3+tC5FpEn3gHlXotcW435c6ioOGl+6ieH2NiJdEhYDtIyj1ahcktstK/Qd2PgumiUzt0uS6JmLMI0W1kXWwFyeFa/7N908PFEuIWOPpXuc1tUAJAVfynTUjj4VmmA2O+HjUOVXS5uco8s1r1sW40qHBwmNlsEAaxuM4+O/Yb3NIZJNttPQxVRRZUW1OxvSEzAcL1GlxZH4T6VjLSBSbHfDg12wyBeFC5se3IH0NRTjZGNgCPE2rHsk7o06Sa2VX2x7j4eTCyY2JVjmis7lAB0qXAbMOBYDUHjyJr5/YJ+98v519P7xokmAxSzNmvA1lv1Q1rrc9ua1Yum7aXuyr5KAB6j7Guhizrrsy+Nt6KX0q2Asx14E2Hyqwbt+8ZgYFMI4F1GXQ8byHrW/TVpw2yI0AOQeNgo/wBQ+gorgYxmBHW14/8A2b7UT5H4i/h/SxYeDlnB4c+N/Hj41LYCPVqH3JOi2/p+8ah44kuTna/7pJI+wpBxTk2xmK1RJxLZ2LGlQ6TGFAMzAfq6zHwC60qnR/hp6K+rdmlE8BibHUmhZ4GpOy/iFaFtFkS54Dzb+Vc5V7ST8qkcj4VGSgBIroeQt4afOhu0oAVNzc2/vWjGK4UFxPCriyUV/IOQ/n617lwytxUE+ANd2qbh/hpiL0A42BG2Qh/Ao8QKkYXd0N8MQP8AlAH8R0o1s/8A3g8as8nLwoJ5GiKCKnht0j+IqvcvWP0AHzo5g9mCMWDSt+qRiPJb2HiKnnl4VJhrPu5Og0kApt3oWNznDduYvb+O9Fdm7CdArwTPFIFtmQ9Hccg4W6uO5lNe4+J8aN7O+Ef3zoHkkvsFxRGixW0YwLyQzDhrDZie0tE4HolRJd6seNGw+H/606n0aL+dWIV4xvwedH8r/CvjRWX3ixzf4GHHjNL9OiFefe8Yx+OFB+h29Czj6V3HGuU/Ggc2y+iR4lgIjd5JJJiFsLkBVJ06qABV8QL0GCE/CoXwF/mftVhxP+7PgPqKEy/CKtPREhsNglY9Y3I/zH1PD5VNUqnYvj1mrns34fKoUHxnzrVrRPTom4vG6aKTrxY2H8IobMXf4iQOYBCjx01PnU2f4fL7VBxXxReNDGixQ4a56oJ71Fh5sePqaaj8XAUqD5Wwup//2Q=="/>
          <p:cNvSpPr>
            <a:spLocks noChangeAspect="1" noChangeArrowheads="1"/>
          </p:cNvSpPr>
          <p:nvPr/>
        </p:nvSpPr>
        <p:spPr bwMode="auto">
          <a:xfrm>
            <a:off x="70338" y="95250"/>
            <a:ext cx="281354" cy="2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AU" altLang="en-US" sz="2215">
              <a:solidFill>
                <a:prstClr val="black"/>
              </a:solidFill>
              <a:latin typeface="Times New Roman" panose="02020603050405020304" pitchFamily="18" charset="0"/>
            </a:endParaRPr>
          </a:p>
        </p:txBody>
      </p:sp>
      <p:sp>
        <p:nvSpPr>
          <p:cNvPr id="16389" name="AutoShape 4" descr="data:image/jpeg;base64,/9j/4AAQSkZJRgABAQAAAQABAAD/2wCEAAkGBxQSEhUUEhQUFRUXFBwVFhcVGBYXFxQaFRcWFxUYFxgYHCghGB0lHRUWITEhJSkrLi4uFyAzODMsNygtLisBCgoKDg0OGxAQGzQmICQsLCwsLCwsLywsLCwsLCwsLCwsLCwsLCwsLCwsLCwsLCwsLCwsLCwsLCwsLCwsLCwsLP/AABEIALkAyAMBIgACEQEDEQH/xAAcAAABBQEBAQAAAAAAAAAAAAAFAAEEBgcDAgj/xABEEAACAQIDBAcGAwYDBwUAAAABAgMAEQQSIQUGMUETIlFhcYGRBxQyobHBQlJyI2KS0eHwQ4KiFTNTY5OywiQ0g+Lx/8QAGQEAAgMBAAAAAAAAAAAAAAAAAgQAAQMF/8QAJBEAAgICAgIDAQEBAQAAAAAAAAECEQMhBBIiMRNBUTKBYSP/2gAMAwEAAhEDEQA/AMmp6anoR4VXrcj2cPjY+nmkMEH4CFDPLyJAJsqjtN7ngOdA9zN1n2jM0SSJHlTOzOCbDMFFlBFzc9tbdu/gDg8ImGaUSlL2cIY9CxYCxY8L28qwz5ekdewJNt0jGt8Nz5dnlSzCWFzlSVVy9YC5V0JOVrXPEggcarlb5vDsKLHxJFM8qKsnSjoslycpUXLgiwzHlzrGd6ti+5Yp4M/SBQrK2XKSHAYXFzry48u+h4+b5FT9hJ/QJtSpU9MBCpU1OKhBUqVIVRBUqenqyDU9KlU2QY01PSqEGpUqVUQRpjSpURBqVNSqFCp6anqiHOnrnmr1mqyrNI9hjgY2YE2LYayj81pFJt22GtafiF6xr552DsmbFzpFhw3SEghluOiFxeQsOAW9/pxr6a/2YBGirYBVC6k3OUAd55Uhy4bTQHZKQHJC6sQoHEsQoHmdBWOe03EpJtB2jdHHRxrdGDLcJqLjQ2uK2za2wRicPNAWX9rGyA5SQCR1SfAgV84Y/AyYd2injaKRfiRuV+BHIg9o0NDxI7cv8CUlZwp683p708FY96Veb096hLHpU16RPHUAKBmJ/evaw51aTZUpqK2eqVdsRGoSORGur5hY/Ejx5M6m3EWkUg9h7teUYzaLqbE2HGwFyalNEU4vaYqVI016lhD01K9K9Qg1KlSqIg1KnpVZDzTU5pjVlCpUqVUQjirNuHukdpTPH0oiWNA7m2ZiGbKAq3Fz3k2FVmrJ7Ptt+6Y6KQm0bnopL8AshAB8myn1qpXTr2Ys3HdHcXD7PYvD0rSFSjPI1yQSDbKoCjUDl51aWJPdUJpiNKgYjEntrmTm37IsbYVaPtZvWqzvVuXg8e3SThlkyhekjkysAvAENdG81rji8Y3bUKKdnYKDxNqxWSUXcTT4v1mT78btf7OxAiEomVk6RWAAYAkizgEi+nLjVdz0Z3z2qMVjJZFN0B6OM9qR9UHzNz50ErrwTcVfsGz3nr1EpZhY5bda97ag6a8q5U6m398a0WnYMraoISbZeTIhK2TqpZVDWAFsx5iuMrgP17WYa35kCy/U0NmXW1RGFjWna0K9aLDg8WsQUEqUDF8rWYElVVhbjqFA9K64Z1WUNh1Rxf4DwIYWKvfgbEi/EceVVgDWjGBOWNnubkhF7ri5Ppep2J1tkvafRrKywsXQGyuQQWGlgR2jUX52qLeuINODWL2OR0qO16e9cc1PmqqC7HW9KuealmqF9jpT14DU3SDtHqKhLPZFNalelmq7JY1KlT1LKsjgUiL6U4FegtSwKPojcbbHveBhlY3cL0cn647Kx8+q3nRDErVL9hsC+7z/ALYF2lBaHQGMKLCQcyHvx4dQDiDWhYrBt2Vzssak6CjJeiqY+g22Mf7thZ5howTo4/1y9VbeAJPlVlxmzmJ5DxI/nVV9o2ywcLCBKpKyljEOL5lsGB49TUcLdessauasNv6Mhy8hy09Ka1Gxso9lIbKPZXT+RA9GBKVGH2X3VxfZxolkRXRgh+NRp1saJz4XI4LsAOVwTz1uOY8K4bQMd7C/kGF++zcK2jTjYrPUgdzozJEViiv+IM3o2X7GhkeS+oY+Fh8zwqy7UmDYfDjoHRgCY2LAgxXYMCtrkl7G54W76j9Eh/SA9KnKGmtQDAqVPSqiCpxTUqhCVszo+mi6VWePpUDqnxOuYXVbakkchqa+k5MHhY16MYWLIARl6NLWHZpWe+yHc61sdiF1I/8ATqw+Ec5TfmeC91zzrTZsQpNhr/SkeTl3UWRK3s+et/YcPHjpkwqlI1IVk1ASQX6RUB1C8LfLSq9mrXPaxuuJ4/foBeSNbYlRxdBosv6l4HtHhrkJprFJTgmmV60es1KvNKtCycmErumBJ+FWY8lUFmbwA41YVwFqt24W0cPhmkEwyM5GWW17AfhJHwi+t+/WlHmN3GkHvZ/uQcAWld88kkYRlAAVLNmsDxJvoeFW3EYYEaA/OvWFxkTC8cqMO5gw9RXuTEr+cetLzfbbFrldgLE7MYnQH1oZvDumcSI2RssscbKFOXK4LZrX4g/LWrHLiIub/M1Ak2rAmt/78Sawj4uzbtJmWiDkQQeYIII7iDqK9e7irLvVtGGcp0anOCcz8iLaC/PXW9A1jrW2MRdraIjYQVDxgiiGaVlUHhc6tbko4mjBjoFvFu6cSVZXysotY3ykceXA1pjq/J6Knaj4rZT8RipJ3ByhctwANAAe0muWOzvbMVJGmZSWv5ga0SxG7zwoxlWU5RfNE0ZjA7STqD3WoM86jgsnm5H0rqxcevicuSl28jmsOvH0BP2q37KngkjCTM6LGhEbdGoFybhSWYE3PYKqcEhZgqJcsQACzG5JsOYqzYLYWLVgbwxEHiLMykdgF6jnGK8iRjJvxOseCV75eXG4I8xfiO+vLbI7qtUbymNUmleYqSbuFBBYAHgL20GhqNtAFIpHUXZUZhftApCWTyqLH4xfW5LZU8XgFjF2v3AAkm3HQcqhQRq7ZRmB5ZgQCezxrxi9r9IRnAfLoOroe/4uPOumFaIFWyukisGy9axsQQdSdPOnYw1tiks29ejo2z2otufu371ikjkv0QvJJ3qtur5kgeF6iSbX70U20BUsDw8x3HuNFN3N8vdJGfoUlzJkIztHbUG4OVuys5QyVoP5IM3jDQmQfljGgA0vbh4D+VSLqvAAeH961kj+2KYCy4SFR+9M5+iirDu1vwmOU2XK6gF1BJAvpzANr89fEc0J8aUI9mi1kUnRc1ZCdQOy9uR0IYcweYr52342EMDjZoF+AEPHc3IRxdRc8bajvy3rbBtDX5VQ/adAs+MB/EsCI57xnax8Ay+tTiTUZNByg7RmNqVGn2RSp/uiurLm7LXFmFMYTXggjlXOGydsJR71BpxlX5mtOx2DGXhyrLthufeoNP8AGT/uFa/jF6tSS0Y5JNSRQMWlpBx4j61B24yjEzDslaje0ouvVd3lwbHFznkZL+oFZY0rZonsi4nHpGLkMbkABRckm58uB1oNPvfGI3ZI3LK6rlYhPjDm/M26h5cxXLfLClcKTrpIvlxqnwSWuSQxOtyL29a6HHwQnG2L5884SpFhO/78sOnm7n6WrpBvtK5/9vGfAyfc2qoz4kn8v8Iplx0g4NbwAFMLBiX0YPPk/S4bU3ozxSxSQlC8ZVWBvcm1tCOHmaq+OhIjQkGx0BsQGt2d+o0764+8O3xNc9p4+tTtozFsJBcknpZjcm+n7EAfKjjCMLUTOU5SpyB+yWtNGf8AmJ/3itcnXrt+pvqax/CPZ1PYwPowrZ8bHaR/1t9TS3J/lDHG/pnBQK47Ut0E1v8AhP8A9tSFSnkwmdWRuDKVJHIEEXHhe/lSaqxx3RRsVseOSQhcyktoR3nmD5UA2iHjcKxByjqkcCp4Ec+zj2V3bFT4Z3jLElC0ZBuR1TlJUnhwHlQuVyxJJuTzrsykmtHISa9nt8Sx4mvSZ+PDvNcCKP7p7ry49yE6qKRnlYEql+AsPiY9g8TWbklthJXoBtISdTWt+znd4CH3hJRI0ihG0CiPKcxX95rga93fRHD+yfAhbNLiGb8wkjT/AE5D9aO7E3VhwsQiiZbXJLGys5PNgDxA0pHkciMsbUWMYoNStkrB7PChmklSIgdV3sVVuRNyL+FUQxlus1yW1JJuSTqb1p2G2XC8bRSkMGK6AkG6k2II151SNvbHaCV1AfJm6jOLZh6a0pgrqMKXlQDOFFKpDoRSpiwqO5lFc3kHZXHozSFYh2yfsVQcTBYf4q/WtZxa9Wsv3UizYuHuYt/CDWqYsdWi+mL5X5Ipu1E61C94ZAuJe/PKfVAaObUTWgu92HJlifk8Ceq3U/asILbNYvyRXN4sH7zh3iQqGOVhmNhdTcAm2nOswmwzwu0cq5XU6i4Nri41UkVrC4Y1RN+kPvSrfjEvZpxHGuhxJvt0MeVBV2KpLXO1SsWluZ86i06xI7wIW0UEmx0Hdcn5Cp+1IysGHU/lLf8AUN/oK87GhDdPflhnYdxGXh61O3rhyiMflRR/pFFFabI3tFeUcfA1tm1JD0rDvv8AxAN96xbDi5t2qR8tK2raCZxBKL2lwsT+eTI3zWleQvCxjjvzo5YRXdgiKWZjZVHEn++dXvZ25gy3nck/ljsAP8xBv5VC9nOAAMsx43EaX5CwZz53UeVXyU2FJdU1ZrlytOkZvvN7IsLimaSKSSGZuNz0kbEAC5B1HDkawveXd+fAzmDEplcagjVXHJkPMGvqqfE2NUT2zbMXE7NaYj9phnVlbnkchZFPdwbxUVvx+RcujMJQdWfPzWt2f33Vt+4OPihwcUcYDrYsXW12Zjd79hB0seSisObn60X3Y2ycO9urkY6lg11PaCrAjlr3U3kgpqmZqTjtH0GNtxH8LegP0pl2rhyeGv6TVb2HjVkNiUzHUFbhX48iSVYcxc35dlSui61cvPicPY3inGfosU23IMOVLqQWGZbLe4uRfTvBoTvHvmk8RiSLjbrOfhsb3Ve2uG82DzDDk/8ACYejg/8AlQI4Gqx1Fa+zRY09shvKTSqYcKaVHZpRIIHOuMmQcaFtKx4mpOysEZ5kiBsWNrnkBqfkKBRCbLb7PsMrzu4GiLlv3v8A0Hzq/YoaUN3f2SmETIl7E5iTqWPabeFEcQ4I0rRNKLQlkl2nZWtpJUXakXSYRH5wuQf0yf1AorjMOW5VzwkGVXRwrK65SpNr+fKsF7NW6plOvWbb8a7QA/5aD6mtH3i2b7tIuRiUcFlGYMRY2IuOPGsx2+5faJ5kBR/p/rTnDj/6FcmSeOwHtQWJ8aHiim2lsT9vKhYroz9iK9BzdqPM8y9uGkHyB+1Sd7G4d5vao+6GuLVfzxyJ5tE+X/VaoeJxbSW6QqSAPxAcRVxdRaKa3ZAQ6itp3TxazbKja13w0rRScT1JOsjHzFvOsfQRg9a3kxP0qzbE3jgw6Og6YB/i6I6m3C4k6voL1nLGpxcWw4zcJKSRtO420Qekj4EESAdoIyt6EL61aMRitKoe5+w1lczRTSZYyLA5ekbMoLZhwym5Fra27avGIwp5Vyclw0Ntwk7BONxVUr2rbaEWzmiv18Q4RRzyxkNIx7h1V/zVeZNlsTra3jVE9sO5ymH30TkNGETo3IKFSbWjsAQbm9tb691BxY9sqbLzSShSMYMd1Pct/SmwcObSparoVHNCPpXTBQZdTwPDxFd2tiF6O+xdqlLxuWtfkSCCNAVPJhyNbLszaSYpBNGwJY9cDQq9+tdfwgnMRyOtrgVhGOQhmYcySD5mt+2Nu4mGVXj+HERxSKONgEFx6uT50ry0vjd/Rrh1OydvBDfDwv8AlkZP41Vh80+dV4tV2OzzNh5IgQG0ZSeGZTw8xpVMxmzpI2KOtmHL6EdvCudFXFMehL2jgZKVeGRuylRpIK2RJNln8Jojuvs9xiojb4SSfCxB+teoWzsEXrMeAHz8BV62HsoQjXVj8R+w7qBNlTkooMI5FRcTiDU1WqPiIwaKXr2JxavZXsfj3HA1W8bj5WNrmrhisGDQ2TZy1g4sZTS+gPjcA3QwyN8JzAns1vr2VjuDnE+PeTkzkjwGg+Va/v8AbYGE2fIB8Up6KMdhYddu6y8+1hWQbnw/tc3dXU4OPfYU5GS40QtvrZj4mg4qxbyC7HxNV4LTmReRjD0EdgY0QYrDzN8McyO36VcFh36Xrzt/ZZw2ImgNz0Urx3PEhGIVvMAHzqERVy3rVZ0wuNUXE8Ijl7p8MFSQHXiyZGHbr30ARSiprpho7miLRjsrvho1FX1KbNeKplgnwrsmaJVOUlWV00YadvGrpsCaZ8OrSSszdbU21AYgcAOysm3Z2rCU6GR7ZuHKxF9RWx7uQlcLGCcxyXLcL5iTf50jycPV3+m2PPcerW0BttYuVYp2VyGSF3UgA2KqSpsdDrWCbQ2xNiwrzSSykD8ZJCntUCwHPgBX0JtaDPFOoFy2HlAHaTG1vnXyuBQ8BJKTa+ws/tBVL3vblyt96aWcC1we4XH2NCyKSiuhYvROzdIwAFvEn7C/oK3fdfESRYaGORukZY1AOVlsNSFyk6WBtyvbhWSbg7PafFJGguWPy7zyFbmkK3OnO3hblSXLk+tG2Krsn4baUnLSh29quJUZ9Q0YyntsTcfP50VwsQo0cPHNHkkAI5doPaDyNJY03abNnJRadGaUqlbawBw8zRk3AAIPaDwv36GlVtU6YynatHH2XZWecsAJBlCg8cpuSR5j5VpKpWd+zqIIZlfLmLKVI4kAHQ3q/KG/CaJi2ZbO5S1cnrnM8lD8RJJ+WhlVgRhf2SJjUCaUdtQsVJNyU+oqu7XmlRGdrKqi51H0qv8ADWv+gP2yYiNoIE0LdIzDWxAyqpt4nt7Koe72KEdyVvy0dFtp+/b5VD3l2wcTLe/VGi+FT9iFchzWrs8WDiqEcrTB+08RmJ6jW7yPsaEm/Zai204QT1RQswkcqOd2VGqHtpRfBYl/c5UBcomIjmZRlyLdJIg1rZs12UcbcOdrCVQ86Obq7QjgkdMSCcPiIzBNbigYgrIO0owDUIQJfHg/hrgcWR8OlTdtbIOFlMUoJIAIZSMsit8LobcDQ5VuQFUkk2A4kk8AAONVbIi8+zbciXabNI79Hh42CuV+N2IzFE7NOLHhcWvy+kY0VUCqAFACqBwAUWA9BVH9jm78uDwNplyPLKZih0KAqqoD32W/+ar1OxA5elIZptt/iNEiAsJDhuzWsJ9oPs9OzWM0QEmFkfKt754CblUa/wAQtcBu6xtcX3DEYlwdPtVX9pWyZsVs2TowzvHIkuRdSwTMHsOdgxNh2VjxMvXJ1X2aZYNxtnz22DLd1OmDI5613XELb4hTNiV7RXX0LFk3PxDQTB0Yo3DStgxOKMiieO12F2A4E8yOw1g2GxwUButa9gbG3qdKtW7e+EgkWG0hBPwx5Szn8q30W/5uVBkxxnHYFyi7iadhdoueTelF8HLIxH4e81W9p4rFieQFIV1BtmZrXUG2gA0v216gOIb4pgo/5aAfNy3yFcWcFFtWdFW1dBHfbCL0qMrklkObW/wkBT53OndSobtdwrKmpyrqSSSxOupOtNVyk29GsFUUiLsdePHkQRe48xR5MZIn+LYfvhT89D86oOA2pJm42B5KLf1ozHJm1P1+5uflRdWiSplgxG35FGhjbwDj53oPid6p/wDhRH/5X+f7OuLkd58f61EkkJ4CjWgOqZ7k3jmPxRqveHdv/AUG3ixJkw0v7WMHITlyuCe67H7V2xBb+n/596B7XhZo2HAW56fKjjXZMpx0UPDoLgMbDtPKrO+GiWPqzITwFm48uFV33dlOqhh4XBqbPLAwH7BVI45XcfIk11sctHPnHexTyhTYn7iokmMWuEoUcAfWuBt3+tC5FpEn3gHlXotcW435c6ioOGl+6ieH2NiJdEhYDtIyj1ahcktstK/Qd2PgumiUzt0uS6JmLMI0W1kXWwFyeFa/7N908PFEuIWOPpXuc1tUAJAVfynTUjj4VmmA2O+HjUOVXS5uco8s1r1sW40qHBwmNlsEAaxuM4+O/Yb3NIZJNttPQxVRRZUW1OxvSEzAcL1GlxZH4T6VjLSBSbHfDg12wyBeFC5se3IH0NRTjZGNgCPE2rHsk7o06Sa2VX2x7j4eTCyY2JVjmis7lAB0qXAbMOBYDUHjyJr5/YJ+98v519P7xokmAxSzNmvA1lv1Q1rrc9ua1Yum7aXuyr5KAB6j7Guhizrrsy+Nt6KX0q2Asx14E2Hyqwbt+8ZgYFMI4F1GXQ8byHrW/TVpw2yI0AOQeNgo/wBQ+gorgYxmBHW14/8A2b7UT5H4i/h/SxYeDlnB4c+N/Hj41LYCPVqH3JOi2/p+8ah44kuTna/7pJI+wpBxTk2xmK1RJxLZ2LGlQ6TGFAMzAfq6zHwC60qnR/hp6K+rdmlE8BibHUmhZ4GpOy/iFaFtFkS54Dzb+Vc5V7ST8qkcj4VGSgBIroeQt4afOhu0oAVNzc2/vWjGK4UFxPCriyUV/IOQ/n617lwytxUE+ANd2qbh/hpiL0A42BG2Qh/Ao8QKkYXd0N8MQP8AlAH8R0o1s/8A3g8as8nLwoJ5GiKCKnht0j+IqvcvWP0AHzo5g9mCMWDSt+qRiPJb2HiKnnl4VJhrPu5Og0kApt3oWNznDduYvb+O9Fdm7CdArwTPFIFtmQ9Hccg4W6uO5lNe4+J8aN7O+Ef3zoHkkvsFxRGixW0YwLyQzDhrDZie0tE4HolRJd6seNGw+H/606n0aL+dWIV4xvwedH8r/CvjRWX3ixzf4GHHjNL9OiFefe8Yx+OFB+h29Czj6V3HGuU/Ggc2y+iR4lgIjd5JJJiFsLkBVJ06qABV8QL0GCE/CoXwF/mftVhxP+7PgPqKEy/CKtPREhsNglY9Y3I/zH1PD5VNUqnYvj1mrns34fKoUHxnzrVrRPTom4vG6aKTrxY2H8IobMXf4iQOYBCjx01PnU2f4fL7VBxXxReNDGixQ4a56oJ71Fh5sePqaaj8XAUqD5Wwup//2Q=="/>
          <p:cNvSpPr>
            <a:spLocks noChangeAspect="1" noChangeArrowheads="1"/>
          </p:cNvSpPr>
          <p:nvPr/>
        </p:nvSpPr>
        <p:spPr bwMode="auto">
          <a:xfrm>
            <a:off x="211015" y="235927"/>
            <a:ext cx="281354" cy="2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AU" altLang="en-US" sz="2215">
              <a:solidFill>
                <a:prstClr val="black"/>
              </a:solidFill>
              <a:latin typeface="Times New Roman" panose="02020603050405020304" pitchFamily="18" charset="0"/>
            </a:endParaRPr>
          </a:p>
        </p:txBody>
      </p:sp>
      <p:sp>
        <p:nvSpPr>
          <p:cNvPr id="16390" name="AutoShape 6" descr="data:image/jpeg;base64,/9j/4AAQSkZJRgABAQAAAQABAAD/2wCEAAkGBxQSEhUUEhQUFRUXFBwVFhcVGBYXFxQaFRcWFxUYFxgYHCghGB0lHRUWITEhJSkrLi4uFyAzODMsNygtLisBCgoKDg0OGxAQGzQmICQsLCwsLCwsLywsLCwsLCwsLCwsLCwsLCwsLCwsLCwsLCwsLCwsLCwsLCwsLCwsLCwsLP/AABEIALkAyAMBIgACEQEDEQH/xAAcAAABBQEBAQAAAAAAAAAAAAAFAAEEBgcDAgj/xABEEAACAQIDBAcGAwYDBwUAAAABAgMAEQQSIQUGMUETIlFhcYGRBxQyobHBQlJyI2KS0eHwQ4KiFTNTY5OywiQ0g+Lx/8QAGQEAAgMBAAAAAAAAAAAAAAAAAgQAAQMF/8QAJBEAAgICAgIDAQEBAQAAAAAAAAECEQMhBBIiMRNBUTKBYSP/2gAMAwEAAhEDEQA/AMmp6anoR4VXrcj2cPjY+nmkMEH4CFDPLyJAJsqjtN7ngOdA9zN1n2jM0SSJHlTOzOCbDMFFlBFzc9tbdu/gDg8ImGaUSlL2cIY9CxYCxY8L28qwz5ekdewJNt0jGt8Nz5dnlSzCWFzlSVVy9YC5V0JOVrXPEggcarlb5vDsKLHxJFM8qKsnSjoslycpUXLgiwzHlzrGd6ti+5Yp4M/SBQrK2XKSHAYXFzry48u+h4+b5FT9hJ/QJtSpU9MBCpU1OKhBUqVIVRBUqenqyDU9KlU2QY01PSqEGpUqVUQRpjSpURBqVNSqFCp6anqiHOnrnmr1mqyrNI9hjgY2YE2LYayj81pFJt22GtafiF6xr552DsmbFzpFhw3SEghluOiFxeQsOAW9/pxr6a/2YBGirYBVC6k3OUAd55Uhy4bTQHZKQHJC6sQoHEsQoHmdBWOe03EpJtB2jdHHRxrdGDLcJqLjQ2uK2za2wRicPNAWX9rGyA5SQCR1SfAgV84Y/AyYd2injaKRfiRuV+BHIg9o0NDxI7cv8CUlZwp683p708FY96Veb096hLHpU16RPHUAKBmJ/evaw51aTZUpqK2eqVdsRGoSORGur5hY/Ejx5M6m3EWkUg9h7teUYzaLqbE2HGwFyalNEU4vaYqVI016lhD01K9K9Qg1KlSqIg1KnpVZDzTU5pjVlCpUqVUQjirNuHukdpTPH0oiWNA7m2ZiGbKAq3Fz3k2FVmrJ7Ptt+6Y6KQm0bnopL8AshAB8myn1qpXTr2Ys3HdHcXD7PYvD0rSFSjPI1yQSDbKoCjUDl51aWJPdUJpiNKgYjEntrmTm37IsbYVaPtZvWqzvVuXg8e3SThlkyhekjkysAvAENdG81rji8Y3bUKKdnYKDxNqxWSUXcTT4v1mT78btf7OxAiEomVk6RWAAYAkizgEi+nLjVdz0Z3z2qMVjJZFN0B6OM9qR9UHzNz50ErrwTcVfsGz3nr1EpZhY5bda97ag6a8q5U6m398a0WnYMraoISbZeTIhK2TqpZVDWAFsx5iuMrgP17WYa35kCy/U0NmXW1RGFjWna0K9aLDg8WsQUEqUDF8rWYElVVhbjqFA9K64Z1WUNh1Rxf4DwIYWKvfgbEi/EceVVgDWjGBOWNnubkhF7ri5Ppep2J1tkvafRrKywsXQGyuQQWGlgR2jUX52qLeuINODWL2OR0qO16e9cc1PmqqC7HW9KuealmqF9jpT14DU3SDtHqKhLPZFNalelmq7JY1KlT1LKsjgUiL6U4FegtSwKPojcbbHveBhlY3cL0cn647Kx8+q3nRDErVL9hsC+7z/ALYF2lBaHQGMKLCQcyHvx4dQDiDWhYrBt2Vzssak6CjJeiqY+g22Mf7thZ5howTo4/1y9VbeAJPlVlxmzmJ5DxI/nVV9o2ywcLCBKpKyljEOL5lsGB49TUcLdessauasNv6Mhy8hy09Ka1Gxso9lIbKPZXT+RA9GBKVGH2X3VxfZxolkRXRgh+NRp1saJz4XI4LsAOVwTz1uOY8K4bQMd7C/kGF++zcK2jTjYrPUgdzozJEViiv+IM3o2X7GhkeS+oY+Fh8zwqy7UmDYfDjoHRgCY2LAgxXYMCtrkl7G54W76j9Eh/SA9KnKGmtQDAqVPSqiCpxTUqhCVszo+mi6VWePpUDqnxOuYXVbakkchqa+k5MHhY16MYWLIARl6NLWHZpWe+yHc61sdiF1I/8ATqw+Ec5TfmeC91zzrTZsQpNhr/SkeTl3UWRK3s+et/YcPHjpkwqlI1IVk1ASQX6RUB1C8LfLSq9mrXPaxuuJ4/foBeSNbYlRxdBosv6l4HtHhrkJprFJTgmmV60es1KvNKtCycmErumBJ+FWY8lUFmbwA41YVwFqt24W0cPhmkEwyM5GWW17AfhJHwi+t+/WlHmN3GkHvZ/uQcAWld88kkYRlAAVLNmsDxJvoeFW3EYYEaA/OvWFxkTC8cqMO5gw9RXuTEr+cetLzfbbFrldgLE7MYnQH1oZvDumcSI2RssscbKFOXK4LZrX4g/LWrHLiIub/M1Ak2rAmt/78Sawj4uzbtJmWiDkQQeYIII7iDqK9e7irLvVtGGcp0anOCcz8iLaC/PXW9A1jrW2MRdraIjYQVDxgiiGaVlUHhc6tbko4mjBjoFvFu6cSVZXysotY3ykceXA1pjq/J6Knaj4rZT8RipJ3ByhctwANAAe0muWOzvbMVJGmZSWv5ga0SxG7zwoxlWU5RfNE0ZjA7STqD3WoM86jgsnm5H0rqxcevicuSl28jmsOvH0BP2q37KngkjCTM6LGhEbdGoFybhSWYE3PYKqcEhZgqJcsQACzG5JsOYqzYLYWLVgbwxEHiLMykdgF6jnGK8iRjJvxOseCV75eXG4I8xfiO+vLbI7qtUbymNUmleYqSbuFBBYAHgL20GhqNtAFIpHUXZUZhftApCWTyqLH4xfW5LZU8XgFjF2v3AAkm3HQcqhQRq7ZRmB5ZgQCezxrxi9r9IRnAfLoOroe/4uPOumFaIFWyukisGy9axsQQdSdPOnYw1tiks29ejo2z2otufu371ikjkv0QvJJ3qtur5kgeF6iSbX70U20BUsDw8x3HuNFN3N8vdJGfoUlzJkIztHbUG4OVuys5QyVoP5IM3jDQmQfljGgA0vbh4D+VSLqvAAeH961kj+2KYCy4SFR+9M5+iirDu1vwmOU2XK6gF1BJAvpzANr89fEc0J8aUI9mi1kUnRc1ZCdQOy9uR0IYcweYr52342EMDjZoF+AEPHc3IRxdRc8bajvy3rbBtDX5VQ/adAs+MB/EsCI57xnax8Ay+tTiTUZNByg7RmNqVGn2RSp/uiurLm7LXFmFMYTXggjlXOGydsJR71BpxlX5mtOx2DGXhyrLthufeoNP8AGT/uFa/jF6tSS0Y5JNSRQMWlpBx4j61B24yjEzDslaje0ouvVd3lwbHFznkZL+oFZY0rZonsi4nHpGLkMbkABRckm58uB1oNPvfGI3ZI3LK6rlYhPjDm/M26h5cxXLfLClcKTrpIvlxqnwSWuSQxOtyL29a6HHwQnG2L5884SpFhO/78sOnm7n6WrpBvtK5/9vGfAyfc2qoz4kn8v8Iplx0g4NbwAFMLBiX0YPPk/S4bU3ozxSxSQlC8ZVWBvcm1tCOHmaq+OhIjQkGx0BsQGt2d+o0764+8O3xNc9p4+tTtozFsJBcknpZjcm+n7EAfKjjCMLUTOU5SpyB+yWtNGf8AmJ/3itcnXrt+pvqax/CPZ1PYwPowrZ8bHaR/1t9TS3J/lDHG/pnBQK47Ut0E1v8AhP8A9tSFSnkwmdWRuDKVJHIEEXHhe/lSaqxx3RRsVseOSQhcyktoR3nmD5UA2iHjcKxByjqkcCp4Ec+zj2V3bFT4Z3jLElC0ZBuR1TlJUnhwHlQuVyxJJuTzrsykmtHISa9nt8Sx4mvSZ+PDvNcCKP7p7ry49yE6qKRnlYEql+AsPiY9g8TWbklthJXoBtISdTWt+znd4CH3hJRI0ihG0CiPKcxX95rga93fRHD+yfAhbNLiGb8wkjT/AE5D9aO7E3VhwsQiiZbXJLGys5PNgDxA0pHkciMsbUWMYoNStkrB7PChmklSIgdV3sVVuRNyL+FUQxlus1yW1JJuSTqb1p2G2XC8bRSkMGK6AkG6k2II151SNvbHaCV1AfJm6jOLZh6a0pgrqMKXlQDOFFKpDoRSpiwqO5lFc3kHZXHozSFYh2yfsVQcTBYf4q/WtZxa9Wsv3UizYuHuYt/CDWqYsdWi+mL5X5Ipu1E61C94ZAuJe/PKfVAaObUTWgu92HJlifk8Ceq3U/asILbNYvyRXN4sH7zh3iQqGOVhmNhdTcAm2nOswmwzwu0cq5XU6i4Nri41UkVrC4Y1RN+kPvSrfjEvZpxHGuhxJvt0MeVBV2KpLXO1SsWluZ86i06xI7wIW0UEmx0Hdcn5Cp+1IysGHU/lLf8AUN/oK87GhDdPflhnYdxGXh61O3rhyiMflRR/pFFFabI3tFeUcfA1tm1JD0rDvv8AxAN96xbDi5t2qR8tK2raCZxBKL2lwsT+eTI3zWleQvCxjjvzo5YRXdgiKWZjZVHEn++dXvZ25gy3nck/ljsAP8xBv5VC9nOAAMsx43EaX5CwZz53UeVXyU2FJdU1ZrlytOkZvvN7IsLimaSKSSGZuNz0kbEAC5B1HDkawveXd+fAzmDEplcagjVXHJkPMGvqqfE2NUT2zbMXE7NaYj9phnVlbnkchZFPdwbxUVvx+RcujMJQdWfPzWt2f33Vt+4OPihwcUcYDrYsXW12Zjd79hB0seSisObn60X3Y2ycO9urkY6lg11PaCrAjlr3U3kgpqmZqTjtH0GNtxH8LegP0pl2rhyeGv6TVb2HjVkNiUzHUFbhX48iSVYcxc35dlSui61cvPicPY3inGfosU23IMOVLqQWGZbLe4uRfTvBoTvHvmk8RiSLjbrOfhsb3Ve2uG82DzDDk/8ACYejg/8AlQI4Gqx1Fa+zRY09shvKTSqYcKaVHZpRIIHOuMmQcaFtKx4mpOysEZ5kiBsWNrnkBqfkKBRCbLb7PsMrzu4GiLlv3v8A0Hzq/YoaUN3f2SmETIl7E5iTqWPabeFEcQ4I0rRNKLQlkl2nZWtpJUXakXSYRH5wuQf0yf1AorjMOW5VzwkGVXRwrK65SpNr+fKsF7NW6plOvWbb8a7QA/5aD6mtH3i2b7tIuRiUcFlGYMRY2IuOPGsx2+5faJ5kBR/p/rTnDj/6FcmSeOwHtQWJ8aHiim2lsT9vKhYroz9iK9BzdqPM8y9uGkHyB+1Sd7G4d5vao+6GuLVfzxyJ5tE+X/VaoeJxbSW6QqSAPxAcRVxdRaKa3ZAQ6itp3TxazbKja13w0rRScT1JOsjHzFvOsfQRg9a3kxP0qzbE3jgw6Og6YB/i6I6m3C4k6voL1nLGpxcWw4zcJKSRtO420Qekj4EESAdoIyt6EL61aMRitKoe5+w1lczRTSZYyLA5ekbMoLZhwym5Fra27avGIwp5Vyclw0Ntwk7BONxVUr2rbaEWzmiv18Q4RRzyxkNIx7h1V/zVeZNlsTra3jVE9sO5ymH30TkNGETo3IKFSbWjsAQbm9tb691BxY9sqbLzSShSMYMd1Pct/SmwcObSparoVHNCPpXTBQZdTwPDxFd2tiF6O+xdqlLxuWtfkSCCNAVPJhyNbLszaSYpBNGwJY9cDQq9+tdfwgnMRyOtrgVhGOQhmYcySD5mt+2Nu4mGVXj+HERxSKONgEFx6uT50ry0vjd/Rrh1OydvBDfDwv8AlkZP41Vh80+dV4tV2OzzNh5IgQG0ZSeGZTw8xpVMxmzpI2KOtmHL6EdvCudFXFMehL2jgZKVeGRuylRpIK2RJNln8Jojuvs9xiojb4SSfCxB+teoWzsEXrMeAHz8BV62HsoQjXVj8R+w7qBNlTkooMI5FRcTiDU1WqPiIwaKXr2JxavZXsfj3HA1W8bj5WNrmrhisGDQ2TZy1g4sZTS+gPjcA3QwyN8JzAns1vr2VjuDnE+PeTkzkjwGg+Va/v8AbYGE2fIB8Up6KMdhYddu6y8+1hWQbnw/tc3dXU4OPfYU5GS40QtvrZj4mg4qxbyC7HxNV4LTmReRjD0EdgY0QYrDzN8McyO36VcFh36Xrzt/ZZw2ImgNz0Urx3PEhGIVvMAHzqERVy3rVZ0wuNUXE8Ijl7p8MFSQHXiyZGHbr30ARSiprpho7miLRjsrvho1FX1KbNeKplgnwrsmaJVOUlWV00YadvGrpsCaZ8OrSSszdbU21AYgcAOysm3Z2rCU6GR7ZuHKxF9RWx7uQlcLGCcxyXLcL5iTf50jycPV3+m2PPcerW0BttYuVYp2VyGSF3UgA2KqSpsdDrWCbQ2xNiwrzSSykD8ZJCntUCwHPgBX0JtaDPFOoFy2HlAHaTG1vnXyuBQ8BJKTa+ws/tBVL3vblyt96aWcC1we4XH2NCyKSiuhYvROzdIwAFvEn7C/oK3fdfESRYaGORukZY1AOVlsNSFyk6WBtyvbhWSbg7PafFJGguWPy7zyFbmkK3OnO3hblSXLk+tG2Krsn4baUnLSh29quJUZ9Q0YyntsTcfP50VwsQo0cPHNHkkAI5doPaDyNJY03abNnJRadGaUqlbawBw8zRk3AAIPaDwv36GlVtU6YynatHH2XZWecsAJBlCg8cpuSR5j5VpKpWd+zqIIZlfLmLKVI4kAHQ3q/KG/CaJi2ZbO5S1cnrnM8lD8RJJ+WhlVgRhf2SJjUCaUdtQsVJNyU+oqu7XmlRGdrKqi51H0qv8ADWv+gP2yYiNoIE0LdIzDWxAyqpt4nt7Koe72KEdyVvy0dFtp+/b5VD3l2wcTLe/VGi+FT9iFchzWrs8WDiqEcrTB+08RmJ6jW7yPsaEm/Zai204QT1RQswkcqOd2VGqHtpRfBYl/c5UBcomIjmZRlyLdJIg1rZs12UcbcOdrCVQ86Obq7QjgkdMSCcPiIzBNbigYgrIO0owDUIQJfHg/hrgcWR8OlTdtbIOFlMUoJIAIZSMsit8LobcDQ5VuQFUkk2A4kk8AAONVbIi8+zbciXabNI79Hh42CuV+N2IzFE7NOLHhcWvy+kY0VUCqAFACqBwAUWA9BVH9jm78uDwNplyPLKZih0KAqqoD32W/+ar1OxA5elIZptt/iNEiAsJDhuzWsJ9oPs9OzWM0QEmFkfKt754CblUa/wAQtcBu6xtcX3DEYlwdPtVX9pWyZsVs2TowzvHIkuRdSwTMHsOdgxNh2VjxMvXJ1X2aZYNxtnz22DLd1OmDI5613XELb4hTNiV7RXX0LFk3PxDQTB0Yo3DStgxOKMiieO12F2A4E8yOw1g2GxwUButa9gbG3qdKtW7e+EgkWG0hBPwx5Szn8q30W/5uVBkxxnHYFyi7iadhdoueTelF8HLIxH4e81W9p4rFieQFIV1BtmZrXUG2gA0v216gOIb4pgo/5aAfNy3yFcWcFFtWdFW1dBHfbCL0qMrklkObW/wkBT53OndSobtdwrKmpyrqSSSxOupOtNVyk29GsFUUiLsdePHkQRe48xR5MZIn+LYfvhT89D86oOA2pJm42B5KLf1ozHJm1P1+5uflRdWiSplgxG35FGhjbwDj53oPid6p/wDhRH/5X+f7OuLkd58f61EkkJ4CjWgOqZ7k3jmPxRqveHdv/AUG3ixJkw0v7WMHITlyuCe67H7V2xBb+n/596B7XhZo2HAW56fKjjXZMpx0UPDoLgMbDtPKrO+GiWPqzITwFm48uFV33dlOqhh4XBqbPLAwH7BVI45XcfIk11sctHPnHexTyhTYn7iokmMWuEoUcAfWuBt3+tC5FpEn3gHlXotcW435c6ioOGl+6ieH2NiJdEhYDtIyj1ahcktstK/Qd2PgumiUzt0uS6JmLMI0W1kXWwFyeFa/7N908PFEuIWOPpXuc1tUAJAVfynTUjj4VmmA2O+HjUOVXS5uco8s1r1sW40qHBwmNlsEAaxuM4+O/Yb3NIZJNttPQxVRRZUW1OxvSEzAcL1GlxZH4T6VjLSBSbHfDg12wyBeFC5se3IH0NRTjZGNgCPE2rHsk7o06Sa2VX2x7j4eTCyY2JVjmis7lAB0qXAbMOBYDUHjyJr5/YJ+98v519P7xokmAxSzNmvA1lv1Q1rrc9ua1Yum7aXuyr5KAB6j7Guhizrrsy+Nt6KX0q2Asx14E2Hyqwbt+8ZgYFMI4F1GXQ8byHrW/TVpw2yI0AOQeNgo/wBQ+gorgYxmBHW14/8A2b7UT5H4i/h/SxYeDlnB4c+N/Hj41LYCPVqH3JOi2/p+8ah44kuTna/7pJI+wpBxTk2xmK1RJxLZ2LGlQ6TGFAMzAfq6zHwC60qnR/hp6K+rdmlE8BibHUmhZ4GpOy/iFaFtFkS54Dzb+Vc5V7ST8qkcj4VGSgBIroeQt4afOhu0oAVNzc2/vWjGK4UFxPCriyUV/IOQ/n617lwytxUE+ANd2qbh/hpiL0A42BG2Qh/Ao8QKkYXd0N8MQP8AlAH8R0o1s/8A3g8as8nLwoJ5GiKCKnht0j+IqvcvWP0AHzo5g9mCMWDSt+qRiPJb2HiKnnl4VJhrPu5Og0kApt3oWNznDduYvb+O9Fdm7CdArwTPFIFtmQ9Hccg4W6uO5lNe4+J8aN7O+Ef3zoHkkvsFxRGixW0YwLyQzDhrDZie0tE4HolRJd6seNGw+H/606n0aL+dWIV4xvwedH8r/CvjRWX3ixzf4GHHjNL9OiFefe8Yx+OFB+h29Czj6V3HGuU/Ggc2y+iR4lgIjd5JJJiFsLkBVJ06qABV8QL0GCE/CoXwF/mftVhxP+7PgPqKEy/CKtPREhsNglY9Y3I/zH1PD5VNUqnYvj1mrns34fKoUHxnzrVrRPTom4vG6aKTrxY2H8IobMXf4iQOYBCjx01PnU2f4fL7VBxXxReNDGixQ4a56oJ71Fh5sePqaaj8XAUqD5Wwup//2Q=="/>
          <p:cNvSpPr>
            <a:spLocks noChangeAspect="1" noChangeArrowheads="1"/>
          </p:cNvSpPr>
          <p:nvPr/>
        </p:nvSpPr>
        <p:spPr bwMode="auto">
          <a:xfrm>
            <a:off x="351692" y="376604"/>
            <a:ext cx="281354" cy="28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AU" altLang="en-US" sz="2215">
              <a:solidFill>
                <a:prstClr val="black"/>
              </a:solidFill>
              <a:latin typeface="Times New Roman" panose="02020603050405020304" pitchFamily="18" charset="0"/>
            </a:endParaRPr>
          </a:p>
        </p:txBody>
      </p:sp>
      <p:pic>
        <p:nvPicPr>
          <p:cNvPr id="66582" name="Picture 22" descr="https://upload.wikimedia.org/wikipedia/commons/thumb/6/6f/ChessSet.jpg/250px-ChessSet.jpg"/>
          <p:cNvPicPr>
            <a:picLocks noChangeAspect="1" noChangeArrowheads="1"/>
          </p:cNvPicPr>
          <p:nvPr/>
        </p:nvPicPr>
        <p:blipFill>
          <a:blip r:embed="rId3"/>
          <a:srcRect/>
          <a:stretch>
            <a:fillRect/>
          </a:stretch>
        </p:blipFill>
        <p:spPr bwMode="auto">
          <a:xfrm>
            <a:off x="2498482" y="1978269"/>
            <a:ext cx="3746988" cy="34773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6392" name="AutoShape 8" descr="data:image/jpeg;base64,/9j/4AAQSkZJRgABAQAAAQABAAD/2wCEAAkGBxQSEhUUEhQUFRUXFBwVFhcVGBYXFxQaFRcWFxUYFxgYHCghGB0lHRUWITEhJSkrLi4uFyAzODMsNygtLisBCgoKDg0OGxAQGzQmICQsLCwsLCwsLywsLCwsLCwsLCwsLCwsLCwsLCwsLCwsLCwsLCwsLCwsLCwsLCwsLCwsLP/AABEIALkAyAMBIgACEQEDEQH/xAAcAAABBQEBAQAAAAAAAAAAAAAFAAEEBgcDAgj/xABEEAACAQIDBAcGAwYDBwUAAAABAgMAEQQSIQUGMUETIlFhcYGRBxQyobHBQlJyI2KS0eHwQ4KiFTNTY5OywiQ0g+Lx/8QAGQEAAgMBAAAAAAAAAAAAAAAAAgQAAQMF/8QAJBEAAgICAgIDAQEBAQAAAAAAAAECEQMhBBIiMRNBUTKBYSP/2gAMAwEAAhEDEQA/AMmp6anoR4VXrcj2cPjY+nmkMEH4CFDPLyJAJsqjtN7ngOdA9zN1n2jM0SSJHlTOzOCbDMFFlBFzc9tbdu/gDg8ImGaUSlL2cIY9CxYCxY8L28qwz5ekdewJNt0jGt8Nz5dnlSzCWFzlSVVy9YC5V0JOVrXPEggcarlb5vDsKLHxJFM8qKsnSjoslycpUXLgiwzHlzrGd6ti+5Yp4M/SBQrK2XKSHAYXFzry48u+h4+b5FT9hJ/QJtSpU9MBCpU1OKhBUqVIVRBUqenqyDU9KlU2QY01PSqEGpUqVUQRpjSpURBqVNSqFCp6anqiHOnrnmr1mqyrNI9hjgY2YE2LYayj81pFJt22GtafiF6xr552DsmbFzpFhw3SEghluOiFxeQsOAW9/pxr6a/2YBGirYBVC6k3OUAd55Uhy4bTQHZKQHJC6sQoHEsQoHmdBWOe03EpJtB2jdHHRxrdGDLcJqLjQ2uK2za2wRicPNAWX9rGyA5SQCR1SfAgV84Y/AyYd2injaKRfiRuV+BHIg9o0NDxI7cv8CUlZwp683p708FY96Veb096hLHpU16RPHUAKBmJ/evaw51aTZUpqK2eqVdsRGoSORGur5hY/Ejx5M6m3EWkUg9h7teUYzaLqbE2HGwFyalNEU4vaYqVI016lhD01K9K9Qg1KlSqIg1KnpVZDzTU5pjVlCpUqVUQjirNuHukdpTPH0oiWNA7m2ZiGbKAq3Fz3k2FVmrJ7Ptt+6Y6KQm0bnopL8AshAB8myn1qpXTr2Ys3HdHcXD7PYvD0rSFSjPI1yQSDbKoCjUDl51aWJPdUJpiNKgYjEntrmTm37IsbYVaPtZvWqzvVuXg8e3SThlkyhekjkysAvAENdG81rji8Y3bUKKdnYKDxNqxWSUXcTT4v1mT78btf7OxAiEomVk6RWAAYAkizgEi+nLjVdz0Z3z2qMVjJZFN0B6OM9qR9UHzNz50ErrwTcVfsGz3nr1EpZhY5bda97ag6a8q5U6m398a0WnYMraoISbZeTIhK2TqpZVDWAFsx5iuMrgP17WYa35kCy/U0NmXW1RGFjWna0K9aLDg8WsQUEqUDF8rWYElVVhbjqFA9K64Z1WUNh1Rxf4DwIYWKvfgbEi/EceVVgDWjGBOWNnubkhF7ri5Ppep2J1tkvafRrKywsXQGyuQQWGlgR2jUX52qLeuINODWL2OR0qO16e9cc1PmqqC7HW9KuealmqF9jpT14DU3SDtHqKhLPZFNalelmq7JY1KlT1LKsjgUiL6U4FegtSwKPojcbbHveBhlY3cL0cn647Kx8+q3nRDErVL9hsC+7z/ALYF2lBaHQGMKLCQcyHvx4dQDiDWhYrBt2Vzssak6CjJeiqY+g22Mf7thZ5howTo4/1y9VbeAJPlVlxmzmJ5DxI/nVV9o2ywcLCBKpKyljEOL5lsGB49TUcLdessauasNv6Mhy8hy09Ka1Gxso9lIbKPZXT+RA9GBKVGH2X3VxfZxolkRXRgh+NRp1saJz4XI4LsAOVwTz1uOY8K4bQMd7C/kGF++zcK2jTjYrPUgdzozJEViiv+IM3o2X7GhkeS+oY+Fh8zwqy7UmDYfDjoHRgCY2LAgxXYMCtrkl7G54W76j9Eh/SA9KnKGmtQDAqVPSqiCpxTUqhCVszo+mi6VWePpUDqnxOuYXVbakkchqa+k5MHhY16MYWLIARl6NLWHZpWe+yHc61sdiF1I/8ATqw+Ec5TfmeC91zzrTZsQpNhr/SkeTl3UWRK3s+et/YcPHjpkwqlI1IVk1ASQX6RUB1C8LfLSq9mrXPaxuuJ4/foBeSNbYlRxdBosv6l4HtHhrkJprFJTgmmV60es1KvNKtCycmErumBJ+FWY8lUFmbwA41YVwFqt24W0cPhmkEwyM5GWW17AfhJHwi+t+/WlHmN3GkHvZ/uQcAWld88kkYRlAAVLNmsDxJvoeFW3EYYEaA/OvWFxkTC8cqMO5gw9RXuTEr+cetLzfbbFrldgLE7MYnQH1oZvDumcSI2RssscbKFOXK4LZrX4g/LWrHLiIub/M1Ak2rAmt/78Sawj4uzbtJmWiDkQQeYIII7iDqK9e7irLvVtGGcp0anOCcz8iLaC/PXW9A1jrW2MRdraIjYQVDxgiiGaVlUHhc6tbko4mjBjoFvFu6cSVZXysotY3ykceXA1pjq/J6Knaj4rZT8RipJ3ByhctwANAAe0muWOzvbMVJGmZSWv5ga0SxG7zwoxlWU5RfNE0ZjA7STqD3WoM86jgsnm5H0rqxcevicuSl28jmsOvH0BP2q37KngkjCTM6LGhEbdGoFybhSWYE3PYKqcEhZgqJcsQACzG5JsOYqzYLYWLVgbwxEHiLMykdgF6jnGK8iRjJvxOseCV75eXG4I8xfiO+vLbI7qtUbymNUmleYqSbuFBBYAHgL20GhqNtAFIpHUXZUZhftApCWTyqLH4xfW5LZU8XgFjF2v3AAkm3HQcqhQRq7ZRmB5ZgQCezxrxi9r9IRnAfLoOroe/4uPOumFaIFWyukisGy9axsQQdSdPOnYw1tiks29ejo2z2otufu371ikjkv0QvJJ3qtur5kgeF6iSbX70U20BUsDw8x3HuNFN3N8vdJGfoUlzJkIztHbUG4OVuys5QyVoP5IM3jDQmQfljGgA0vbh4D+VSLqvAAeH961kj+2KYCy4SFR+9M5+iirDu1vwmOU2XK6gF1BJAvpzANr89fEc0J8aUI9mi1kUnRc1ZCdQOy9uR0IYcweYr52342EMDjZoF+AEPHc3IRxdRc8bajvy3rbBtDX5VQ/adAs+MB/EsCI57xnax8Ay+tTiTUZNByg7RmNqVGn2RSp/uiurLm7LXFmFMYTXggjlXOGydsJR71BpxlX5mtOx2DGXhyrLthufeoNP8AGT/uFa/jF6tSS0Y5JNSRQMWlpBx4j61B24yjEzDslaje0ouvVd3lwbHFznkZL+oFZY0rZonsi4nHpGLkMbkABRckm58uB1oNPvfGI3ZI3LK6rlYhPjDm/M26h5cxXLfLClcKTrpIvlxqnwSWuSQxOtyL29a6HHwQnG2L5884SpFhO/78sOnm7n6WrpBvtK5/9vGfAyfc2qoz4kn8v8Iplx0g4NbwAFMLBiX0YPPk/S4bU3ozxSxSQlC8ZVWBvcm1tCOHmaq+OhIjQkGx0BsQGt2d+o0764+8O3xNc9p4+tTtozFsJBcknpZjcm+n7EAfKjjCMLUTOU5SpyB+yWtNGf8AmJ/3itcnXrt+pvqax/CPZ1PYwPowrZ8bHaR/1t9TS3J/lDHG/pnBQK47Ut0E1v8AhP8A9tSFSnkwmdWRuDKVJHIEEXHhe/lSaqxx3RRsVseOSQhcyktoR3nmD5UA2iHjcKxByjqkcCp4Ec+zj2V3bFT4Z3jLElC0ZBuR1TlJUnhwHlQuVyxJJuTzrsykmtHISa9nt8Sx4mvSZ+PDvNcCKP7p7ry49yE6qKRnlYEql+AsPiY9g8TWbklthJXoBtISdTWt+znd4CH3hJRI0ihG0CiPKcxX95rga93fRHD+yfAhbNLiGb8wkjT/AE5D9aO7E3VhwsQiiZbXJLGys5PNgDxA0pHkciMsbUWMYoNStkrB7PChmklSIgdV3sVVuRNyL+FUQxlus1yW1JJuSTqb1p2G2XC8bRSkMGK6AkG6k2II151SNvbHaCV1AfJm6jOLZh6a0pgrqMKXlQDOFFKpDoRSpiwqO5lFc3kHZXHozSFYh2yfsVQcTBYf4q/WtZxa9Wsv3UizYuHuYt/CDWqYsdWi+mL5X5Ipu1E61C94ZAuJe/PKfVAaObUTWgu92HJlifk8Ceq3U/asILbNYvyRXN4sH7zh3iQqGOVhmNhdTcAm2nOswmwzwu0cq5XU6i4Nri41UkVrC4Y1RN+kPvSrfjEvZpxHGuhxJvt0MeVBV2KpLXO1SsWluZ86i06xI7wIW0UEmx0Hdcn5Cp+1IysGHU/lLf8AUN/oK87GhDdPflhnYdxGXh61O3rhyiMflRR/pFFFabI3tFeUcfA1tm1JD0rDvv8AxAN96xbDi5t2qR8tK2raCZxBKL2lwsT+eTI3zWleQvCxjjvzo5YRXdgiKWZjZVHEn++dXvZ25gy3nck/ljsAP8xBv5VC9nOAAMsx43EaX5CwZz53UeVXyU2FJdU1ZrlytOkZvvN7IsLimaSKSSGZuNz0kbEAC5B1HDkawveXd+fAzmDEplcagjVXHJkPMGvqqfE2NUT2zbMXE7NaYj9phnVlbnkchZFPdwbxUVvx+RcujMJQdWfPzWt2f33Vt+4OPihwcUcYDrYsXW12Zjd79hB0seSisObn60X3Y2ycO9urkY6lg11PaCrAjlr3U3kgpqmZqTjtH0GNtxH8LegP0pl2rhyeGv6TVb2HjVkNiUzHUFbhX48iSVYcxc35dlSui61cvPicPY3inGfosU23IMOVLqQWGZbLe4uRfTvBoTvHvmk8RiSLjbrOfhsb3Ve2uG82DzDDk/8ACYejg/8AlQI4Gqx1Fa+zRY09shvKTSqYcKaVHZpRIIHOuMmQcaFtKx4mpOysEZ5kiBsWNrnkBqfkKBRCbLb7PsMrzu4GiLlv3v8A0Hzq/YoaUN3f2SmETIl7E5iTqWPabeFEcQ4I0rRNKLQlkl2nZWtpJUXakXSYRH5wuQf0yf1AorjMOW5VzwkGVXRwrK65SpNr+fKsF7NW6plOvWbb8a7QA/5aD6mtH3i2b7tIuRiUcFlGYMRY2IuOPGsx2+5faJ5kBR/p/rTnDj/6FcmSeOwHtQWJ8aHiim2lsT9vKhYroz9iK9BzdqPM8y9uGkHyB+1Sd7G4d5vao+6GuLVfzxyJ5tE+X/VaoeJxbSW6QqSAPxAcRVxdRaKa3ZAQ6itp3TxazbKja13w0rRScT1JOsjHzFvOsfQRg9a3kxP0qzbE3jgw6Og6YB/i6I6m3C4k6voL1nLGpxcWw4zcJKSRtO420Qekj4EESAdoIyt6EL61aMRitKoe5+w1lczRTSZYyLA5ekbMoLZhwym5Fra27avGIwp5Vyclw0Ntwk7BONxVUr2rbaEWzmiv18Q4RRzyxkNIx7h1V/zVeZNlsTra3jVE9sO5ymH30TkNGETo3IKFSbWjsAQbm9tb691BxY9sqbLzSShSMYMd1Pct/SmwcObSparoVHNCPpXTBQZdTwPDxFd2tiF6O+xdqlLxuWtfkSCCNAVPJhyNbLszaSYpBNGwJY9cDQq9+tdfwgnMRyOtrgVhGOQhmYcySD5mt+2Nu4mGVXj+HERxSKONgEFx6uT50ry0vjd/Rrh1OydvBDfDwv8AlkZP41Vh80+dV4tV2OzzNh5IgQG0ZSeGZTw8xpVMxmzpI2KOtmHL6EdvCudFXFMehL2jgZKVeGRuylRpIK2RJNln8Jojuvs9xiojb4SSfCxB+teoWzsEXrMeAHz8BV62HsoQjXVj8R+w7qBNlTkooMI5FRcTiDU1WqPiIwaKXr2JxavZXsfj3HA1W8bj5WNrmrhisGDQ2TZy1g4sZTS+gPjcA3QwyN8JzAns1vr2VjuDnE+PeTkzkjwGg+Va/v8AbYGE2fIB8Up6KMdhYddu6y8+1hWQbnw/tc3dXU4OPfYU5GS40QtvrZj4mg4qxbyC7HxNV4LTmReRjD0EdgY0QYrDzN8McyO36VcFh36Xrzt/ZZw2ImgNz0Urx3PEhGIVvMAHzqERVy3rVZ0wuNUXE8Ijl7p8MFSQHXiyZGHbr30ARSiprpho7miLRjsrvho1FX1KbNeKplgnwrsmaJVOUlWV00YadvGrpsCaZ8OrSSszdbU21AYgcAOysm3Z2rCU6GR7ZuHKxF9RWx7uQlcLGCcxyXLcL5iTf50jycPV3+m2PPcerW0BttYuVYp2VyGSF3UgA2KqSpsdDrWCbQ2xNiwrzSSykD8ZJCntUCwHPgBX0JtaDPFOoFy2HlAHaTG1vnXyuBQ8BJKTa+ws/tBVL3vblyt96aWcC1we4XH2NCyKSiuhYvROzdIwAFvEn7C/oK3fdfESRYaGORukZY1AOVlsNSFyk6WBtyvbhWSbg7PafFJGguWPy7zyFbmkK3OnO3hblSXLk+tG2Krsn4baUnLSh29quJUZ9Q0YyntsTcfP50VwsQo0cPHNHkkAI5doPaDyNJY03abNnJRadGaUqlbawBw8zRk3AAIPaDwv36GlVtU6YynatHH2XZWecsAJBlCg8cpuSR5j5VpKpWd+zqIIZlfLmLKVI4kAHQ3q/KG/CaJi2ZbO5S1cnrnM8lD8RJJ+WhlVgRhf2SJjUCaUdtQsVJNyU+oqu7XmlRGdrKqi51H0qv8ADWv+gP2yYiNoIE0LdIzDWxAyqpt4nt7Koe72KEdyVvy0dFtp+/b5VD3l2wcTLe/VGi+FT9iFchzWrs8WDiqEcrTB+08RmJ6jW7yPsaEm/Zai204QT1RQswkcqOd2VGqHtpRfBYl/c5UBcomIjmZRlyLdJIg1rZs12UcbcOdrCVQ86Obq7QjgkdMSCcPiIzBNbigYgrIO0owDUIQJfHg/hrgcWR8OlTdtbIOFlMUoJIAIZSMsit8LobcDQ5VuQFUkk2A4kk8AAONVbIi8+zbciXabNI79Hh42CuV+N2IzFE7NOLHhcWvy+kY0VUCqAFACqBwAUWA9BVH9jm78uDwNplyPLKZih0KAqqoD32W/+ar1OxA5elIZptt/iNEiAsJDhuzWsJ9oPs9OzWM0QEmFkfKt754CblUa/wAQtcBu6xtcX3DEYlwdPtVX9pWyZsVs2TowzvHIkuRdSwTMHsOdgxNh2VjxMvXJ1X2aZYNxtnz22DLd1OmDI5613XELb4hTNiV7RXX0LFk3PxDQTB0Yo3DStgxOKMiieO12F2A4E8yOw1g2GxwUButa9gbG3qdKtW7e+EgkWG0hBPwx5Szn8q30W/5uVBkxxnHYFyi7iadhdoueTelF8HLIxH4e81W9p4rFieQFIV1BtmZrXUG2gA0v216gOIb4pgo/5aAfNy3yFcWcFFtWdFW1dBHfbCL0qMrklkObW/wkBT53OndSobtdwrKmpyrqSSSxOupOtNVyk29GsFUUiLsdePHkQRe48xR5MZIn+LYfvhT89D86oOA2pJm42B5KLf1ozHJm1P1+5uflRdWiSplgxG35FGhjbwDj53oPid6p/wDhRH/5X+f7OuLkd58f61EkkJ4CjWgOqZ7k3jmPxRqveHdv/AUG3ixJkw0v7WMHITlyuCe67H7V2xBb+n/596B7XhZo2HAW56fKjjXZMpx0UPDoLgMbDtPKrO+GiWPqzITwFm48uFV33dlOqhh4XBqbPLAwH7BVI45XcfIk11sctHPnHexTyhTYn7iokmMWuEoUcAfWuBt3+tC5FpEn3gHlXotcW435c6ioOGl+6ieH2NiJdEhYDtIyj1ahcktstK/Qd2PgumiUzt0uS6JmLMI0W1kXWwFyeFa/7N908PFEuIWOPpXuc1tUAJAVfynTUjj4VmmA2O+HjUOVXS5uco8s1r1sW40qHBwmNlsEAaxuM4+O/Yb3NIZJNttPQxVRRZUW1OxvSEzAcL1GlxZH4T6VjLSBSbHfDg12wyBeFC5se3IH0NRTjZGNgCPE2rHsk7o06Sa2VX2x7j4eTCyY2JVjmis7lAB0qXAbMOBYDUHjyJr5/YJ+98v519P7xokmAxSzNmvA1lv1Q1rrc9ua1Yum7aXuyr5KAB6j7Guhizrrsy+Nt6KX0q2Asx14E2Hyqwbt+8ZgYFMI4F1GXQ8byHrW/TVpw2yI0AOQeNgo/wBQ+gorgYxmBHW14/8A2b7UT5H4i/h/SxYeDlnB4c+N/Hj41LYCPVqH3JOi2/p+8ah44kuTna/7pJI+wpBxTk2xmK1RJxLZ2LGlQ6TGFAMzAfq6zHwC60qnR/hp6K+rdmlE8BibHUmhZ4GpOy/iFaFtFkS54Dzb+Vc5V7ST8qkcj4VGSgBIroeQt4afOhu0oAVNzc2/vWjGK4UFxPCriyUV/IOQ/n617lwytxUE+ANd2qbh/hpiL0A42BG2Qh/Ao8QKkYXd0N8MQP8AlAH8R0o1s/8A3g8as8nLwoJ5GiKCKnht0j+IqvcvWP0AHzo5g9mCMWDSt+qRiPJb2HiKnnl4VJhrPu5Og0kApt3oWNznDduYvb+O9Fdm7CdArwTPFIFtmQ9Hccg4W6uO5lNe4+J8aN7O+Ef3zoHkkvsFxRGixW0YwLyQzDhrDZie0tE4HolRJd6seNGw+H/606n0aL+dWIV4xvwedH8r/CvjRWX3ixzf4GHHjNL9OiFefe8Yx+OFB+h29Czj6V3HGuU/Ggc2y+iR4lgIjd5JJJiFsLkBVJ06qABV8QL0GCE/CoXwF/mftVhxP+7PgPqKEy/CKtPREhsNglY9Y3I/zH1PD5VNUqnYvj1mrns34fKoUHxnzrVrRPTom4vG6aKTrxY2H8IobMXf4iQOYBCjx01PnU2f4fL7VBxXxReNDGixQ4a56oJ71Fh5sePqaaj8XAUqD5Wwup//2Q=="/>
          <p:cNvSpPr>
            <a:spLocks noChangeAspect="1" noChangeArrowheads="1"/>
          </p:cNvSpPr>
          <p:nvPr/>
        </p:nvSpPr>
        <p:spPr bwMode="auto">
          <a:xfrm>
            <a:off x="492369" y="517281"/>
            <a:ext cx="281354" cy="28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AU" altLang="en-US" sz="2215">
              <a:solidFill>
                <a:prstClr val="black"/>
              </a:solidFill>
              <a:latin typeface="Times New Roman" panose="02020603050405020304" pitchFamily="18" charset="0"/>
            </a:endParaRPr>
          </a:p>
        </p:txBody>
      </p:sp>
      <p:sp>
        <p:nvSpPr>
          <p:cNvPr id="16393" name="AutoShape 10" descr="data:image/jpeg;base64,/9j/4AAQSkZJRgABAQAAAQABAAD/2wCEAAkGBxQSEhUUEhQUFRUXFBwVFhcVGBYXFxQaFRcWFxUYFxgYHCghGB0lHRUWITEhJSkrLi4uFyAzODMsNygtLisBCgoKDg0OGxAQGzQmICQsLCwsLCwsLywsLCwsLCwsLCwsLCwsLCwsLCwsLCwsLCwsLCwsLCwsLCwsLCwsLCwsLP/AABEIALkAyAMBIgACEQEDEQH/xAAcAAABBQEBAQAAAAAAAAAAAAAFAAEEBgcDAgj/xABEEAACAQIDBAcGAwYDBwUAAAABAgMAEQQSIQUGMUETIlFhcYGRBxQyobHBQlJyI2KS0eHwQ4KiFTNTY5OywiQ0g+Lx/8QAGQEAAgMBAAAAAAAAAAAAAAAAAgQAAQMF/8QAJBEAAgICAgIDAQEBAQAAAAAAAAECEQMhBBIiMRNBUTKBYSP/2gAMAwEAAhEDEQA/AMmp6anoR4VXrcj2cPjY+nmkMEH4CFDPLyJAJsqjtN7ngOdA9zN1n2jM0SSJHlTOzOCbDMFFlBFzc9tbdu/gDg8ImGaUSlL2cIY9CxYCxY8L28qwz5ekdewJNt0jGt8Nz5dnlSzCWFzlSVVy9YC5V0JOVrXPEggcarlb5vDsKLHxJFM8qKsnSjoslycpUXLgiwzHlzrGd6ti+5Yp4M/SBQrK2XKSHAYXFzry48u+h4+b5FT9hJ/QJtSpU9MBCpU1OKhBUqVIVRBUqenqyDU9KlU2QY01PSqEGpUqVUQRpjSpURBqVNSqFCp6anqiHOnrnmr1mqyrNI9hjgY2YE2LYayj81pFJt22GtafiF6xr552DsmbFzpFhw3SEghluOiFxeQsOAW9/pxr6a/2YBGirYBVC6k3OUAd55Uhy4bTQHZKQHJC6sQoHEsQoHmdBWOe03EpJtB2jdHHRxrdGDLcJqLjQ2uK2za2wRicPNAWX9rGyA5SQCR1SfAgV84Y/AyYd2injaKRfiRuV+BHIg9o0NDxI7cv8CUlZwp683p708FY96Veb096hLHpU16RPHUAKBmJ/evaw51aTZUpqK2eqVdsRGoSORGur5hY/Ejx5M6m3EWkUg9h7teUYzaLqbE2HGwFyalNEU4vaYqVI016lhD01K9K9Qg1KlSqIg1KnpVZDzTU5pjVlCpUqVUQjirNuHukdpTPH0oiWNA7m2ZiGbKAq3Fz3k2FVmrJ7Ptt+6Y6KQm0bnopL8AshAB8myn1qpXTr2Ys3HdHcXD7PYvD0rSFSjPI1yQSDbKoCjUDl51aWJPdUJpiNKgYjEntrmTm37IsbYVaPtZvWqzvVuXg8e3SThlkyhekjkysAvAENdG81rji8Y3bUKKdnYKDxNqxWSUXcTT4v1mT78btf7OxAiEomVk6RWAAYAkizgEi+nLjVdz0Z3z2qMVjJZFN0B6OM9qR9UHzNz50ErrwTcVfsGz3nr1EpZhY5bda97ag6a8q5U6m398a0WnYMraoISbZeTIhK2TqpZVDWAFsx5iuMrgP17WYa35kCy/U0NmXW1RGFjWna0K9aLDg8WsQUEqUDF8rWYElVVhbjqFA9K64Z1WUNh1Rxf4DwIYWKvfgbEi/EceVVgDWjGBOWNnubkhF7ri5Ppep2J1tkvafRrKywsXQGyuQQWGlgR2jUX52qLeuINODWL2OR0qO16e9cc1PmqqC7HW9KuealmqF9jpT14DU3SDtHqKhLPZFNalelmq7JY1KlT1LKsjgUiL6U4FegtSwKPojcbbHveBhlY3cL0cn647Kx8+q3nRDErVL9hsC+7z/ALYF2lBaHQGMKLCQcyHvx4dQDiDWhYrBt2Vzssak6CjJeiqY+g22Mf7thZ5howTo4/1y9VbeAJPlVlxmzmJ5DxI/nVV9o2ywcLCBKpKyljEOL5lsGB49TUcLdessauasNv6Mhy8hy09Ka1Gxso9lIbKPZXT+RA9GBKVGH2X3VxfZxolkRXRgh+NRp1saJz4XI4LsAOVwTz1uOY8K4bQMd7C/kGF++zcK2jTjYrPUgdzozJEViiv+IM3o2X7GhkeS+oY+Fh8zwqy7UmDYfDjoHRgCY2LAgxXYMCtrkl7G54W76j9Eh/SA9KnKGmtQDAqVPSqiCpxTUqhCVszo+mi6VWePpUDqnxOuYXVbakkchqa+k5MHhY16MYWLIARl6NLWHZpWe+yHc61sdiF1I/8ATqw+Ec5TfmeC91zzrTZsQpNhr/SkeTl3UWRK3s+et/YcPHjpkwqlI1IVk1ASQX6RUB1C8LfLSq9mrXPaxuuJ4/foBeSNbYlRxdBosv6l4HtHhrkJprFJTgmmV60es1KvNKtCycmErumBJ+FWY8lUFmbwA41YVwFqt24W0cPhmkEwyM5GWW17AfhJHwi+t+/WlHmN3GkHvZ/uQcAWld88kkYRlAAVLNmsDxJvoeFW3EYYEaA/OvWFxkTC8cqMO5gw9RXuTEr+cetLzfbbFrldgLE7MYnQH1oZvDumcSI2RssscbKFOXK4LZrX4g/LWrHLiIub/M1Ak2rAmt/78Sawj4uzbtJmWiDkQQeYIII7iDqK9e7irLvVtGGcp0anOCcz8iLaC/PXW9A1jrW2MRdraIjYQVDxgiiGaVlUHhc6tbko4mjBjoFvFu6cSVZXysotY3ykceXA1pjq/J6Knaj4rZT8RipJ3ByhctwANAAe0muWOzvbMVJGmZSWv5ga0SxG7zwoxlWU5RfNE0ZjA7STqD3WoM86jgsnm5H0rqxcevicuSl28jmsOvH0BP2q37KngkjCTM6LGhEbdGoFybhSWYE3PYKqcEhZgqJcsQACzG5JsOYqzYLYWLVgbwxEHiLMykdgF6jnGK8iRjJvxOseCV75eXG4I8xfiO+vLbI7qtUbymNUmleYqSbuFBBYAHgL20GhqNtAFIpHUXZUZhftApCWTyqLH4xfW5LZU8XgFjF2v3AAkm3HQcqhQRq7ZRmB5ZgQCezxrxi9r9IRnAfLoOroe/4uPOumFaIFWyukisGy9axsQQdSdPOnYw1tiks29ejo2z2otufu371ikjkv0QvJJ3qtur5kgeF6iSbX70U20BUsDw8x3HuNFN3N8vdJGfoUlzJkIztHbUG4OVuys5QyVoP5IM3jDQmQfljGgA0vbh4D+VSLqvAAeH961kj+2KYCy4SFR+9M5+iirDu1vwmOU2XK6gF1BJAvpzANr89fEc0J8aUI9mi1kUnRc1ZCdQOy9uR0IYcweYr52342EMDjZoF+AEPHc3IRxdRc8bajvy3rbBtDX5VQ/adAs+MB/EsCI57xnax8Ay+tTiTUZNByg7RmNqVGn2RSp/uiurLm7LXFmFMYTXggjlXOGydsJR71BpxlX5mtOx2DGXhyrLthufeoNP8AGT/uFa/jF6tSS0Y5JNSRQMWlpBx4j61B24yjEzDslaje0ouvVd3lwbHFznkZL+oFZY0rZonsi4nHpGLkMbkABRckm58uB1oNPvfGI3ZI3LK6rlYhPjDm/M26h5cxXLfLClcKTrpIvlxqnwSWuSQxOtyL29a6HHwQnG2L5884SpFhO/78sOnm7n6WrpBvtK5/9vGfAyfc2qoz4kn8v8Iplx0g4NbwAFMLBiX0YPPk/S4bU3ozxSxSQlC8ZVWBvcm1tCOHmaq+OhIjQkGx0BsQGt2d+o0764+8O3xNc9p4+tTtozFsJBcknpZjcm+n7EAfKjjCMLUTOU5SpyB+yWtNGf8AmJ/3itcnXrt+pvqax/CPZ1PYwPowrZ8bHaR/1t9TS3J/lDHG/pnBQK47Ut0E1v8AhP8A9tSFSnkwmdWRuDKVJHIEEXHhe/lSaqxx3RRsVseOSQhcyktoR3nmD5UA2iHjcKxByjqkcCp4Ec+zj2V3bFT4Z3jLElC0ZBuR1TlJUnhwHlQuVyxJJuTzrsykmtHISa9nt8Sx4mvSZ+PDvNcCKP7p7ry49yE6qKRnlYEql+AsPiY9g8TWbklthJXoBtISdTWt+znd4CH3hJRI0ihG0CiPKcxX95rga93fRHD+yfAhbNLiGb8wkjT/AE5D9aO7E3VhwsQiiZbXJLGys5PNgDxA0pHkciMsbUWMYoNStkrB7PChmklSIgdV3sVVuRNyL+FUQxlus1yW1JJuSTqb1p2G2XC8bRSkMGK6AkG6k2II151SNvbHaCV1AfJm6jOLZh6a0pgrqMKXlQDOFFKpDoRSpiwqO5lFc3kHZXHozSFYh2yfsVQcTBYf4q/WtZxa9Wsv3UizYuHuYt/CDWqYsdWi+mL5X5Ipu1E61C94ZAuJe/PKfVAaObUTWgu92HJlifk8Ceq3U/asILbNYvyRXN4sH7zh3iQqGOVhmNhdTcAm2nOswmwzwu0cq5XU6i4Nri41UkVrC4Y1RN+kPvSrfjEvZpxHGuhxJvt0MeVBV2KpLXO1SsWluZ86i06xI7wIW0UEmx0Hdcn5Cp+1IysGHU/lLf8AUN/oK87GhDdPflhnYdxGXh61O3rhyiMflRR/pFFFabI3tFeUcfA1tm1JD0rDvv8AxAN96xbDi5t2qR8tK2raCZxBKL2lwsT+eTI3zWleQvCxjjvzo5YRXdgiKWZjZVHEn++dXvZ25gy3nck/ljsAP8xBv5VC9nOAAMsx43EaX5CwZz53UeVXyU2FJdU1ZrlytOkZvvN7IsLimaSKSSGZuNz0kbEAC5B1HDkawveXd+fAzmDEplcagjVXHJkPMGvqqfE2NUT2zbMXE7NaYj9phnVlbnkchZFPdwbxUVvx+RcujMJQdWfPzWt2f33Vt+4OPihwcUcYDrYsXW12Zjd79hB0seSisObn60X3Y2ycO9urkY6lg11PaCrAjlr3U3kgpqmZqTjtH0GNtxH8LegP0pl2rhyeGv6TVb2HjVkNiUzHUFbhX48iSVYcxc35dlSui61cvPicPY3inGfosU23IMOVLqQWGZbLe4uRfTvBoTvHvmk8RiSLjbrOfhsb3Ve2uG82DzDDk/8ACYejg/8AlQI4Gqx1Fa+zRY09shvKTSqYcKaVHZpRIIHOuMmQcaFtKx4mpOysEZ5kiBsWNrnkBqfkKBRCbLb7PsMrzu4GiLlv3v8A0Hzq/YoaUN3f2SmETIl7E5iTqWPabeFEcQ4I0rRNKLQlkl2nZWtpJUXakXSYRH5wuQf0yf1AorjMOW5VzwkGVXRwrK65SpNr+fKsF7NW6plOvWbb8a7QA/5aD6mtH3i2b7tIuRiUcFlGYMRY2IuOPGsx2+5faJ5kBR/p/rTnDj/6FcmSeOwHtQWJ8aHiim2lsT9vKhYroz9iK9BzdqPM8y9uGkHyB+1Sd7G4d5vao+6GuLVfzxyJ5tE+X/VaoeJxbSW6QqSAPxAcRVxdRaKa3ZAQ6itp3TxazbKja13w0rRScT1JOsjHzFvOsfQRg9a3kxP0qzbE3jgw6Og6YB/i6I6m3C4k6voL1nLGpxcWw4zcJKSRtO420Qekj4EESAdoIyt6EL61aMRitKoe5+w1lczRTSZYyLA5ekbMoLZhwym5Fra27avGIwp5Vyclw0Ntwk7BONxVUr2rbaEWzmiv18Q4RRzyxkNIx7h1V/zVeZNlsTra3jVE9sO5ymH30TkNGETo3IKFSbWjsAQbm9tb691BxY9sqbLzSShSMYMd1Pct/SmwcObSparoVHNCPpXTBQZdTwPDxFd2tiF6O+xdqlLxuWtfkSCCNAVPJhyNbLszaSYpBNGwJY9cDQq9+tdfwgnMRyOtrgVhGOQhmYcySD5mt+2Nu4mGVXj+HERxSKONgEFx6uT50ry0vjd/Rrh1OydvBDfDwv8AlkZP41Vh80+dV4tV2OzzNh5IgQG0ZSeGZTw8xpVMxmzpI2KOtmHL6EdvCudFXFMehL2jgZKVeGRuylRpIK2RJNln8Jojuvs9xiojb4SSfCxB+teoWzsEXrMeAHz8BV62HsoQjXVj8R+w7qBNlTkooMI5FRcTiDU1WqPiIwaKXr2JxavZXsfj3HA1W8bj5WNrmrhisGDQ2TZy1g4sZTS+gPjcA3QwyN8JzAns1vr2VjuDnE+PeTkzkjwGg+Va/v8AbYGE2fIB8Up6KMdhYddu6y8+1hWQbnw/tc3dXU4OPfYU5GS40QtvrZj4mg4qxbyC7HxNV4LTmReRjD0EdgY0QYrDzN8McyO36VcFh36Xrzt/ZZw2ImgNz0Urx3PEhGIVvMAHzqERVy3rVZ0wuNUXE8Ijl7p8MFSQHXiyZGHbr30ARSiprpho7miLRjsrvho1FX1KbNeKplgnwrsmaJVOUlWV00YadvGrpsCaZ8OrSSszdbU21AYgcAOysm3Z2rCU6GR7ZuHKxF9RWx7uQlcLGCcxyXLcL5iTf50jycPV3+m2PPcerW0BttYuVYp2VyGSF3UgA2KqSpsdDrWCbQ2xNiwrzSSykD8ZJCntUCwHPgBX0JtaDPFOoFy2HlAHaTG1vnXyuBQ8BJKTa+ws/tBVL3vblyt96aWcC1we4XH2NCyKSiuhYvROzdIwAFvEn7C/oK3fdfESRYaGORukZY1AOVlsNSFyk6WBtyvbhWSbg7PafFJGguWPy7zyFbmkK3OnO3hblSXLk+tG2Krsn4baUnLSh29quJUZ9Q0YyntsTcfP50VwsQo0cPHNHkkAI5doPaDyNJY03abNnJRadGaUqlbawBw8zRk3AAIPaDwv36GlVtU6YynatHH2XZWecsAJBlCg8cpuSR5j5VpKpWd+zqIIZlfLmLKVI4kAHQ3q/KG/CaJi2ZbO5S1cnrnM8lD8RJJ+WhlVgRhf2SJjUCaUdtQsVJNyU+oqu7XmlRGdrKqi51H0qv8ADWv+gP2yYiNoIE0LdIzDWxAyqpt4nt7Koe72KEdyVvy0dFtp+/b5VD3l2wcTLe/VGi+FT9iFchzWrs8WDiqEcrTB+08RmJ6jW7yPsaEm/Zai204QT1RQswkcqOd2VGqHtpRfBYl/c5UBcomIjmZRlyLdJIg1rZs12UcbcOdrCVQ86Obq7QjgkdMSCcPiIzBNbigYgrIO0owDUIQJfHg/hrgcWR8OlTdtbIOFlMUoJIAIZSMsit8LobcDQ5VuQFUkk2A4kk8AAONVbIi8+zbciXabNI79Hh42CuV+N2IzFE7NOLHhcWvy+kY0VUCqAFACqBwAUWA9BVH9jm78uDwNplyPLKZih0KAqqoD32W/+ar1OxA5elIZptt/iNEiAsJDhuzWsJ9oPs9OzWM0QEmFkfKt754CblUa/wAQtcBu6xtcX3DEYlwdPtVX9pWyZsVs2TowzvHIkuRdSwTMHsOdgxNh2VjxMvXJ1X2aZYNxtnz22DLd1OmDI5613XELb4hTNiV7RXX0LFk3PxDQTB0Yo3DStgxOKMiieO12F2A4E8yOw1g2GxwUButa9gbG3qdKtW7e+EgkWG0hBPwx5Szn8q30W/5uVBkxxnHYFyi7iadhdoueTelF8HLIxH4e81W9p4rFieQFIV1BtmZrXUG2gA0v216gOIb4pgo/5aAfNy3yFcWcFFtWdFW1dBHfbCL0qMrklkObW/wkBT53OndSobtdwrKmpyrqSSSxOupOtNVyk29GsFUUiLsdePHkQRe48xR5MZIn+LYfvhT89D86oOA2pJm42B5KLf1ozHJm1P1+5uflRdWiSplgxG35FGhjbwDj53oPid6p/wDhRH/5X+f7OuLkd58f61EkkJ4CjWgOqZ7k3jmPxRqveHdv/AUG3ixJkw0v7WMHITlyuCe67H7V2xBb+n/596B7XhZo2HAW56fKjjXZMpx0UPDoLgMbDtPKrO+GiWPqzITwFm48uFV33dlOqhh4XBqbPLAwH7BVI45XcfIk11sctHPnHexTyhTYn7iokmMWuEoUcAfWuBt3+tC5FpEn3gHlXotcW435c6ioOGl+6ieH2NiJdEhYDtIyj1ahcktstK/Qd2PgumiUzt0uS6JmLMI0W1kXWwFyeFa/7N908PFEuIWOPpXuc1tUAJAVfynTUjj4VmmA2O+HjUOVXS5uco8s1r1sW40qHBwmNlsEAaxuM4+O/Yb3NIZJNttPQxVRRZUW1OxvSEzAcL1GlxZH4T6VjLSBSbHfDg12wyBeFC5se3IH0NRTjZGNgCPE2rHsk7o06Sa2VX2x7j4eTCyY2JVjmis7lAB0qXAbMOBYDUHjyJr5/YJ+98v519P7xokmAxSzNmvA1lv1Q1rrc9ua1Yum7aXuyr5KAB6j7Guhizrrsy+Nt6KX0q2Asx14E2Hyqwbt+8ZgYFMI4F1GXQ8byHrW/TVpw2yI0AOQeNgo/wBQ+gorgYxmBHW14/8A2b7UT5H4i/h/SxYeDlnB4c+N/Hj41LYCPVqH3JOi2/p+8ah44kuTna/7pJI+wpBxTk2xmK1RJxLZ2LGlQ6TGFAMzAfq6zHwC60qnR/hp6K+rdmlE8BibHUmhZ4GpOy/iFaFtFkS54Dzb+Vc5V7ST8qkcj4VGSgBIroeQt4afOhu0oAVNzc2/vWjGK4UFxPCriyUV/IOQ/n617lwytxUE+ANd2qbh/hpiL0A42BG2Qh/Ao8QKkYXd0N8MQP8AlAH8R0o1s/8A3g8as8nLwoJ5GiKCKnht0j+IqvcvWP0AHzo5g9mCMWDSt+qRiPJb2HiKnnl4VJhrPu5Og0kApt3oWNznDduYvb+O9Fdm7CdArwTPFIFtmQ9Hccg4W6uO5lNe4+J8aN7O+Ef3zoHkkvsFxRGixW0YwLyQzDhrDZie0tE4HolRJd6seNGw+H/606n0aL+dWIV4xvwedH8r/CvjRWX3ixzf4GHHjNL9OiFefe8Yx+OFB+h29Czj6V3HGuU/Ggc2y+iR4lgIjd5JJJiFsLkBVJ06qABV8QL0GCE/CoXwF/mftVhxP+7PgPqKEy/CKtPREhsNglY9Y3I/zH1PD5VNUqnYvj1mrns34fKoUHxnzrVrRPTom4vG6aKTrxY2H8IobMXf4iQOYBCjx01PnU2f4fL7VBxXxReNDGixQ4a56oJ71Fh5sePqaaj8XAUqD5Wwup//2Q=="/>
          <p:cNvSpPr>
            <a:spLocks noChangeAspect="1" noChangeArrowheads="1"/>
          </p:cNvSpPr>
          <p:nvPr/>
        </p:nvSpPr>
        <p:spPr bwMode="auto">
          <a:xfrm>
            <a:off x="633046" y="657958"/>
            <a:ext cx="281354" cy="28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AU" altLang="en-US" sz="2215">
              <a:solidFill>
                <a:prstClr val="black"/>
              </a:solidFill>
              <a:latin typeface="Times New Roman" panose="02020603050405020304" pitchFamily="18" charset="0"/>
            </a:endParaRPr>
          </a:p>
        </p:txBody>
      </p:sp>
      <p:pic>
        <p:nvPicPr>
          <p:cNvPr id="66576" name="Picture 16" descr="https://encrypted-tbn3.gstatic.com/images?q=tbn:ANd9GcS42VlEP-GzskKnLVOSPhB3D85Q-k2kplX_QAJqBbmQyDTmhoH6"/>
          <p:cNvPicPr>
            <a:picLocks noChangeAspect="1" noChangeArrowheads="1"/>
          </p:cNvPicPr>
          <p:nvPr/>
        </p:nvPicPr>
        <p:blipFill rotWithShape="1">
          <a:blip r:embed="rId4"/>
          <a:srcRect b="10795"/>
          <a:stretch/>
        </p:blipFill>
        <p:spPr bwMode="auto">
          <a:xfrm>
            <a:off x="773723" y="3924300"/>
            <a:ext cx="2113085" cy="18844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6578" name="Picture 18" descr="https://encrypted-tbn1.gstatic.com/images?q=tbn:ANd9GcSzMAyY5Fu0VXunlyXqgMa846xxVHPTm7SG8_hjuDcRF-YVDnM2"/>
          <p:cNvPicPr>
            <a:picLocks noChangeAspect="1" noChangeArrowheads="1"/>
          </p:cNvPicPr>
          <p:nvPr/>
        </p:nvPicPr>
        <p:blipFill>
          <a:blip r:embed="rId5"/>
          <a:srcRect/>
          <a:stretch>
            <a:fillRect/>
          </a:stretch>
        </p:blipFill>
        <p:spPr bwMode="auto">
          <a:xfrm>
            <a:off x="5372101" y="4237892"/>
            <a:ext cx="3068515" cy="19929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6580" name="Picture 20" descr="http://www.lionheart-designs.com/inventory/chessmen2/Farmland%20Animals%205904%20tn.JPG"/>
          <p:cNvPicPr>
            <a:picLocks noChangeAspect="1" noChangeArrowheads="1"/>
          </p:cNvPicPr>
          <p:nvPr/>
        </p:nvPicPr>
        <p:blipFill>
          <a:blip r:embed="rId6"/>
          <a:srcRect/>
          <a:stretch>
            <a:fillRect/>
          </a:stretch>
        </p:blipFill>
        <p:spPr bwMode="auto">
          <a:xfrm>
            <a:off x="4604239" y="1289539"/>
            <a:ext cx="2995246" cy="19797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23</a:t>
            </a:fld>
            <a:endParaRPr lang="en-AU">
              <a:solidFill>
                <a:prstClr val="black">
                  <a:lumMod val="50000"/>
                  <a:lumOff val="50000"/>
                </a:prstClr>
              </a:solidFill>
            </a:endParaRPr>
          </a:p>
        </p:txBody>
      </p:sp>
    </p:spTree>
    <p:extLst>
      <p:ext uri="{BB962C8B-B14F-4D97-AF65-F5344CB8AC3E}">
        <p14:creationId xmlns:p14="http://schemas.microsoft.com/office/powerpoint/2010/main" val="40735222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6576"/>
                                        </p:tgtEl>
                                        <p:attrNameLst>
                                          <p:attrName>style.visibility</p:attrName>
                                        </p:attrNameLst>
                                      </p:cBhvr>
                                      <p:to>
                                        <p:strVal val="visible"/>
                                      </p:to>
                                    </p:set>
                                    <p:animEffect transition="in" filter="fade">
                                      <p:cBhvr>
                                        <p:cTn id="7" dur="500"/>
                                        <p:tgtEl>
                                          <p:spTgt spid="66576"/>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66580"/>
                                        </p:tgtEl>
                                        <p:attrNameLst>
                                          <p:attrName>style.visibility</p:attrName>
                                        </p:attrNameLst>
                                      </p:cBhvr>
                                      <p:to>
                                        <p:strVal val="visible"/>
                                      </p:to>
                                    </p:set>
                                    <p:animEffect transition="in" filter="fade">
                                      <p:cBhvr>
                                        <p:cTn id="11" dur="500"/>
                                        <p:tgtEl>
                                          <p:spTgt spid="66580"/>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66578"/>
                                        </p:tgtEl>
                                        <p:attrNameLst>
                                          <p:attrName>style.visibility</p:attrName>
                                        </p:attrNameLst>
                                      </p:cBhvr>
                                      <p:to>
                                        <p:strVal val="visible"/>
                                      </p:to>
                                    </p:set>
                                    <p:animEffect transition="in" filter="fade">
                                      <p:cBhvr>
                                        <p:cTn id="15" dur="500"/>
                                        <p:tgtEl>
                                          <p:spTgt spid="66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3548" y="1052736"/>
            <a:ext cx="7916124" cy="5686544"/>
          </a:xfrm>
        </p:spPr>
        <p:txBody>
          <a:bodyPr>
            <a:noAutofit/>
          </a:bodyPr>
          <a:lstStyle/>
          <a:p>
            <a:pPr marL="0" indent="0">
              <a:buNone/>
            </a:pPr>
            <a:r>
              <a:rPr lang="en-AU" b="1" dirty="0"/>
              <a:t>Vocabulary</a:t>
            </a:r>
          </a:p>
          <a:p>
            <a:pPr marL="179388" indent="0">
              <a:buNone/>
            </a:pPr>
            <a:r>
              <a:rPr lang="en-AU" dirty="0"/>
              <a:t>Activities, Events, Gateways, Sequence Flow…</a:t>
            </a:r>
          </a:p>
          <a:p>
            <a:pPr marL="0" indent="0">
              <a:buNone/>
            </a:pPr>
            <a:endParaRPr lang="en-AU" dirty="0"/>
          </a:p>
          <a:p>
            <a:pPr marL="0" indent="0">
              <a:buNone/>
            </a:pPr>
            <a:r>
              <a:rPr lang="en-AU" b="1" dirty="0"/>
              <a:t>Structural correctness</a:t>
            </a:r>
          </a:p>
          <a:p>
            <a:pPr marL="457200" indent="-457200">
              <a:buFont typeface="+mj-lt"/>
              <a:buAutoNum type="arabicPeriod"/>
            </a:pPr>
            <a:r>
              <a:rPr lang="en-AU" sz="2200" dirty="0"/>
              <a:t>individual rules for each element are complied with:</a:t>
            </a:r>
          </a:p>
          <a:p>
            <a:pPr marL="715963" lvl="1" indent="-179388"/>
            <a:r>
              <a:rPr lang="en-AU" dirty="0"/>
              <a:t>activities must have at least one incoming and one outgoing sequence flow</a:t>
            </a:r>
          </a:p>
          <a:p>
            <a:pPr marL="715963" lvl="1" indent="-179388"/>
            <a:r>
              <a:rPr lang="en-AU" dirty="0"/>
              <a:t>start events must not have incoming arcs, end events must not have outgoing arcs</a:t>
            </a:r>
          </a:p>
          <a:p>
            <a:pPr marL="715963" lvl="1" indent="-179388"/>
            <a:r>
              <a:rPr lang="en-AU" dirty="0"/>
              <a:t>gateways must have exactly one incoming and at least two outgoing arcs (splits) or at least two incoming and exactly one outgoing arcs (joins)</a:t>
            </a:r>
          </a:p>
          <a:p>
            <a:pPr marL="457200" indent="-457200">
              <a:buFont typeface="+mj-lt"/>
              <a:buAutoNum type="arabicPeriod"/>
            </a:pPr>
            <a:r>
              <a:rPr lang="en-AU" sz="2200" dirty="0"/>
              <a:t>all nodes are on a path from a start to an end event (i.e. no dangling arcs or disconnected nodes)</a:t>
            </a:r>
          </a:p>
          <a:p>
            <a:pPr marL="715963" lvl="1" indent="-179388"/>
            <a:r>
              <a:rPr lang="en-AU" dirty="0"/>
              <a:t>implies that a model should have at least one start and one end event</a:t>
            </a:r>
          </a:p>
          <a:p>
            <a:pPr marL="685800" lvl="1" indent="-457200">
              <a:buFont typeface="+mj-lt"/>
              <a:buAutoNum type="arabicPeriod"/>
            </a:pPr>
            <a:endParaRPr lang="en-AU" sz="1600" dirty="0"/>
          </a:p>
          <a:p>
            <a:pPr>
              <a:buFontTx/>
              <a:buChar char="-"/>
            </a:pPr>
            <a:endParaRPr lang="en-AU" dirty="0"/>
          </a:p>
        </p:txBody>
      </p:sp>
      <p:sp>
        <p:nvSpPr>
          <p:cNvPr id="3" name="Title 2"/>
          <p:cNvSpPr>
            <a:spLocks noGrp="1"/>
          </p:cNvSpPr>
          <p:nvPr>
            <p:ph type="title"/>
          </p:nvPr>
        </p:nvSpPr>
        <p:spPr/>
        <p:txBody>
          <a:bodyPr/>
          <a:lstStyle/>
          <a:p>
            <a:r>
              <a:rPr lang="en-AU" dirty="0"/>
              <a:t>In BPMN?</a:t>
            </a:r>
          </a:p>
        </p:txBody>
      </p:sp>
    </p:spTree>
    <p:extLst>
      <p:ext uri="{BB962C8B-B14F-4D97-AF65-F5344CB8AC3E}">
        <p14:creationId xmlns:p14="http://schemas.microsoft.com/office/powerpoint/2010/main" val="81356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up)">
                                      <p:cBhvr>
                                        <p:cTn id="7" dur="500"/>
                                        <p:tgtEl>
                                          <p:spTgt spid="2">
                                            <p:txEl>
                                              <p:pRg st="3" end="3"/>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up)">
                                      <p:cBhvr>
                                        <p:cTn id="10" dur="500"/>
                                        <p:tgtEl>
                                          <p:spTgt spid="2">
                                            <p:txEl>
                                              <p:pRg st="4" end="4"/>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wipe(up)">
                                      <p:cBhvr>
                                        <p:cTn id="13" dur="500"/>
                                        <p:tgtEl>
                                          <p:spTgt spid="2">
                                            <p:txEl>
                                              <p:pRg st="5" end="5"/>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wipe(up)">
                                      <p:cBhvr>
                                        <p:cTn id="16" dur="500"/>
                                        <p:tgtEl>
                                          <p:spTgt spid="2">
                                            <p:txEl>
                                              <p:pRg st="6" end="6"/>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wipe(up)">
                                      <p:cBhvr>
                                        <p:cTn id="19" dur="500"/>
                                        <p:tgtEl>
                                          <p:spTgt spid="2">
                                            <p:txEl>
                                              <p:pRg st="7" end="7"/>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wipe(up)">
                                      <p:cBhvr>
                                        <p:cTn id="22" dur="500"/>
                                        <p:tgtEl>
                                          <p:spTgt spid="2">
                                            <p:txEl>
                                              <p:pRg st="8" end="8"/>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2">
                                            <p:txEl>
                                              <p:pRg st="9" end="9"/>
                                            </p:txEl>
                                          </p:spTgt>
                                        </p:tgtEl>
                                        <p:attrNameLst>
                                          <p:attrName>style.visibility</p:attrName>
                                        </p:attrNameLst>
                                      </p:cBhvr>
                                      <p:to>
                                        <p:strVal val="visible"/>
                                      </p:to>
                                    </p:set>
                                    <p:animEffect transition="in" filter="wipe(up)">
                                      <p:cBhvr>
                                        <p:cTn id="25"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Example: structural correctness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304" y="1913572"/>
            <a:ext cx="8330698" cy="2909977"/>
          </a:xfrm>
          <a:prstGeom prst="rect">
            <a:avLst/>
          </a:prstGeom>
        </p:spPr>
      </p:pic>
      <p:sp>
        <p:nvSpPr>
          <p:cNvPr id="5" name="Oval 6"/>
          <p:cNvSpPr>
            <a:spLocks noChangeArrowheads="1"/>
          </p:cNvSpPr>
          <p:nvPr/>
        </p:nvSpPr>
        <p:spPr bwMode="auto">
          <a:xfrm>
            <a:off x="5431586" y="4009037"/>
            <a:ext cx="511175" cy="520700"/>
          </a:xfrm>
          <a:prstGeom prst="ellipse">
            <a:avLst/>
          </a:prstGeom>
          <a:noFill/>
          <a:ln w="38100">
            <a:solidFill>
              <a:srgbClr val="C00000"/>
            </a:solidFill>
            <a:round/>
            <a:headEnd/>
            <a:tailEnd/>
          </a:ln>
          <a:effectLst/>
        </p:spPr>
        <p:txBody>
          <a:bodyPr wrap="none" anchor="ctr"/>
          <a:lstStyle/>
          <a:p>
            <a:endParaRPr lang="en-AU">
              <a:solidFill>
                <a:prstClr val="black"/>
              </a:solidFill>
            </a:endParaRPr>
          </a:p>
        </p:txBody>
      </p:sp>
      <p:sp>
        <p:nvSpPr>
          <p:cNvPr id="6" name="Oval 6"/>
          <p:cNvSpPr>
            <a:spLocks noChangeArrowheads="1"/>
          </p:cNvSpPr>
          <p:nvPr/>
        </p:nvSpPr>
        <p:spPr bwMode="auto">
          <a:xfrm>
            <a:off x="6286205" y="3103158"/>
            <a:ext cx="511175" cy="520700"/>
          </a:xfrm>
          <a:prstGeom prst="ellipse">
            <a:avLst/>
          </a:prstGeom>
          <a:noFill/>
          <a:ln w="38100">
            <a:solidFill>
              <a:srgbClr val="C00000"/>
            </a:solidFill>
            <a:round/>
            <a:headEnd/>
            <a:tailEnd/>
          </a:ln>
          <a:effectLst/>
        </p:spPr>
        <p:txBody>
          <a:bodyPr wrap="none" anchor="ctr"/>
          <a:lstStyle/>
          <a:p>
            <a:endParaRPr lang="en-AU">
              <a:solidFill>
                <a:prstClr val="black"/>
              </a:solidFill>
            </a:endParaRPr>
          </a:p>
        </p:txBody>
      </p:sp>
      <p:sp>
        <p:nvSpPr>
          <p:cNvPr id="9" name="Rounded Rectangle 8"/>
          <p:cNvSpPr/>
          <p:nvPr/>
        </p:nvSpPr>
        <p:spPr>
          <a:xfrm>
            <a:off x="3077023" y="4078392"/>
            <a:ext cx="914400" cy="689589"/>
          </a:xfrm>
          <a:prstGeom prst="roundRect">
            <a:avLst/>
          </a:prstGeom>
          <a:noFill/>
          <a:ln w="38100">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AU">
              <a:solidFill>
                <a:prstClr val="black"/>
              </a:solidFill>
            </a:endParaRPr>
          </a:p>
        </p:txBody>
      </p:sp>
    </p:spTree>
    <p:extLst>
      <p:ext uri="{BB962C8B-B14F-4D97-AF65-F5344CB8AC3E}">
        <p14:creationId xmlns:p14="http://schemas.microsoft.com/office/powerpoint/2010/main" val="300718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3548" y="1052736"/>
            <a:ext cx="8136904" cy="5686544"/>
          </a:xfrm>
        </p:spPr>
        <p:txBody>
          <a:bodyPr>
            <a:noAutofit/>
          </a:bodyPr>
          <a:lstStyle/>
          <a:p>
            <a:pPr marL="0" indent="0">
              <a:buNone/>
            </a:pPr>
            <a:r>
              <a:rPr lang="en-AU" b="1" dirty="0"/>
              <a:t>Behavioral correctness</a:t>
            </a:r>
            <a:r>
              <a:rPr lang="en-AU" dirty="0"/>
              <a:t> (a.k.a. soundness)</a:t>
            </a:r>
          </a:p>
          <a:p>
            <a:pPr marL="457200" indent="-457200">
              <a:buFont typeface="+mj-lt"/>
              <a:buAutoNum type="arabicPeriod"/>
            </a:pPr>
            <a:r>
              <a:rPr lang="en-US" sz="2200" i="1" dirty="0"/>
              <a:t>option to complete</a:t>
            </a:r>
            <a:r>
              <a:rPr lang="en-US" sz="2200" dirty="0"/>
              <a:t>: any running process instance must eventually complete, i.e. there are no deadlocks or </a:t>
            </a:r>
            <a:r>
              <a:rPr lang="en-US" sz="2200" dirty="0" err="1"/>
              <a:t>livelocks</a:t>
            </a:r>
            <a:endParaRPr lang="en-US" sz="2200" dirty="0"/>
          </a:p>
          <a:p>
            <a:pPr marL="457200" indent="-457200">
              <a:buFont typeface="+mj-lt"/>
              <a:buAutoNum type="arabicPeriod"/>
            </a:pPr>
            <a:r>
              <a:rPr lang="en-US" sz="2200" i="1" dirty="0"/>
              <a:t>proper completion</a:t>
            </a:r>
            <a:r>
              <a:rPr lang="en-US" sz="2200" dirty="0"/>
              <a:t>: at the moment of completion, each token of the process instance should be in a different end event, i.e. there is no lack of synchronization, and</a:t>
            </a:r>
          </a:p>
          <a:p>
            <a:pPr marL="457200" indent="-457200">
              <a:buFont typeface="+mj-lt"/>
              <a:buAutoNum type="arabicPeriod"/>
            </a:pPr>
            <a:r>
              <a:rPr lang="en-US" sz="2200" i="1" dirty="0"/>
              <a:t>no dead activities</a:t>
            </a:r>
            <a:r>
              <a:rPr lang="en-US" sz="2200" dirty="0"/>
              <a:t>: any activity can be executed in at least one process instance.</a:t>
            </a:r>
            <a:endParaRPr lang="en-AU" sz="2200" dirty="0"/>
          </a:p>
        </p:txBody>
      </p:sp>
      <p:sp>
        <p:nvSpPr>
          <p:cNvPr id="3" name="Title 2"/>
          <p:cNvSpPr>
            <a:spLocks noGrp="1"/>
          </p:cNvSpPr>
          <p:nvPr>
            <p:ph type="title"/>
          </p:nvPr>
        </p:nvSpPr>
        <p:spPr/>
        <p:txBody>
          <a:bodyPr/>
          <a:lstStyle/>
          <a:p>
            <a:r>
              <a:rPr lang="en-AU" dirty="0"/>
              <a:t>In BPMN?</a:t>
            </a:r>
          </a:p>
        </p:txBody>
      </p:sp>
    </p:spTree>
    <p:extLst>
      <p:ext uri="{BB962C8B-B14F-4D97-AF65-F5344CB8AC3E}">
        <p14:creationId xmlns:p14="http://schemas.microsoft.com/office/powerpoint/2010/main" val="41728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70321" y="60779"/>
            <a:ext cx="8064896" cy="792088"/>
          </a:xfrm>
        </p:spPr>
        <p:txBody>
          <a:bodyPr/>
          <a:lstStyle/>
          <a:p>
            <a:r>
              <a:rPr lang="de-AT" dirty="0"/>
              <a:t>Behavioral correctness: cheat sheet</a:t>
            </a:r>
          </a:p>
        </p:txBody>
      </p:sp>
      <p:pic>
        <p:nvPicPr>
          <p:cNvPr id="122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1451" y="3429000"/>
            <a:ext cx="6405019" cy="146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3183" y="775253"/>
            <a:ext cx="6241557" cy="1485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42578"/>
          <a:stretch/>
        </p:blipFill>
        <p:spPr bwMode="auto">
          <a:xfrm>
            <a:off x="1373183" y="5100765"/>
            <a:ext cx="6521159" cy="143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27</a:t>
            </a:fld>
            <a:endParaRPr lang="en-AU">
              <a:solidFill>
                <a:prstClr val="black">
                  <a:lumMod val="50000"/>
                  <a:lumOff val="50000"/>
                </a:prstClr>
              </a:solidFill>
            </a:endParaRPr>
          </a:p>
        </p:txBody>
      </p:sp>
      <p:pic>
        <p:nvPicPr>
          <p:cNvPr id="7" name="Picture 5"/>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48099"/>
          <a:stretch/>
        </p:blipFill>
        <p:spPr bwMode="auto">
          <a:xfrm>
            <a:off x="1428305" y="2030877"/>
            <a:ext cx="6521159" cy="1298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825162" y="6289657"/>
            <a:ext cx="586025" cy="3788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9" name="Textfeld 3"/>
          <p:cNvSpPr txBox="1"/>
          <p:nvPr/>
        </p:nvSpPr>
        <p:spPr>
          <a:xfrm>
            <a:off x="4414540" y="1320302"/>
            <a:ext cx="2749102" cy="404854"/>
          </a:xfrm>
          <a:prstGeom prst="rect">
            <a:avLst/>
          </a:prstGeom>
          <a:solidFill>
            <a:srgbClr val="FFC000"/>
          </a:solidFill>
        </p:spPr>
        <p:txBody>
          <a:bodyPr wrap="square" rtlCol="0">
            <a:spAutoFit/>
          </a:bodyPr>
          <a:lstStyle/>
          <a:p>
            <a:pPr algn="ctr" eaLnBrk="0" fontAlgn="base" hangingPunct="0">
              <a:spcBef>
                <a:spcPct val="0"/>
              </a:spcBef>
              <a:spcAft>
                <a:spcPct val="0"/>
              </a:spcAft>
            </a:pPr>
            <a:r>
              <a:rPr lang="de-DE" sz="2031" b="1" dirty="0">
                <a:solidFill>
                  <a:prstClr val="black"/>
                </a:solidFill>
                <a:ea typeface="ＭＳ Ｐゴシック" pitchFamily="34" charset="-128"/>
              </a:rPr>
              <a:t>No option to complete</a:t>
            </a:r>
          </a:p>
        </p:txBody>
      </p:sp>
      <p:sp>
        <p:nvSpPr>
          <p:cNvPr id="10" name="Textfeld 3"/>
          <p:cNvSpPr txBox="1"/>
          <p:nvPr/>
        </p:nvSpPr>
        <p:spPr>
          <a:xfrm>
            <a:off x="4387019" y="2632127"/>
            <a:ext cx="2749102" cy="404854"/>
          </a:xfrm>
          <a:prstGeom prst="rect">
            <a:avLst/>
          </a:prstGeom>
          <a:solidFill>
            <a:srgbClr val="FFC000"/>
          </a:solidFill>
        </p:spPr>
        <p:txBody>
          <a:bodyPr wrap="square" rtlCol="0">
            <a:spAutoFit/>
          </a:bodyPr>
          <a:lstStyle/>
          <a:p>
            <a:pPr algn="ctr" eaLnBrk="0" fontAlgn="base" hangingPunct="0">
              <a:spcBef>
                <a:spcPct val="0"/>
              </a:spcBef>
              <a:spcAft>
                <a:spcPct val="0"/>
              </a:spcAft>
            </a:pPr>
            <a:r>
              <a:rPr lang="de-DE" sz="2031" b="1" dirty="0">
                <a:solidFill>
                  <a:prstClr val="black"/>
                </a:solidFill>
                <a:ea typeface="ＭＳ Ｐゴシック" pitchFamily="34" charset="-128"/>
              </a:rPr>
              <a:t>No option to complete</a:t>
            </a:r>
          </a:p>
        </p:txBody>
      </p:sp>
      <p:sp>
        <p:nvSpPr>
          <p:cNvPr id="11" name="Textfeld 3"/>
          <p:cNvSpPr txBox="1"/>
          <p:nvPr/>
        </p:nvSpPr>
        <p:spPr>
          <a:xfrm>
            <a:off x="4369072" y="3959161"/>
            <a:ext cx="2749102" cy="404854"/>
          </a:xfrm>
          <a:prstGeom prst="rect">
            <a:avLst/>
          </a:prstGeom>
          <a:solidFill>
            <a:srgbClr val="FFC000"/>
          </a:solidFill>
        </p:spPr>
        <p:txBody>
          <a:bodyPr wrap="square" rtlCol="0">
            <a:spAutoFit/>
          </a:bodyPr>
          <a:lstStyle/>
          <a:p>
            <a:pPr algn="ctr" eaLnBrk="0" fontAlgn="base" hangingPunct="0">
              <a:spcBef>
                <a:spcPct val="0"/>
              </a:spcBef>
              <a:spcAft>
                <a:spcPct val="0"/>
              </a:spcAft>
            </a:pPr>
            <a:r>
              <a:rPr lang="de-DE" sz="2031" b="1" dirty="0">
                <a:solidFill>
                  <a:prstClr val="black"/>
                </a:solidFill>
                <a:ea typeface="ＭＳ Ｐゴシック" pitchFamily="34" charset="-128"/>
              </a:rPr>
              <a:t>No proper completion</a:t>
            </a:r>
          </a:p>
        </p:txBody>
      </p:sp>
      <p:sp>
        <p:nvSpPr>
          <p:cNvPr id="12" name="Textfeld 3"/>
          <p:cNvSpPr txBox="1"/>
          <p:nvPr/>
        </p:nvSpPr>
        <p:spPr>
          <a:xfrm>
            <a:off x="4353916" y="5606857"/>
            <a:ext cx="2749102" cy="717376"/>
          </a:xfrm>
          <a:prstGeom prst="rect">
            <a:avLst/>
          </a:prstGeom>
          <a:solidFill>
            <a:srgbClr val="FFC000"/>
          </a:solidFill>
        </p:spPr>
        <p:txBody>
          <a:bodyPr wrap="square" rtlCol="0">
            <a:spAutoFit/>
          </a:bodyPr>
          <a:lstStyle/>
          <a:p>
            <a:pPr algn="ctr" eaLnBrk="0" fontAlgn="base" hangingPunct="0">
              <a:spcBef>
                <a:spcPct val="0"/>
              </a:spcBef>
              <a:spcAft>
                <a:spcPct val="0"/>
              </a:spcAft>
            </a:pPr>
            <a:r>
              <a:rPr lang="de-DE" sz="2031" b="1" dirty="0">
                <a:solidFill>
                  <a:prstClr val="black"/>
                </a:solidFill>
                <a:ea typeface="ＭＳ Ｐゴシック" pitchFamily="34" charset="-128"/>
              </a:rPr>
              <a:t>No proper completion/</a:t>
            </a:r>
          </a:p>
          <a:p>
            <a:pPr algn="ctr" eaLnBrk="0" fontAlgn="base" hangingPunct="0">
              <a:spcBef>
                <a:spcPct val="0"/>
              </a:spcBef>
              <a:spcAft>
                <a:spcPct val="0"/>
              </a:spcAft>
            </a:pPr>
            <a:r>
              <a:rPr lang="de-DE" sz="2031" b="1" dirty="0">
                <a:solidFill>
                  <a:prstClr val="black"/>
                </a:solidFill>
                <a:ea typeface="ＭＳ Ｐゴシック" pitchFamily="34" charset="-128"/>
              </a:rPr>
              <a:t>No option to complete</a:t>
            </a:r>
          </a:p>
        </p:txBody>
      </p:sp>
    </p:spTree>
    <p:extLst>
      <p:ext uri="{BB962C8B-B14F-4D97-AF65-F5344CB8AC3E}">
        <p14:creationId xmlns:p14="http://schemas.microsoft.com/office/powerpoint/2010/main" val="172724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8555" y="260648"/>
            <a:ext cx="8064896" cy="792088"/>
          </a:xfrm>
        </p:spPr>
        <p:txBody>
          <a:bodyPr/>
          <a:lstStyle/>
          <a:p>
            <a:r>
              <a:rPr lang="en-AU" dirty="0"/>
              <a:t>Example: no option to complete</a:t>
            </a:r>
          </a:p>
        </p:txBody>
      </p:sp>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28</a:t>
            </a:fld>
            <a:endParaRPr lang="en-AU">
              <a:solidFill>
                <a:prstClr val="black">
                  <a:lumMod val="50000"/>
                  <a:lumOff val="50000"/>
                </a:prstClr>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8705" y="1925701"/>
            <a:ext cx="4876800" cy="2686050"/>
          </a:xfrm>
        </p:spPr>
      </p:pic>
      <p:sp>
        <p:nvSpPr>
          <p:cNvPr id="7" name="TextBox 6"/>
          <p:cNvSpPr txBox="1"/>
          <p:nvPr/>
        </p:nvSpPr>
        <p:spPr>
          <a:xfrm>
            <a:off x="467544" y="929725"/>
            <a:ext cx="8449261" cy="646331"/>
          </a:xfrm>
          <a:prstGeom prst="rect">
            <a:avLst/>
          </a:prstGeom>
          <a:noFill/>
        </p:spPr>
        <p:txBody>
          <a:bodyPr wrap="square" rtlCol="0">
            <a:spAutoFit/>
          </a:bodyPr>
          <a:lstStyle/>
          <a:p>
            <a:r>
              <a:rPr lang="en-AU" dirty="0"/>
              <a:t>If condition_1 is true, the instance cannot complete and activity B will be repeated forever (livelock)</a:t>
            </a:r>
          </a:p>
        </p:txBody>
      </p:sp>
    </p:spTree>
    <p:extLst>
      <p:ext uri="{BB962C8B-B14F-4D97-AF65-F5344CB8AC3E}">
        <p14:creationId xmlns:p14="http://schemas.microsoft.com/office/powerpoint/2010/main" val="358961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8555" y="260648"/>
            <a:ext cx="8064896" cy="792088"/>
          </a:xfrm>
        </p:spPr>
        <p:txBody>
          <a:bodyPr/>
          <a:lstStyle/>
          <a:p>
            <a:r>
              <a:rPr lang="en-AU" dirty="0"/>
              <a:t>Example: no option to complete</a:t>
            </a:r>
          </a:p>
        </p:txBody>
      </p:sp>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29</a:t>
            </a:fld>
            <a:endParaRPr lang="en-AU">
              <a:solidFill>
                <a:prstClr val="black">
                  <a:lumMod val="50000"/>
                  <a:lumOff val="50000"/>
                </a:prstClr>
              </a:solidFill>
            </a:endParaRPr>
          </a:p>
        </p:txBody>
      </p:sp>
      <p:sp>
        <p:nvSpPr>
          <p:cNvPr id="7" name="TextBox 6"/>
          <p:cNvSpPr txBox="1"/>
          <p:nvPr/>
        </p:nvSpPr>
        <p:spPr>
          <a:xfrm>
            <a:off x="467545" y="929725"/>
            <a:ext cx="8262676" cy="646331"/>
          </a:xfrm>
          <a:prstGeom prst="rect">
            <a:avLst/>
          </a:prstGeom>
          <a:noFill/>
        </p:spPr>
        <p:txBody>
          <a:bodyPr wrap="square" rtlCol="0">
            <a:spAutoFit/>
          </a:bodyPr>
          <a:lstStyle/>
          <a:p>
            <a:r>
              <a:rPr lang="en-AU" dirty="0"/>
              <a:t>If c1 is true after executing A, or c2 is true after executing B, the instance cannot complete (deadlock)</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597" y="1824365"/>
            <a:ext cx="7902664" cy="3758831"/>
          </a:xfrm>
          <a:prstGeom prst="rect">
            <a:avLst/>
          </a:prstGeom>
        </p:spPr>
      </p:pic>
      <p:sp>
        <p:nvSpPr>
          <p:cNvPr id="6" name="TextBox 5"/>
          <p:cNvSpPr txBox="1"/>
          <p:nvPr/>
        </p:nvSpPr>
        <p:spPr>
          <a:xfrm>
            <a:off x="515947" y="5785360"/>
            <a:ext cx="5116529" cy="369332"/>
          </a:xfrm>
          <a:prstGeom prst="rect">
            <a:avLst/>
          </a:prstGeom>
          <a:noFill/>
        </p:spPr>
        <p:txBody>
          <a:bodyPr wrap="none" rtlCol="0">
            <a:spAutoFit/>
          </a:bodyPr>
          <a:lstStyle/>
          <a:p>
            <a:r>
              <a:rPr lang="en-AU" dirty="0"/>
              <a:t>Note: this model also suffers from a dead activity (D)</a:t>
            </a:r>
          </a:p>
        </p:txBody>
      </p:sp>
    </p:spTree>
    <p:extLst>
      <p:ext uri="{BB962C8B-B14F-4D97-AF65-F5344CB8AC3E}">
        <p14:creationId xmlns:p14="http://schemas.microsoft.com/office/powerpoint/2010/main" val="77831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Example: no proper completion</a:t>
            </a:r>
          </a:p>
        </p:txBody>
      </p:sp>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30</a:t>
            </a:fld>
            <a:endParaRPr lang="en-AU">
              <a:solidFill>
                <a:prstClr val="black">
                  <a:lumMod val="50000"/>
                  <a:lumOff val="50000"/>
                </a:prstClr>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3877" y="1719737"/>
            <a:ext cx="7305675" cy="3495675"/>
          </a:xfrm>
        </p:spPr>
      </p:pic>
      <p:sp>
        <p:nvSpPr>
          <p:cNvPr id="7" name="TextBox 6"/>
          <p:cNvSpPr txBox="1"/>
          <p:nvPr/>
        </p:nvSpPr>
        <p:spPr>
          <a:xfrm>
            <a:off x="515946" y="939942"/>
            <a:ext cx="7069998" cy="646331"/>
          </a:xfrm>
          <a:prstGeom prst="rect">
            <a:avLst/>
          </a:prstGeom>
          <a:noFill/>
        </p:spPr>
        <p:txBody>
          <a:bodyPr wrap="square" rtlCol="0">
            <a:spAutoFit/>
          </a:bodyPr>
          <a:lstStyle/>
          <a:p>
            <a:r>
              <a:rPr lang="en-AU" dirty="0"/>
              <a:t>At the moment of completion, there will be two tokens in the end event (lack of synchronization)</a:t>
            </a:r>
          </a:p>
        </p:txBody>
      </p:sp>
      <p:sp>
        <p:nvSpPr>
          <p:cNvPr id="6" name="Rectangle 5"/>
          <p:cNvSpPr/>
          <p:nvPr/>
        </p:nvSpPr>
        <p:spPr>
          <a:xfrm>
            <a:off x="6584702" y="4418749"/>
            <a:ext cx="429104" cy="2758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0077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Example: dead activity</a:t>
            </a:r>
          </a:p>
        </p:txBody>
      </p:sp>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31</a:t>
            </a:fld>
            <a:endParaRPr lang="en-AU">
              <a:solidFill>
                <a:prstClr val="black">
                  <a:lumMod val="50000"/>
                  <a:lumOff val="50000"/>
                </a:prstClr>
              </a:solidFill>
            </a:endParaRP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2026" y="1714283"/>
            <a:ext cx="7324725" cy="3486150"/>
          </a:xfrm>
        </p:spPr>
      </p:pic>
      <p:sp>
        <p:nvSpPr>
          <p:cNvPr id="9" name="TextBox 8"/>
          <p:cNvSpPr txBox="1"/>
          <p:nvPr/>
        </p:nvSpPr>
        <p:spPr>
          <a:xfrm>
            <a:off x="515947" y="939942"/>
            <a:ext cx="7010381" cy="369332"/>
          </a:xfrm>
          <a:prstGeom prst="rect">
            <a:avLst/>
          </a:prstGeom>
          <a:noFill/>
        </p:spPr>
        <p:txBody>
          <a:bodyPr wrap="none" rtlCol="0">
            <a:spAutoFit/>
          </a:bodyPr>
          <a:lstStyle/>
          <a:p>
            <a:r>
              <a:rPr lang="en-AU" dirty="0"/>
              <a:t>Even if this model can always complete, Activity D will never be executed</a:t>
            </a:r>
          </a:p>
        </p:txBody>
      </p:sp>
      <p:sp>
        <p:nvSpPr>
          <p:cNvPr id="10" name="TextBox 9"/>
          <p:cNvSpPr txBox="1"/>
          <p:nvPr/>
        </p:nvSpPr>
        <p:spPr>
          <a:xfrm>
            <a:off x="515947" y="5785360"/>
            <a:ext cx="8389925" cy="646331"/>
          </a:xfrm>
          <a:prstGeom prst="rect">
            <a:avLst/>
          </a:prstGeom>
          <a:noFill/>
        </p:spPr>
        <p:txBody>
          <a:bodyPr wrap="none" rtlCol="0">
            <a:spAutoFit/>
          </a:bodyPr>
          <a:lstStyle/>
          <a:p>
            <a:r>
              <a:rPr lang="en-AU" dirty="0"/>
              <a:t>Note: this model also suffers from lack of synchronization, as a token will be left behind</a:t>
            </a:r>
          </a:p>
          <a:p>
            <a:r>
              <a:rPr lang="en-AU" dirty="0"/>
              <a:t>(stuck before the AND-join) when the end event is reached</a:t>
            </a:r>
          </a:p>
        </p:txBody>
      </p:sp>
    </p:spTree>
    <p:extLst>
      <p:ext uri="{BB962C8B-B14F-4D97-AF65-F5344CB8AC3E}">
        <p14:creationId xmlns:p14="http://schemas.microsoft.com/office/powerpoint/2010/main" val="826672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5364" y="2107706"/>
            <a:ext cx="8762010" cy="2612275"/>
          </a:xfrm>
        </p:spPr>
      </p:pic>
      <p:sp>
        <p:nvSpPr>
          <p:cNvPr id="3" name="Title 2"/>
          <p:cNvSpPr>
            <a:spLocks noGrp="1"/>
          </p:cNvSpPr>
          <p:nvPr>
            <p:ph type="title"/>
          </p:nvPr>
        </p:nvSpPr>
        <p:spPr/>
        <p:txBody>
          <a:bodyPr/>
          <a:lstStyle/>
          <a:p>
            <a:r>
              <a:rPr lang="en-AU" dirty="0"/>
              <a:t>Example: </a:t>
            </a:r>
            <a:r>
              <a:rPr lang="en-AU" dirty="0" err="1"/>
              <a:t>behavioral</a:t>
            </a:r>
            <a:r>
              <a:rPr lang="en-AU" dirty="0"/>
              <a:t> correctness</a:t>
            </a:r>
          </a:p>
        </p:txBody>
      </p:sp>
      <p:sp>
        <p:nvSpPr>
          <p:cNvPr id="5" name="Oval 6"/>
          <p:cNvSpPr>
            <a:spLocks noChangeArrowheads="1"/>
          </p:cNvSpPr>
          <p:nvPr/>
        </p:nvSpPr>
        <p:spPr bwMode="auto">
          <a:xfrm>
            <a:off x="6749745" y="3153494"/>
            <a:ext cx="511175" cy="520700"/>
          </a:xfrm>
          <a:prstGeom prst="ellipse">
            <a:avLst/>
          </a:prstGeom>
          <a:noFill/>
          <a:ln w="38100">
            <a:solidFill>
              <a:srgbClr val="C00000"/>
            </a:solidFill>
            <a:round/>
            <a:headEnd/>
            <a:tailEnd/>
          </a:ln>
          <a:effectLst/>
        </p:spPr>
        <p:txBody>
          <a:bodyPr wrap="none" anchor="ctr"/>
          <a:lstStyle/>
          <a:p>
            <a:endParaRPr lang="en-AU">
              <a:solidFill>
                <a:prstClr val="black"/>
              </a:solidFill>
            </a:endParaRPr>
          </a:p>
        </p:txBody>
      </p:sp>
      <p:sp>
        <p:nvSpPr>
          <p:cNvPr id="8" name="Rectangle 7"/>
          <p:cNvSpPr>
            <a:spLocks noChangeArrowheads="1"/>
          </p:cNvSpPr>
          <p:nvPr/>
        </p:nvSpPr>
        <p:spPr bwMode="auto">
          <a:xfrm>
            <a:off x="467544" y="980392"/>
            <a:ext cx="3654334" cy="461665"/>
          </a:xfrm>
          <a:prstGeom prst="rect">
            <a:avLst/>
          </a:prstGeom>
          <a:noFill/>
          <a:ln w="9525">
            <a:noFill/>
            <a:miter lim="800000"/>
            <a:headEnd/>
            <a:tailEnd/>
          </a:ln>
          <a:effec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2400" b="1" dirty="0">
                <a:solidFill>
                  <a:prstClr val="black">
                    <a:lumMod val="75000"/>
                    <a:lumOff val="25000"/>
                  </a:prstClr>
                </a:solidFill>
              </a:rPr>
              <a:t>Fulfilment of special orders</a:t>
            </a:r>
          </a:p>
        </p:txBody>
      </p:sp>
    </p:spTree>
    <p:extLst>
      <p:ext uri="{BB962C8B-B14F-4D97-AF65-F5344CB8AC3E}">
        <p14:creationId xmlns:p14="http://schemas.microsoft.com/office/powerpoint/2010/main" val="248719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1970" name="Object 2"/>
          <p:cNvGraphicFramePr>
            <a:graphicFrameLocks noGrp="1" noChangeAspect="1"/>
          </p:cNvGraphicFramePr>
          <p:nvPr>
            <p:ph idx="1"/>
          </p:nvPr>
        </p:nvGraphicFramePr>
        <p:xfrm>
          <a:off x="216432" y="1598702"/>
          <a:ext cx="8419565" cy="3527870"/>
        </p:xfrm>
        <a:graphic>
          <a:graphicData uri="http://schemas.openxmlformats.org/presentationml/2006/ole">
            <mc:AlternateContent xmlns:mc="http://schemas.openxmlformats.org/markup-compatibility/2006">
              <mc:Choice xmlns:v="urn:schemas-microsoft-com:vml" Requires="v">
                <p:oleObj name="Visio" r:id="rId3" imgW="14561280" imgH="6101065" progId="Visio.Drawing.11">
                  <p:embed/>
                </p:oleObj>
              </mc:Choice>
              <mc:Fallback>
                <p:oleObj name="Visio" r:id="rId3" imgW="14561280" imgH="6101065" progId="Visio.Drawing.11">
                  <p:embed/>
                  <p:pic>
                    <p:nvPicPr>
                      <p:cNvPr id="0" name=""/>
                      <p:cNvPicPr>
                        <a:picLocks noChangeAspect="1" noChangeArrowheads="1"/>
                      </p:cNvPicPr>
                      <p:nvPr/>
                    </p:nvPicPr>
                    <p:blipFill>
                      <a:blip r:embed="rId4"/>
                      <a:srcRect/>
                      <a:stretch>
                        <a:fillRect/>
                      </a:stretch>
                    </p:blipFill>
                    <p:spPr bwMode="auto">
                      <a:xfrm>
                        <a:off x="216432" y="1598702"/>
                        <a:ext cx="8419565" cy="3527870"/>
                      </a:xfrm>
                      <a:prstGeom prst="rect">
                        <a:avLst/>
                      </a:prstGeom>
                      <a:noFill/>
                      <a:ln>
                        <a:noFill/>
                      </a:ln>
                      <a:effectLst/>
                    </p:spPr>
                  </p:pic>
                </p:oleObj>
              </mc:Fallback>
            </mc:AlternateContent>
          </a:graphicData>
        </a:graphic>
      </p:graphicFrame>
      <p:sp>
        <p:nvSpPr>
          <p:cNvPr id="2" name="Title 1"/>
          <p:cNvSpPr>
            <a:spLocks noGrp="1"/>
          </p:cNvSpPr>
          <p:nvPr>
            <p:ph type="title"/>
          </p:nvPr>
        </p:nvSpPr>
        <p:spPr/>
        <p:txBody>
          <a:bodyPr/>
          <a:lstStyle/>
          <a:p>
            <a:r>
              <a:rPr lang="en-AU" dirty="0"/>
              <a:t>Find the bugs…</a:t>
            </a:r>
          </a:p>
        </p:txBody>
      </p:sp>
      <p:sp>
        <p:nvSpPr>
          <p:cNvPr id="4" name="Oval 6"/>
          <p:cNvSpPr>
            <a:spLocks noChangeArrowheads="1"/>
          </p:cNvSpPr>
          <p:nvPr/>
        </p:nvSpPr>
        <p:spPr bwMode="auto">
          <a:xfrm>
            <a:off x="71089" y="2595539"/>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5" name="Rectangle 9"/>
          <p:cNvSpPr>
            <a:spLocks noChangeArrowheads="1"/>
          </p:cNvSpPr>
          <p:nvPr/>
        </p:nvSpPr>
        <p:spPr bwMode="auto">
          <a:xfrm>
            <a:off x="-7933" y="2244239"/>
            <a:ext cx="1582733" cy="338554"/>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No Start Event</a:t>
            </a:r>
          </a:p>
        </p:txBody>
      </p:sp>
      <p:sp>
        <p:nvSpPr>
          <p:cNvPr id="6" name="Oval 6"/>
          <p:cNvSpPr>
            <a:spLocks noChangeArrowheads="1"/>
          </p:cNvSpPr>
          <p:nvPr/>
        </p:nvSpPr>
        <p:spPr bwMode="auto">
          <a:xfrm>
            <a:off x="1826509" y="2582793"/>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7" name="Rectangle 9"/>
          <p:cNvSpPr>
            <a:spLocks noChangeArrowheads="1"/>
          </p:cNvSpPr>
          <p:nvPr/>
        </p:nvSpPr>
        <p:spPr bwMode="auto">
          <a:xfrm>
            <a:off x="1278029" y="3116239"/>
            <a:ext cx="1582733" cy="338554"/>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Split or Join?</a:t>
            </a:r>
          </a:p>
        </p:txBody>
      </p:sp>
      <p:sp>
        <p:nvSpPr>
          <p:cNvPr id="8" name="Oval 6"/>
          <p:cNvSpPr>
            <a:spLocks noChangeArrowheads="1"/>
          </p:cNvSpPr>
          <p:nvPr/>
        </p:nvSpPr>
        <p:spPr bwMode="auto">
          <a:xfrm>
            <a:off x="4782786" y="2582793"/>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9" name="Rectangle 9"/>
          <p:cNvSpPr>
            <a:spLocks noChangeArrowheads="1"/>
          </p:cNvSpPr>
          <p:nvPr/>
        </p:nvSpPr>
        <p:spPr bwMode="auto">
          <a:xfrm>
            <a:off x="4520849" y="3086205"/>
            <a:ext cx="1035047" cy="584775"/>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May deadlock</a:t>
            </a:r>
          </a:p>
        </p:txBody>
      </p:sp>
      <p:sp>
        <p:nvSpPr>
          <p:cNvPr id="10" name="Oval 6"/>
          <p:cNvSpPr>
            <a:spLocks noChangeArrowheads="1"/>
          </p:cNvSpPr>
          <p:nvPr/>
        </p:nvSpPr>
        <p:spPr bwMode="auto">
          <a:xfrm>
            <a:off x="5311780" y="2579009"/>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11" name="Rectangle 9"/>
          <p:cNvSpPr>
            <a:spLocks noChangeArrowheads="1"/>
          </p:cNvSpPr>
          <p:nvPr/>
        </p:nvSpPr>
        <p:spPr bwMode="auto">
          <a:xfrm>
            <a:off x="5353053" y="2231690"/>
            <a:ext cx="1035047" cy="338554"/>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What??</a:t>
            </a:r>
          </a:p>
        </p:txBody>
      </p:sp>
      <p:sp>
        <p:nvSpPr>
          <p:cNvPr id="12" name="Oval 6"/>
          <p:cNvSpPr>
            <a:spLocks noChangeArrowheads="1"/>
          </p:cNvSpPr>
          <p:nvPr/>
        </p:nvSpPr>
        <p:spPr bwMode="auto">
          <a:xfrm>
            <a:off x="6632579" y="2595539"/>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13" name="Rectangle 9"/>
          <p:cNvSpPr>
            <a:spLocks noChangeArrowheads="1"/>
          </p:cNvSpPr>
          <p:nvPr/>
        </p:nvSpPr>
        <p:spPr bwMode="auto">
          <a:xfrm>
            <a:off x="6675445" y="2032379"/>
            <a:ext cx="1035047" cy="584775"/>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Trivial Gateway</a:t>
            </a:r>
          </a:p>
        </p:txBody>
      </p:sp>
      <p:sp>
        <p:nvSpPr>
          <p:cNvPr id="14" name="Oval 6"/>
          <p:cNvSpPr>
            <a:spLocks noChangeArrowheads="1"/>
          </p:cNvSpPr>
          <p:nvPr/>
        </p:nvSpPr>
        <p:spPr bwMode="auto">
          <a:xfrm>
            <a:off x="5359401" y="4242684"/>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15" name="Rectangle 9"/>
          <p:cNvSpPr>
            <a:spLocks noChangeArrowheads="1"/>
          </p:cNvSpPr>
          <p:nvPr/>
        </p:nvSpPr>
        <p:spPr bwMode="auto">
          <a:xfrm>
            <a:off x="5159741" y="4820897"/>
            <a:ext cx="1638295" cy="584775"/>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Lack of </a:t>
            </a:r>
          </a:p>
          <a:p>
            <a:pPr algn="ctr" eaLnBrk="0" fontAlgn="base" hangingPunct="0">
              <a:spcBef>
                <a:spcPct val="0"/>
              </a:spcBef>
              <a:spcAft>
                <a:spcPct val="0"/>
              </a:spcAft>
            </a:pPr>
            <a:r>
              <a:rPr lang="en-AU" sz="1600" dirty="0">
                <a:solidFill>
                  <a:srgbClr val="FF0000"/>
                </a:solidFill>
                <a:ea typeface="ＭＳ Ｐゴシック" pitchFamily="34" charset="-128"/>
              </a:rPr>
              <a:t>synchronization</a:t>
            </a:r>
          </a:p>
        </p:txBody>
      </p:sp>
      <p:sp>
        <p:nvSpPr>
          <p:cNvPr id="17" name="Oval 6"/>
          <p:cNvSpPr>
            <a:spLocks noChangeArrowheads="1"/>
          </p:cNvSpPr>
          <p:nvPr/>
        </p:nvSpPr>
        <p:spPr bwMode="auto">
          <a:xfrm>
            <a:off x="7122940" y="4699720"/>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18" name="Rectangle 9"/>
          <p:cNvSpPr>
            <a:spLocks noChangeArrowheads="1"/>
          </p:cNvSpPr>
          <p:nvPr/>
        </p:nvSpPr>
        <p:spPr bwMode="auto">
          <a:xfrm>
            <a:off x="6632579" y="5220420"/>
            <a:ext cx="1638295" cy="584775"/>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Disconnected node</a:t>
            </a:r>
          </a:p>
        </p:txBody>
      </p:sp>
      <p:sp>
        <p:nvSpPr>
          <p:cNvPr id="19" name="Oval 6"/>
          <p:cNvSpPr>
            <a:spLocks noChangeArrowheads="1"/>
          </p:cNvSpPr>
          <p:nvPr/>
        </p:nvSpPr>
        <p:spPr bwMode="auto">
          <a:xfrm>
            <a:off x="8349187" y="4213722"/>
            <a:ext cx="511175" cy="520700"/>
          </a:xfrm>
          <a:prstGeom prst="ellipse">
            <a:avLst/>
          </a:prstGeom>
          <a:noFill/>
          <a:ln w="38100">
            <a:solidFill>
              <a:srgbClr val="FF0000"/>
            </a:solidFill>
            <a:round/>
            <a:headEnd/>
            <a:tailEnd/>
          </a:ln>
          <a:effectLst/>
        </p:spPr>
        <p:txBody>
          <a:bodyPr wrap="none" anchor="ctr"/>
          <a:lstStyle/>
          <a:p>
            <a:pPr algn="ctr" eaLnBrk="0" fontAlgn="base" hangingPunct="0">
              <a:spcBef>
                <a:spcPct val="0"/>
              </a:spcBef>
              <a:spcAft>
                <a:spcPct val="0"/>
              </a:spcAft>
            </a:pPr>
            <a:endParaRPr lang="en-AU" sz="2200">
              <a:solidFill>
                <a:prstClr val="black"/>
              </a:solidFill>
              <a:ea typeface="ＭＳ Ｐゴシック" pitchFamily="34" charset="-128"/>
            </a:endParaRPr>
          </a:p>
        </p:txBody>
      </p:sp>
      <p:sp>
        <p:nvSpPr>
          <p:cNvPr id="20" name="Rectangle 9"/>
          <p:cNvSpPr>
            <a:spLocks noChangeArrowheads="1"/>
          </p:cNvSpPr>
          <p:nvPr/>
        </p:nvSpPr>
        <p:spPr bwMode="auto">
          <a:xfrm>
            <a:off x="7451726" y="3821572"/>
            <a:ext cx="1582733" cy="338554"/>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1600" dirty="0">
                <a:solidFill>
                  <a:srgbClr val="FF0000"/>
                </a:solidFill>
                <a:ea typeface="ＭＳ Ｐゴシック" pitchFamily="34" charset="-128"/>
              </a:rPr>
              <a:t>No End Event</a:t>
            </a:r>
          </a:p>
        </p:txBody>
      </p:sp>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33</a:t>
            </a:fld>
            <a:endParaRPr lang="en-AU">
              <a:solidFill>
                <a:prstClr val="black">
                  <a:lumMod val="50000"/>
                  <a:lumOff val="50000"/>
                </a:prstClr>
              </a:solidFill>
            </a:endParaRPr>
          </a:p>
        </p:txBody>
      </p:sp>
    </p:spTree>
    <p:extLst>
      <p:ext uri="{BB962C8B-B14F-4D97-AF65-F5344CB8AC3E}">
        <p14:creationId xmlns:p14="http://schemas.microsoft.com/office/powerpoint/2010/main" val="5870866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10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10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10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10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10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0" grpId="0" animBg="1"/>
      <p:bldP spid="11" grpId="0"/>
      <p:bldP spid="12" grpId="0" animBg="1"/>
      <p:bldP spid="13" grpId="0"/>
      <p:bldP spid="14" grpId="0" animBg="1"/>
      <p:bldP spid="15" grpId="0"/>
      <p:bldP spid="17" grpId="0" animBg="1"/>
      <p:bldP spid="18" grpId="0"/>
      <p:bldP spid="19" grpId="0" animBg="1"/>
      <p:bldP spid="2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0694" y="960439"/>
            <a:ext cx="8661042" cy="4824536"/>
          </a:xfrm>
        </p:spPr>
        <p:txBody>
          <a:bodyPr>
            <a:normAutofit/>
          </a:bodyPr>
          <a:lstStyle/>
          <a:p>
            <a:pPr marL="0" indent="0">
              <a:buNone/>
            </a:pPr>
            <a:r>
              <a:rPr lang="en-AU" b="1" dirty="0"/>
              <a:t>Semantics</a:t>
            </a:r>
          </a:p>
          <a:p>
            <a:pPr marL="179388" indent="0">
              <a:buNone/>
            </a:pPr>
            <a:r>
              <a:rPr lang="en-AU" dirty="0"/>
              <a:t>Meaning of the various elements</a:t>
            </a:r>
          </a:p>
          <a:p>
            <a:pPr marL="538163" lvl="1" indent="-179388"/>
            <a:r>
              <a:rPr lang="en-AU" sz="2100" dirty="0"/>
              <a:t>Activities model something actively performed during the process</a:t>
            </a:r>
          </a:p>
          <a:p>
            <a:pPr marL="538163" lvl="1" indent="-179388"/>
            <a:r>
              <a:rPr lang="en-AU" sz="2100" dirty="0"/>
              <a:t>Events model something instantaneous during the process</a:t>
            </a:r>
          </a:p>
          <a:p>
            <a:pPr marL="538163" lvl="1" indent="-179388"/>
            <a:r>
              <a:rPr lang="en-AU" sz="2100" dirty="0"/>
              <a:t>AND gateways model parallelism</a:t>
            </a:r>
          </a:p>
          <a:p>
            <a:pPr marL="538163" lvl="1" indent="-179388"/>
            <a:r>
              <a:rPr lang="en-AU" sz="2100" dirty="0"/>
              <a:t>XOR gateways model exclusive decisions and simple merging points</a:t>
            </a:r>
          </a:p>
          <a:p>
            <a:pPr marL="538163" lvl="1" indent="-179388"/>
            <a:r>
              <a:rPr lang="en-AU" sz="2100" dirty="0"/>
              <a:t>OR gateways model inclusive decisions and synchronizing merging points</a:t>
            </a:r>
          </a:p>
          <a:p>
            <a:pPr marL="179388" indent="0">
              <a:buNone/>
            </a:pPr>
            <a:r>
              <a:rPr lang="en-AU" dirty="0"/>
              <a:t>Meaning of the whole business process model</a:t>
            </a:r>
          </a:p>
          <a:p>
            <a:pPr marL="538163" lvl="1" indent="-179388"/>
            <a:r>
              <a:rPr lang="en-AU" sz="2100" dirty="0"/>
              <a:t>This model captures an order fulfilment process that takes place at a seller. The model starts with the receipt of an order…</a:t>
            </a:r>
          </a:p>
          <a:p>
            <a:pPr lvl="1"/>
            <a:endParaRPr lang="en-AU" dirty="0"/>
          </a:p>
          <a:p>
            <a:pPr marL="0" indent="0">
              <a:buNone/>
            </a:pPr>
            <a:r>
              <a:rPr lang="en-AU" b="1" dirty="0"/>
              <a:t>Notation</a:t>
            </a:r>
          </a:p>
        </p:txBody>
      </p:sp>
      <p:sp>
        <p:nvSpPr>
          <p:cNvPr id="3" name="Title 2"/>
          <p:cNvSpPr>
            <a:spLocks noGrp="1"/>
          </p:cNvSpPr>
          <p:nvPr>
            <p:ph type="title"/>
          </p:nvPr>
        </p:nvSpPr>
        <p:spPr>
          <a:xfrm>
            <a:off x="181855" y="222788"/>
            <a:ext cx="8064896" cy="792088"/>
          </a:xfrm>
        </p:spPr>
        <p:txBody>
          <a:bodyPr/>
          <a:lstStyle/>
          <a:p>
            <a:r>
              <a:rPr lang="en-AU" dirty="0"/>
              <a:t>In BPMN?</a:t>
            </a:r>
          </a:p>
        </p:txBody>
      </p:sp>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34</a:t>
            </a:fld>
            <a:endParaRPr lang="en-AU">
              <a:solidFill>
                <a:prstClr val="black">
                  <a:lumMod val="50000"/>
                  <a:lumOff val="50000"/>
                </a:prstClr>
              </a:solidFill>
            </a:endParaRPr>
          </a:p>
        </p:txBody>
      </p:sp>
      <p:graphicFrame>
        <p:nvGraphicFramePr>
          <p:cNvPr id="5" name="Object 8"/>
          <p:cNvGraphicFramePr>
            <a:graphicFrameLocks noChangeAspect="1"/>
          </p:cNvGraphicFramePr>
          <p:nvPr>
            <p:extLst>
              <p:ext uri="{D42A27DB-BD31-4B8C-83A1-F6EECF244321}">
                <p14:modId xmlns:p14="http://schemas.microsoft.com/office/powerpoint/2010/main" val="2045384170"/>
              </p:ext>
            </p:extLst>
          </p:nvPr>
        </p:nvGraphicFramePr>
        <p:xfrm>
          <a:off x="980987" y="5705149"/>
          <a:ext cx="899826" cy="609331"/>
        </p:xfrm>
        <a:graphic>
          <a:graphicData uri="http://schemas.openxmlformats.org/presentationml/2006/ole">
            <mc:AlternateContent xmlns:mc="http://schemas.openxmlformats.org/markup-compatibility/2006">
              <mc:Choice xmlns:v="urn:schemas-microsoft-com:vml" Requires="v">
                <p:oleObj name="Visio" r:id="rId2" imgW="1117640" imgH="757595" progId="Visio.Drawing.11">
                  <p:embed/>
                </p:oleObj>
              </mc:Choice>
              <mc:Fallback>
                <p:oleObj name="Visio" r:id="rId2" imgW="1117640" imgH="757595"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987" y="5705149"/>
                        <a:ext cx="899826" cy="609331"/>
                      </a:xfrm>
                      <a:prstGeom prst="rect">
                        <a:avLst/>
                      </a:prstGeom>
                      <a:noFill/>
                      <a:ln>
                        <a:noFill/>
                      </a:ln>
                      <a:effec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2001007661"/>
              </p:ext>
            </p:extLst>
          </p:nvPr>
        </p:nvGraphicFramePr>
        <p:xfrm>
          <a:off x="3681473" y="5730389"/>
          <a:ext cx="588075" cy="588075"/>
        </p:xfrm>
        <a:graphic>
          <a:graphicData uri="http://schemas.openxmlformats.org/presentationml/2006/ole">
            <mc:AlternateContent xmlns:mc="http://schemas.openxmlformats.org/markup-compatibility/2006">
              <mc:Choice xmlns:v="urn:schemas-microsoft-com:vml" Requires="v">
                <p:oleObj name="Visio" r:id="rId4" imgW="577572" imgH="577572" progId="Visio.Drawing.11">
                  <p:embed/>
                </p:oleObj>
              </mc:Choice>
              <mc:Fallback>
                <p:oleObj name="Visio" r:id="rId4" imgW="577572" imgH="577572"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1473" y="5730389"/>
                        <a:ext cx="588075" cy="588075"/>
                      </a:xfrm>
                      <a:prstGeom prst="rect">
                        <a:avLst/>
                      </a:prstGeom>
                      <a:noFill/>
                      <a:ln>
                        <a:noFill/>
                      </a:ln>
                      <a:effectLst/>
                    </p:spPr>
                  </p:pic>
                </p:oleObj>
              </mc:Fallback>
            </mc:AlternateContent>
          </a:graphicData>
        </a:graphic>
      </p:graphicFrame>
      <p:graphicFrame>
        <p:nvGraphicFramePr>
          <p:cNvPr id="7" name="Object 10"/>
          <p:cNvGraphicFramePr>
            <a:graphicFrameLocks noChangeAspect="1"/>
          </p:cNvGraphicFramePr>
          <p:nvPr>
            <p:extLst>
              <p:ext uri="{D42A27DB-BD31-4B8C-83A1-F6EECF244321}">
                <p14:modId xmlns:p14="http://schemas.microsoft.com/office/powerpoint/2010/main" val="1341846407"/>
              </p:ext>
            </p:extLst>
          </p:nvPr>
        </p:nvGraphicFramePr>
        <p:xfrm>
          <a:off x="2276790" y="5825155"/>
          <a:ext cx="369318" cy="369318"/>
        </p:xfrm>
        <a:graphic>
          <a:graphicData uri="http://schemas.openxmlformats.org/presentationml/2006/ole">
            <mc:AlternateContent xmlns:mc="http://schemas.openxmlformats.org/markup-compatibility/2006">
              <mc:Choice xmlns:v="urn:schemas-microsoft-com:vml" Requires="v">
                <p:oleObj name="Visio" r:id="rId6" imgW="397550" imgH="397550" progId="Visio.Drawing.11">
                  <p:embed/>
                </p:oleObj>
              </mc:Choice>
              <mc:Fallback>
                <p:oleObj name="Visio" r:id="rId6" imgW="397550" imgH="397550"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6790" y="5825155"/>
                        <a:ext cx="369318" cy="369318"/>
                      </a:xfrm>
                      <a:prstGeom prst="rect">
                        <a:avLst/>
                      </a:prstGeom>
                      <a:noFill/>
                      <a:ln>
                        <a:noFill/>
                      </a:ln>
                      <a:effec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1686785302"/>
              </p:ext>
            </p:extLst>
          </p:nvPr>
        </p:nvGraphicFramePr>
        <p:xfrm>
          <a:off x="2964518" y="5825155"/>
          <a:ext cx="398545" cy="398545"/>
        </p:xfrm>
        <a:graphic>
          <a:graphicData uri="http://schemas.openxmlformats.org/presentationml/2006/ole">
            <mc:AlternateContent xmlns:mc="http://schemas.openxmlformats.org/markup-compatibility/2006">
              <mc:Choice xmlns:v="urn:schemas-microsoft-com:vml" Requires="v">
                <p:oleObj name="Visio" r:id="rId8" imgW="428054" imgH="428387" progId="Visio.Drawing.11">
                  <p:embed/>
                </p:oleObj>
              </mc:Choice>
              <mc:Fallback>
                <p:oleObj name="Visio" r:id="rId8" imgW="428054" imgH="428387" progId="Visio.Drawing.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4518" y="5825155"/>
                        <a:ext cx="398545" cy="398545"/>
                      </a:xfrm>
                      <a:prstGeom prst="rect">
                        <a:avLst/>
                      </a:prstGeom>
                      <a:noFill/>
                      <a:ln>
                        <a:noFill/>
                      </a:ln>
                      <a:effec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868946667"/>
              </p:ext>
            </p:extLst>
          </p:nvPr>
        </p:nvGraphicFramePr>
        <p:xfrm>
          <a:off x="4596389" y="5954459"/>
          <a:ext cx="708524" cy="139933"/>
        </p:xfrm>
        <a:graphic>
          <a:graphicData uri="http://schemas.openxmlformats.org/presentationml/2006/ole">
            <mc:AlternateContent xmlns:mc="http://schemas.openxmlformats.org/markup-compatibility/2006">
              <mc:Choice xmlns:v="urn:schemas-microsoft-com:vml" Requires="v">
                <p:oleObj name="Visio" r:id="rId10" imgW="498062" imgH="98762" progId="Visio.Drawing.11">
                  <p:embed/>
                </p:oleObj>
              </mc:Choice>
              <mc:Fallback>
                <p:oleObj name="Visio" r:id="rId10" imgW="498062" imgH="98762" progId="Visio.Drawing.11">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96389" y="5954459"/>
                        <a:ext cx="708524" cy="13993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27227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Example: semantic correctness</a:t>
            </a:r>
          </a:p>
        </p:txBody>
      </p:sp>
      <p:sp>
        <p:nvSpPr>
          <p:cNvPr id="5" name="Rectangle 4"/>
          <p:cNvSpPr/>
          <p:nvPr/>
        </p:nvSpPr>
        <p:spPr>
          <a:xfrm>
            <a:off x="541940" y="5714849"/>
            <a:ext cx="7883038" cy="830997"/>
          </a:xfrm>
          <a:prstGeom prst="rect">
            <a:avLst/>
          </a:prstGeom>
        </p:spPr>
        <p:txBody>
          <a:bodyPr wrap="square">
            <a:spAutoFit/>
          </a:bodyPr>
          <a:lstStyle/>
          <a:p>
            <a:pPr>
              <a:spcBef>
                <a:spcPct val="20000"/>
              </a:spcBef>
              <a:buClr>
                <a:prstClr val="black">
                  <a:lumMod val="50000"/>
                  <a:lumOff val="50000"/>
                </a:prstClr>
              </a:buClr>
            </a:pPr>
            <a:r>
              <a:rPr lang="en-AU" sz="2400" dirty="0">
                <a:solidFill>
                  <a:prstClr val="black">
                    <a:lumMod val="75000"/>
                    <a:lumOff val="25000"/>
                  </a:prstClr>
                </a:solidFill>
              </a:rPr>
              <a:t>It is </a:t>
            </a:r>
            <a:r>
              <a:rPr lang="en-AU" sz="2400" b="1" dirty="0">
                <a:solidFill>
                  <a:prstClr val="black">
                    <a:lumMod val="75000"/>
                    <a:lumOff val="25000"/>
                  </a:prstClr>
                </a:solidFill>
              </a:rPr>
              <a:t>not possible </a:t>
            </a:r>
            <a:r>
              <a:rPr lang="en-AU" sz="2400" dirty="0">
                <a:solidFill>
                  <a:prstClr val="black">
                    <a:lumMod val="75000"/>
                    <a:lumOff val="25000"/>
                  </a:prstClr>
                </a:solidFill>
              </a:rPr>
              <a:t>that products are neither in the Amsterdam nor in the Hamburg warehouse.</a:t>
            </a:r>
          </a:p>
        </p:txBody>
      </p:sp>
      <p:sp>
        <p:nvSpPr>
          <p:cNvPr id="6" name="Rectangle 5"/>
          <p:cNvSpPr>
            <a:spLocks noChangeArrowheads="1"/>
          </p:cNvSpPr>
          <p:nvPr/>
        </p:nvSpPr>
        <p:spPr bwMode="auto">
          <a:xfrm>
            <a:off x="467544" y="958761"/>
            <a:ext cx="3704068" cy="461665"/>
          </a:xfrm>
          <a:prstGeom prst="rect">
            <a:avLst/>
          </a:prstGeom>
          <a:noFill/>
          <a:ln w="9525">
            <a:noFill/>
            <a:miter lim="800000"/>
            <a:headEnd/>
            <a:tailEnd/>
          </a:ln>
          <a:effectLst/>
        </p:spPr>
        <p:txBody>
          <a:bodyPr wrap="square">
            <a:spAutoFit/>
          </a:bodyPr>
          <a:lstStyle/>
          <a:p>
            <a:r>
              <a:rPr lang="en-AU" sz="2400" b="1" dirty="0">
                <a:solidFill>
                  <a:prstClr val="black">
                    <a:lumMod val="75000"/>
                    <a:lumOff val="25000"/>
                  </a:prstClr>
                </a:solidFill>
              </a:rPr>
              <a:t>Order distribution process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940" y="1620265"/>
            <a:ext cx="8224272" cy="4001164"/>
          </a:xfrm>
          <a:prstGeom prst="rect">
            <a:avLst/>
          </a:prstGeom>
        </p:spPr>
      </p:pic>
      <p:sp>
        <p:nvSpPr>
          <p:cNvPr id="8" name="Textfeld 3"/>
          <p:cNvSpPr txBox="1"/>
          <p:nvPr/>
        </p:nvSpPr>
        <p:spPr>
          <a:xfrm>
            <a:off x="541940" y="1713685"/>
            <a:ext cx="958484" cy="404854"/>
          </a:xfrm>
          <a:prstGeom prst="rect">
            <a:avLst/>
          </a:prstGeom>
          <a:solidFill>
            <a:srgbClr val="FFC000"/>
          </a:solidFill>
        </p:spPr>
        <p:txBody>
          <a:bodyPr wrap="square" rtlCol="0">
            <a:spAutoFit/>
          </a:bodyPr>
          <a:lstStyle/>
          <a:p>
            <a:pPr eaLnBrk="0" fontAlgn="base" hangingPunct="0">
              <a:spcBef>
                <a:spcPct val="0"/>
              </a:spcBef>
              <a:spcAft>
                <a:spcPct val="0"/>
              </a:spcAft>
            </a:pPr>
            <a:r>
              <a:rPr lang="de-DE" sz="2031" b="1" dirty="0">
                <a:solidFill>
                  <a:prstClr val="black"/>
                </a:solidFill>
                <a:ea typeface="ＭＳ Ｐゴシック" pitchFamily="34" charset="-128"/>
              </a:rPr>
              <a:t>Invalid</a:t>
            </a:r>
          </a:p>
        </p:txBody>
      </p:sp>
      <p:sp>
        <p:nvSpPr>
          <p:cNvPr id="9" name="Slide Number Placeholder 2"/>
          <p:cNvSpPr>
            <a:spLocks noGrp="1"/>
          </p:cNvSpPr>
          <p:nvPr>
            <p:ph type="sldNum" sz="quarter" idx="11"/>
          </p:nvPr>
        </p:nvSpPr>
        <p:spPr>
          <a:xfrm>
            <a:off x="8246751" y="6625771"/>
            <a:ext cx="533400" cy="152400"/>
          </a:xfrm>
        </p:spPr>
        <p:txBody>
          <a:bodyPr/>
          <a:lstStyle/>
          <a:p>
            <a:r>
              <a:rPr lang="en-AU" dirty="0">
                <a:solidFill>
                  <a:prstClr val="black">
                    <a:lumMod val="50000"/>
                    <a:lumOff val="50000"/>
                  </a:prstClr>
                </a:solidFill>
              </a:rPr>
              <a:t>36</a:t>
            </a:r>
          </a:p>
        </p:txBody>
      </p:sp>
    </p:spTree>
    <p:extLst>
      <p:ext uri="{BB962C8B-B14F-4D97-AF65-F5344CB8AC3E}">
        <p14:creationId xmlns:p14="http://schemas.microsoft.com/office/powerpoint/2010/main" val="87682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altLang="en-US" dirty="0"/>
              <a:t>What’s needed to create a model?</a:t>
            </a:r>
          </a:p>
        </p:txBody>
      </p:sp>
      <p:sp>
        <p:nvSpPr>
          <p:cNvPr id="23554" name="AutoShape 22"/>
          <p:cNvSpPr>
            <a:spLocks noChangeArrowheads="1"/>
          </p:cNvSpPr>
          <p:nvPr/>
        </p:nvSpPr>
        <p:spPr bwMode="auto">
          <a:xfrm>
            <a:off x="634512" y="3572590"/>
            <a:ext cx="4330211" cy="785279"/>
          </a:xfrm>
          <a:prstGeom prst="roundRect">
            <a:avLst>
              <a:gd name="adj" fmla="val 16667"/>
            </a:avLst>
          </a:prstGeom>
          <a:solidFill>
            <a:srgbClr val="FFC000"/>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2" name="Text Box 11"/>
          <p:cNvSpPr txBox="1">
            <a:spLocks noChangeArrowheads="1"/>
          </p:cNvSpPr>
          <p:nvPr/>
        </p:nvSpPr>
        <p:spPr bwMode="auto">
          <a:xfrm>
            <a:off x="764681" y="3618017"/>
            <a:ext cx="2784738"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Conventions</a:t>
            </a:r>
          </a:p>
        </p:txBody>
      </p:sp>
      <p:sp>
        <p:nvSpPr>
          <p:cNvPr id="23562" name="AutoShape 12"/>
          <p:cNvSpPr>
            <a:spLocks noChangeArrowheads="1"/>
          </p:cNvSpPr>
          <p:nvPr/>
        </p:nvSpPr>
        <p:spPr bwMode="auto">
          <a:xfrm>
            <a:off x="653562" y="4573262"/>
            <a:ext cx="4290646" cy="762000"/>
          </a:xfrm>
          <a:prstGeom prst="roundRect">
            <a:avLst>
              <a:gd name="adj" fmla="val 16667"/>
            </a:avLst>
          </a:prstGeom>
          <a:solidFill>
            <a:schemeClr val="bg1">
              <a:lumMod val="85000"/>
            </a:schemeClr>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5" name="Text Box 14"/>
          <p:cNvSpPr txBox="1">
            <a:spLocks noChangeArrowheads="1"/>
          </p:cNvSpPr>
          <p:nvPr/>
        </p:nvSpPr>
        <p:spPr bwMode="auto">
          <a:xfrm>
            <a:off x="734379" y="4590848"/>
            <a:ext cx="1834221"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Tool</a:t>
            </a:r>
          </a:p>
        </p:txBody>
      </p:sp>
      <p:sp>
        <p:nvSpPr>
          <p:cNvPr id="23565" name="AutoShape 15"/>
          <p:cNvSpPr>
            <a:spLocks noChangeArrowheads="1"/>
          </p:cNvSpPr>
          <p:nvPr/>
        </p:nvSpPr>
        <p:spPr bwMode="auto">
          <a:xfrm>
            <a:off x="6547338" y="2505123"/>
            <a:ext cx="1960685" cy="1390650"/>
          </a:xfrm>
          <a:prstGeom prst="roundRect">
            <a:avLst>
              <a:gd name="adj" fmla="val 16667"/>
            </a:avLst>
          </a:prstGeom>
          <a:solidFill>
            <a:srgbClr val="92D050"/>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7" name="Text Box 16"/>
          <p:cNvSpPr txBox="1">
            <a:spLocks noChangeArrowheads="1"/>
          </p:cNvSpPr>
          <p:nvPr/>
        </p:nvSpPr>
        <p:spPr bwMode="auto">
          <a:xfrm>
            <a:off x="7104167" y="3049113"/>
            <a:ext cx="867545"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a:t>
            </a:r>
          </a:p>
        </p:txBody>
      </p:sp>
      <p:sp>
        <p:nvSpPr>
          <p:cNvPr id="19" name="AutoShape 22"/>
          <p:cNvSpPr>
            <a:spLocks noChangeArrowheads="1"/>
          </p:cNvSpPr>
          <p:nvPr/>
        </p:nvSpPr>
        <p:spPr bwMode="auto">
          <a:xfrm>
            <a:off x="646235" y="3596036"/>
            <a:ext cx="4330211" cy="761833"/>
          </a:xfrm>
          <a:prstGeom prst="roundRect">
            <a:avLst>
              <a:gd name="adj" fmla="val 16667"/>
            </a:avLst>
          </a:prstGeom>
          <a:noFill/>
          <a:ln w="76200">
            <a:solidFill>
              <a:srgbClr val="C00000"/>
            </a:solidFill>
            <a:headEnd type="none" w="sm" len="sm"/>
            <a:tailEnd type="none" w="sm" len="sm"/>
          </a:ln>
        </p:spPr>
        <p:style>
          <a:lnRef idx="2">
            <a:schemeClr val="accent6"/>
          </a:lnRef>
          <a:fillRef idx="1">
            <a:schemeClr val="lt1"/>
          </a:fillRef>
          <a:effectRef idx="0">
            <a:schemeClr val="accent6"/>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36</a:t>
            </a:fld>
            <a:endParaRPr lang="en-AU">
              <a:solidFill>
                <a:prstClr val="black">
                  <a:lumMod val="50000"/>
                  <a:lumOff val="50000"/>
                </a:prstClr>
              </a:solidFill>
            </a:endParaRPr>
          </a:p>
        </p:txBody>
      </p:sp>
      <p:sp>
        <p:nvSpPr>
          <p:cNvPr id="21" name="AutoShape 23"/>
          <p:cNvSpPr>
            <a:spLocks/>
          </p:cNvSpPr>
          <p:nvPr/>
        </p:nvSpPr>
        <p:spPr bwMode="auto">
          <a:xfrm>
            <a:off x="5362341" y="1134319"/>
            <a:ext cx="915882" cy="4224762"/>
          </a:xfrm>
          <a:prstGeom prst="rightBrace">
            <a:avLst>
              <a:gd name="adj1" fmla="val 25164"/>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17" name="AutoShape 5"/>
          <p:cNvSpPr>
            <a:spLocks noChangeArrowheads="1"/>
          </p:cNvSpPr>
          <p:nvPr/>
        </p:nvSpPr>
        <p:spPr bwMode="auto">
          <a:xfrm>
            <a:off x="653562" y="1180618"/>
            <a:ext cx="4330212" cy="2200025"/>
          </a:xfrm>
          <a:prstGeom prst="roundRect">
            <a:avLst>
              <a:gd name="adj" fmla="val 16667"/>
            </a:avLst>
          </a:prstGeom>
          <a:solidFill>
            <a:srgbClr val="99CCFF"/>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 name="AutoShape 6"/>
          <p:cNvSpPr>
            <a:spLocks noChangeArrowheads="1"/>
          </p:cNvSpPr>
          <p:nvPr/>
        </p:nvSpPr>
        <p:spPr bwMode="auto">
          <a:xfrm>
            <a:off x="767862" y="2315308"/>
            <a:ext cx="1143000" cy="939312"/>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Syntax</a:t>
            </a:r>
          </a:p>
        </p:txBody>
      </p:sp>
      <p:sp>
        <p:nvSpPr>
          <p:cNvPr id="20" name="Text Box 7"/>
          <p:cNvSpPr txBox="1">
            <a:spLocks noChangeArrowheads="1"/>
          </p:cNvSpPr>
          <p:nvPr/>
        </p:nvSpPr>
        <p:spPr bwMode="auto">
          <a:xfrm>
            <a:off x="827324" y="1268129"/>
            <a:ext cx="2468946"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Language</a:t>
            </a:r>
          </a:p>
        </p:txBody>
      </p:sp>
      <p:sp>
        <p:nvSpPr>
          <p:cNvPr id="22" name="AutoShape 8"/>
          <p:cNvSpPr>
            <a:spLocks noChangeArrowheads="1"/>
          </p:cNvSpPr>
          <p:nvPr/>
        </p:nvSpPr>
        <p:spPr bwMode="auto">
          <a:xfrm>
            <a:off x="2061797" y="2328497"/>
            <a:ext cx="1346688" cy="939311"/>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Semantics</a:t>
            </a:r>
          </a:p>
        </p:txBody>
      </p:sp>
      <p:sp>
        <p:nvSpPr>
          <p:cNvPr id="23" name="AutoShape 9"/>
          <p:cNvSpPr>
            <a:spLocks noChangeArrowheads="1"/>
          </p:cNvSpPr>
          <p:nvPr/>
        </p:nvSpPr>
        <p:spPr bwMode="auto">
          <a:xfrm>
            <a:off x="3616569" y="2315308"/>
            <a:ext cx="1225062" cy="939312"/>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Notation</a:t>
            </a:r>
          </a:p>
        </p:txBody>
      </p:sp>
      <p:sp>
        <p:nvSpPr>
          <p:cNvPr id="24" name="AutoShape 6"/>
          <p:cNvSpPr>
            <a:spLocks noChangeArrowheads="1"/>
          </p:cNvSpPr>
          <p:nvPr/>
        </p:nvSpPr>
        <p:spPr bwMode="auto">
          <a:xfrm>
            <a:off x="764681" y="1689941"/>
            <a:ext cx="4076950" cy="474450"/>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Vocabulary</a:t>
            </a:r>
          </a:p>
        </p:txBody>
      </p:sp>
    </p:spTree>
    <p:extLst>
      <p:ext uri="{BB962C8B-B14F-4D97-AF65-F5344CB8AC3E}">
        <p14:creationId xmlns:p14="http://schemas.microsoft.com/office/powerpoint/2010/main" val="40640059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r>
              <a:rPr lang="en-AU" altLang="en-US" dirty="0" err="1">
                <a:ea typeface="ＭＳ Ｐゴシック" panose="020B0600070205080204" pitchFamily="34" charset="-128"/>
              </a:rPr>
              <a:t>Modeling</a:t>
            </a:r>
            <a:r>
              <a:rPr lang="en-AU" altLang="en-US" dirty="0">
                <a:ea typeface="ＭＳ Ｐゴシック" panose="020B0600070205080204" pitchFamily="34" charset="-128"/>
              </a:rPr>
              <a:t> conventions</a:t>
            </a:r>
          </a:p>
        </p:txBody>
      </p:sp>
      <p:sp>
        <p:nvSpPr>
          <p:cNvPr id="30722" name="Rectangle 3"/>
          <p:cNvSpPr>
            <a:spLocks noGrp="1" noChangeArrowheads="1"/>
          </p:cNvSpPr>
          <p:nvPr>
            <p:ph type="body" idx="1"/>
          </p:nvPr>
        </p:nvSpPr>
        <p:spPr>
          <a:xfrm>
            <a:off x="529208" y="1052736"/>
            <a:ext cx="8229600" cy="4606925"/>
          </a:xfrm>
        </p:spPr>
        <p:txBody>
          <a:bodyPr/>
          <a:lstStyle/>
          <a:p>
            <a:pPr marL="0" indent="0">
              <a:buNone/>
            </a:pPr>
            <a:r>
              <a:rPr lang="de-AT" b="1" dirty="0"/>
              <a:t>Labeling</a:t>
            </a:r>
          </a:p>
          <a:p>
            <a:pPr marL="457200" indent="-457200">
              <a:buFont typeface="+mj-lt"/>
              <a:buAutoNum type="arabicPeriod"/>
            </a:pPr>
            <a:r>
              <a:rPr lang="de-AT" sz="2100" dirty="0"/>
              <a:t>Activities as imperative verb + noun</a:t>
            </a:r>
          </a:p>
          <a:p>
            <a:pPr marL="457200" indent="-457200">
              <a:buFont typeface="+mj-lt"/>
              <a:buAutoNum type="arabicPeriod"/>
            </a:pPr>
            <a:r>
              <a:rPr lang="de-AT" sz="2100" dirty="0"/>
              <a:t>Events as noun + past-participle verb</a:t>
            </a:r>
          </a:p>
          <a:p>
            <a:pPr marL="457200" indent="-457200">
              <a:buFont typeface="+mj-lt"/>
              <a:buAutoNum type="arabicPeriod"/>
            </a:pPr>
            <a:r>
              <a:rPr lang="de-AT" sz="2100" dirty="0"/>
              <a:t>Conditions on outgoing arcs of (X)OR-splits with reference to object</a:t>
            </a:r>
          </a:p>
          <a:p>
            <a:pPr marL="0" indent="0">
              <a:buNone/>
            </a:pPr>
            <a:endParaRPr lang="de-AT" dirty="0"/>
          </a:p>
          <a:p>
            <a:pPr marL="0" indent="0">
              <a:buNone/>
            </a:pPr>
            <a:r>
              <a:rPr lang="de-AT" b="1" dirty="0"/>
              <a:t>Layout</a:t>
            </a:r>
          </a:p>
          <a:p>
            <a:pPr marL="457200" indent="-457200" fontAlgn="auto">
              <a:spcAft>
                <a:spcPts val="0"/>
              </a:spcAft>
              <a:buFont typeface="+mj-lt"/>
              <a:buAutoNum type="arabicPeriod"/>
            </a:pPr>
            <a:r>
              <a:rPr lang="de-AT" sz="2100" dirty="0"/>
              <a:t>From top-left to bottom-right</a:t>
            </a:r>
          </a:p>
          <a:p>
            <a:pPr marL="457200" indent="-457200" fontAlgn="auto">
              <a:spcAft>
                <a:spcPts val="0"/>
              </a:spcAft>
              <a:buFont typeface="+mj-lt"/>
              <a:buAutoNum type="arabicPeriod"/>
            </a:pPr>
            <a:r>
              <a:rPr lang="de-AT" sz="2100" dirty="0"/>
              <a:t>Use direct arcs with no crossing where possible</a:t>
            </a:r>
          </a:p>
          <a:p>
            <a:pPr marL="0" indent="0">
              <a:buNone/>
            </a:pPr>
            <a:endParaRPr lang="de-AT" b="1" dirty="0"/>
          </a:p>
        </p:txBody>
      </p:sp>
      <p:pic>
        <p:nvPicPr>
          <p:cNvPr id="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 y="4600757"/>
            <a:ext cx="3438911" cy="165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8658" y="4578017"/>
            <a:ext cx="3453782" cy="167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AutoShape 5"/>
          <p:cNvSpPr>
            <a:spLocks noChangeArrowheads="1"/>
          </p:cNvSpPr>
          <p:nvPr/>
        </p:nvSpPr>
        <p:spPr bwMode="auto">
          <a:xfrm rot="16200000">
            <a:off x="4353546" y="5031812"/>
            <a:ext cx="362835" cy="795428"/>
          </a:xfrm>
          <a:prstGeom prst="downArrow">
            <a:avLst>
              <a:gd name="adj1" fmla="val 50000"/>
              <a:gd name="adj2" fmla="val 109334"/>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eaLnBrk="0" fontAlgn="base" hangingPunct="0">
              <a:spcBef>
                <a:spcPct val="0"/>
              </a:spcBef>
              <a:spcAft>
                <a:spcPct val="0"/>
              </a:spcAft>
            </a:pPr>
            <a:endParaRPr lang="en-AU" sz="2200">
              <a:solidFill>
                <a:prstClr val="black">
                  <a:lumMod val="75000"/>
                  <a:lumOff val="25000"/>
                </a:prstClr>
              </a:solidFill>
            </a:endParaRPr>
          </a:p>
        </p:txBody>
      </p:sp>
    </p:spTree>
    <p:extLst>
      <p:ext uri="{BB962C8B-B14F-4D97-AF65-F5344CB8AC3E}">
        <p14:creationId xmlns:p14="http://schemas.microsoft.com/office/powerpoint/2010/main" val="15395191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dirty="0" err="1"/>
              <a:t>Is</a:t>
            </a:r>
            <a:r>
              <a:rPr lang="de-AT" dirty="0"/>
              <a:t> </a:t>
            </a:r>
            <a:r>
              <a:rPr lang="de-AT" dirty="0" err="1"/>
              <a:t>this</a:t>
            </a:r>
            <a:r>
              <a:rPr lang="de-AT" dirty="0"/>
              <a:t> </a:t>
            </a:r>
            <a:r>
              <a:rPr lang="de-AT" dirty="0" err="1"/>
              <a:t>process</a:t>
            </a:r>
            <a:r>
              <a:rPr lang="de-AT" dirty="0"/>
              <a:t> </a:t>
            </a:r>
            <a:r>
              <a:rPr lang="de-AT" dirty="0" err="1"/>
              <a:t>model</a:t>
            </a:r>
            <a:r>
              <a:rPr lang="de-AT" dirty="0"/>
              <a:t> </a:t>
            </a:r>
            <a:r>
              <a:rPr lang="de-AT" dirty="0" err="1"/>
              <a:t>of</a:t>
            </a:r>
            <a:r>
              <a:rPr lang="de-AT" dirty="0"/>
              <a:t> </a:t>
            </a:r>
            <a:r>
              <a:rPr lang="de-AT" dirty="0" err="1"/>
              <a:t>good</a:t>
            </a:r>
            <a:r>
              <a:rPr lang="de-AT" dirty="0"/>
              <a:t> </a:t>
            </a:r>
            <a:r>
              <a:rPr lang="de-AT" dirty="0" err="1"/>
              <a:t>quality</a:t>
            </a:r>
            <a:r>
              <a:rPr lang="de-AT" dirty="0"/>
              <a:t>?</a:t>
            </a: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164280"/>
            <a:ext cx="7560840" cy="2861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feld 9"/>
          <p:cNvSpPr txBox="1"/>
          <p:nvPr/>
        </p:nvSpPr>
        <p:spPr>
          <a:xfrm>
            <a:off x="585174" y="1452503"/>
            <a:ext cx="2749102" cy="404854"/>
          </a:xfrm>
          <a:prstGeom prst="rect">
            <a:avLst/>
          </a:prstGeom>
          <a:solidFill>
            <a:srgbClr val="C00000"/>
          </a:solidFill>
        </p:spPr>
        <p:txBody>
          <a:bodyPr wrap="square" rtlCol="0">
            <a:spAutoFit/>
          </a:bodyPr>
          <a:lstStyle/>
          <a:p>
            <a:pPr eaLnBrk="0" fontAlgn="base" hangingPunct="0">
              <a:spcBef>
                <a:spcPct val="0"/>
              </a:spcBef>
              <a:spcAft>
                <a:spcPct val="0"/>
              </a:spcAft>
            </a:pPr>
            <a:r>
              <a:rPr lang="de-DE" sz="2031" b="1" dirty="0">
                <a:solidFill>
                  <a:prstClr val="black"/>
                </a:solidFill>
                <a:ea typeface="ＭＳ Ｐゴシック" pitchFamily="34" charset="-128"/>
              </a:rPr>
              <a:t>Different labeling styles</a:t>
            </a:r>
          </a:p>
        </p:txBody>
      </p:sp>
      <p:sp>
        <p:nvSpPr>
          <p:cNvPr id="3" name="Rechteck 2"/>
          <p:cNvSpPr/>
          <p:nvPr/>
        </p:nvSpPr>
        <p:spPr>
          <a:xfrm>
            <a:off x="755576" y="3429000"/>
            <a:ext cx="1080120" cy="25603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de-AT" sz="2031">
              <a:solidFill>
                <a:prstClr val="white"/>
              </a:solidFill>
            </a:endParaRPr>
          </a:p>
        </p:txBody>
      </p:sp>
      <p:sp>
        <p:nvSpPr>
          <p:cNvPr id="13" name="Rechteck 12"/>
          <p:cNvSpPr/>
          <p:nvPr/>
        </p:nvSpPr>
        <p:spPr>
          <a:xfrm>
            <a:off x="3491880" y="4226627"/>
            <a:ext cx="1080120" cy="33234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de-AT" sz="2031">
              <a:solidFill>
                <a:prstClr val="white"/>
              </a:solidFill>
            </a:endParaRPr>
          </a:p>
        </p:txBody>
      </p:sp>
      <p:sp>
        <p:nvSpPr>
          <p:cNvPr id="14" name="Rechteck 13"/>
          <p:cNvSpPr/>
          <p:nvPr/>
        </p:nvSpPr>
        <p:spPr>
          <a:xfrm>
            <a:off x="3491880" y="2816340"/>
            <a:ext cx="1080120" cy="33234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de-AT" sz="2031">
              <a:solidFill>
                <a:prstClr val="white"/>
              </a:solidFill>
            </a:endParaRPr>
          </a:p>
        </p:txBody>
      </p:sp>
      <p:sp>
        <p:nvSpPr>
          <p:cNvPr id="15" name="Rechteck 14"/>
          <p:cNvSpPr/>
          <p:nvPr/>
        </p:nvSpPr>
        <p:spPr>
          <a:xfrm>
            <a:off x="6184751" y="3362531"/>
            <a:ext cx="1656184" cy="202652"/>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de-AT" sz="2031">
              <a:solidFill>
                <a:prstClr val="white"/>
              </a:solidFill>
            </a:endParaRPr>
          </a:p>
        </p:txBody>
      </p:sp>
      <p:sp>
        <p:nvSpPr>
          <p:cNvPr id="5" name="Slide Number Placeholder 4"/>
          <p:cNvSpPr>
            <a:spLocks noGrp="1"/>
          </p:cNvSpPr>
          <p:nvPr>
            <p:ph type="sldNum" sz="quarter" idx="11"/>
          </p:nvPr>
        </p:nvSpPr>
        <p:spPr/>
        <p:txBody>
          <a:bodyPr/>
          <a:lstStyle/>
          <a:p>
            <a:fld id="{F06E539D-8AB8-485C-BFEF-50E8D5427D32}" type="slidenum">
              <a:rPr lang="en-AU" u="none" smtClean="0">
                <a:solidFill>
                  <a:prstClr val="black">
                    <a:lumMod val="50000"/>
                    <a:lumOff val="50000"/>
                  </a:prstClr>
                </a:solidFill>
              </a:rPr>
              <a:pPr/>
              <a:t>38</a:t>
            </a:fld>
            <a:endParaRPr lang="en-AU" u="none">
              <a:solidFill>
                <a:prstClr val="black">
                  <a:lumMod val="50000"/>
                  <a:lumOff val="50000"/>
                </a:prstClr>
              </a:solidFill>
            </a:endParaRP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6714" y="3375906"/>
            <a:ext cx="619520" cy="619520"/>
          </a:xfrm>
          <a:prstGeom prst="rect">
            <a:avLst/>
          </a:prstGeom>
        </p:spPr>
      </p:pic>
    </p:spTree>
    <p:extLst>
      <p:ext uri="{BB962C8B-B14F-4D97-AF65-F5344CB8AC3E}">
        <p14:creationId xmlns:p14="http://schemas.microsoft.com/office/powerpoint/2010/main" val="21888736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 grpId="0" animBg="1"/>
      <p:bldP spid="13" grpId="0" animBg="1"/>
      <p:bldP spid="14" grpId="0" animBg="1"/>
      <p:bldP spid="1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r>
              <a:rPr lang="en-US" altLang="en-US" dirty="0"/>
              <a:t>What’s needed to create a model?</a:t>
            </a:r>
          </a:p>
        </p:txBody>
      </p:sp>
      <p:sp>
        <p:nvSpPr>
          <p:cNvPr id="23554" name="AutoShape 22"/>
          <p:cNvSpPr>
            <a:spLocks noChangeArrowheads="1"/>
          </p:cNvSpPr>
          <p:nvPr/>
        </p:nvSpPr>
        <p:spPr bwMode="auto">
          <a:xfrm>
            <a:off x="634512" y="3572590"/>
            <a:ext cx="4330211" cy="785279"/>
          </a:xfrm>
          <a:prstGeom prst="roundRect">
            <a:avLst>
              <a:gd name="adj" fmla="val 16667"/>
            </a:avLst>
          </a:prstGeom>
          <a:solidFill>
            <a:srgbClr val="FFC000"/>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2" name="Text Box 11"/>
          <p:cNvSpPr txBox="1">
            <a:spLocks noChangeArrowheads="1"/>
          </p:cNvSpPr>
          <p:nvPr/>
        </p:nvSpPr>
        <p:spPr bwMode="auto">
          <a:xfrm>
            <a:off x="764681" y="3618017"/>
            <a:ext cx="2784738"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Conventions</a:t>
            </a:r>
          </a:p>
        </p:txBody>
      </p:sp>
      <p:sp>
        <p:nvSpPr>
          <p:cNvPr id="23562" name="AutoShape 12"/>
          <p:cNvSpPr>
            <a:spLocks noChangeArrowheads="1"/>
          </p:cNvSpPr>
          <p:nvPr/>
        </p:nvSpPr>
        <p:spPr bwMode="auto">
          <a:xfrm>
            <a:off x="653562" y="4573262"/>
            <a:ext cx="4290646" cy="762000"/>
          </a:xfrm>
          <a:prstGeom prst="roundRect">
            <a:avLst>
              <a:gd name="adj" fmla="val 16667"/>
            </a:avLst>
          </a:prstGeom>
          <a:solidFill>
            <a:schemeClr val="bg1">
              <a:lumMod val="85000"/>
            </a:schemeClr>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5" name="Text Box 14"/>
          <p:cNvSpPr txBox="1">
            <a:spLocks noChangeArrowheads="1"/>
          </p:cNvSpPr>
          <p:nvPr/>
        </p:nvSpPr>
        <p:spPr bwMode="auto">
          <a:xfrm>
            <a:off x="734379" y="4596635"/>
            <a:ext cx="1834221"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Tool</a:t>
            </a:r>
          </a:p>
        </p:txBody>
      </p:sp>
      <p:sp>
        <p:nvSpPr>
          <p:cNvPr id="23565" name="AutoShape 15"/>
          <p:cNvSpPr>
            <a:spLocks noChangeArrowheads="1"/>
          </p:cNvSpPr>
          <p:nvPr/>
        </p:nvSpPr>
        <p:spPr bwMode="auto">
          <a:xfrm>
            <a:off x="6547338" y="2559295"/>
            <a:ext cx="1960685" cy="1390650"/>
          </a:xfrm>
          <a:prstGeom prst="roundRect">
            <a:avLst>
              <a:gd name="adj" fmla="val 16667"/>
            </a:avLst>
          </a:prstGeom>
          <a:solidFill>
            <a:srgbClr val="92D050"/>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447" name="Text Box 16"/>
          <p:cNvSpPr txBox="1">
            <a:spLocks noChangeArrowheads="1"/>
          </p:cNvSpPr>
          <p:nvPr/>
        </p:nvSpPr>
        <p:spPr bwMode="auto">
          <a:xfrm>
            <a:off x="7104167" y="3103285"/>
            <a:ext cx="867545"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a:t>
            </a:r>
          </a:p>
        </p:txBody>
      </p:sp>
      <p:sp>
        <p:nvSpPr>
          <p:cNvPr id="19" name="AutoShape 22"/>
          <p:cNvSpPr>
            <a:spLocks noChangeArrowheads="1"/>
          </p:cNvSpPr>
          <p:nvPr/>
        </p:nvSpPr>
        <p:spPr bwMode="auto">
          <a:xfrm>
            <a:off x="640299" y="4586541"/>
            <a:ext cx="4330211" cy="761833"/>
          </a:xfrm>
          <a:prstGeom prst="roundRect">
            <a:avLst>
              <a:gd name="adj" fmla="val 16667"/>
            </a:avLst>
          </a:prstGeom>
          <a:noFill/>
          <a:ln w="76200">
            <a:solidFill>
              <a:srgbClr val="C00000"/>
            </a:solidFill>
            <a:headEnd type="none" w="sm" len="sm"/>
            <a:tailEnd type="none" w="sm" len="sm"/>
          </a:ln>
        </p:spPr>
        <p:style>
          <a:lnRef idx="2">
            <a:schemeClr val="accent6"/>
          </a:lnRef>
          <a:fillRef idx="1">
            <a:schemeClr val="lt1"/>
          </a:fillRef>
          <a:effectRef idx="0">
            <a:schemeClr val="accent6"/>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39</a:t>
            </a:fld>
            <a:endParaRPr lang="en-AU">
              <a:solidFill>
                <a:prstClr val="black">
                  <a:lumMod val="50000"/>
                  <a:lumOff val="50000"/>
                </a:prstClr>
              </a:solidFill>
            </a:endParaRPr>
          </a:p>
        </p:txBody>
      </p:sp>
      <p:sp>
        <p:nvSpPr>
          <p:cNvPr id="21" name="AutoShape 23"/>
          <p:cNvSpPr>
            <a:spLocks/>
          </p:cNvSpPr>
          <p:nvPr/>
        </p:nvSpPr>
        <p:spPr bwMode="auto">
          <a:xfrm>
            <a:off x="5362341" y="1180618"/>
            <a:ext cx="915882" cy="4178463"/>
          </a:xfrm>
          <a:prstGeom prst="rightBrace">
            <a:avLst>
              <a:gd name="adj1" fmla="val 25164"/>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endParaRPr lang="en-US" altLang="en-US" sz="2215">
              <a:solidFill>
                <a:prstClr val="black"/>
              </a:solidFill>
              <a:latin typeface="Times New Roman" panose="02020603050405020304" pitchFamily="18" charset="0"/>
            </a:endParaRPr>
          </a:p>
        </p:txBody>
      </p:sp>
      <p:sp>
        <p:nvSpPr>
          <p:cNvPr id="17" name="AutoShape 5"/>
          <p:cNvSpPr>
            <a:spLocks noChangeArrowheads="1"/>
          </p:cNvSpPr>
          <p:nvPr/>
        </p:nvSpPr>
        <p:spPr bwMode="auto">
          <a:xfrm>
            <a:off x="653562" y="1180618"/>
            <a:ext cx="4330212" cy="2200025"/>
          </a:xfrm>
          <a:prstGeom prst="roundRect">
            <a:avLst>
              <a:gd name="adj" fmla="val 16667"/>
            </a:avLst>
          </a:prstGeom>
          <a:solidFill>
            <a:srgbClr val="99CCFF"/>
          </a:solidFill>
          <a:ln>
            <a:headEnd type="none" w="sm" len="sm"/>
            <a:tailEnd type="none" w="sm" len="sm"/>
          </a:ln>
        </p:spPr>
        <p:style>
          <a:lnRef idx="1">
            <a:schemeClr val="dk1"/>
          </a:lnRef>
          <a:fillRef idx="2">
            <a:schemeClr val="dk1"/>
          </a:fillRef>
          <a:effectRef idx="1">
            <a:schemeClr val="dk1"/>
          </a:effectRef>
          <a:fontRef idx="minor">
            <a:schemeClr val="dk1"/>
          </a:fontRef>
        </p:style>
        <p:txBody>
          <a:bodyPr wrap="none" anchor="ctr"/>
          <a:lstStyle>
            <a:lvl1pPr>
              <a:defRPr sz="2400">
                <a:solidFill>
                  <a:schemeClr val="tx1"/>
                </a:solidFill>
                <a:latin typeface="Times New Roman" pitchFamily="18" charset="0"/>
                <a:ea typeface="MS PGothic" pitchFamily="34" charset="-128"/>
              </a:defRPr>
            </a:lvl1pPr>
            <a:lvl2pPr marL="742950" indent="-285750">
              <a:defRPr sz="2400">
                <a:solidFill>
                  <a:schemeClr val="tx1"/>
                </a:solidFill>
                <a:latin typeface="Times New Roman" pitchFamily="18" charset="0"/>
                <a:ea typeface="MS PGothic" pitchFamily="34" charset="-128"/>
              </a:defRPr>
            </a:lvl2pPr>
            <a:lvl3pPr marL="1143000" indent="-228600">
              <a:defRPr sz="2400">
                <a:solidFill>
                  <a:schemeClr val="tx1"/>
                </a:solidFill>
                <a:latin typeface="Times New Roman" pitchFamily="18" charset="0"/>
                <a:ea typeface="MS PGothic" pitchFamily="34" charset="-128"/>
              </a:defRPr>
            </a:lvl3pPr>
            <a:lvl4pPr marL="1600200" indent="-228600">
              <a:defRPr sz="2400">
                <a:solidFill>
                  <a:schemeClr val="tx1"/>
                </a:solidFill>
                <a:latin typeface="Times New Roman" pitchFamily="18" charset="0"/>
                <a:ea typeface="MS PGothic" pitchFamily="34" charset="-128"/>
              </a:defRPr>
            </a:lvl4pPr>
            <a:lvl5pPr marL="2057400" indent="-22860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0" fontAlgn="base" hangingPunct="0">
              <a:spcBef>
                <a:spcPct val="0"/>
              </a:spcBef>
              <a:spcAft>
                <a:spcPct val="0"/>
              </a:spcAft>
              <a:defRPr/>
            </a:pPr>
            <a:endParaRPr lang="en-US" altLang="en-US" sz="2215">
              <a:solidFill>
                <a:prstClr val="black"/>
              </a:solidFill>
            </a:endParaRPr>
          </a:p>
        </p:txBody>
      </p:sp>
      <p:sp>
        <p:nvSpPr>
          <p:cNvPr id="18" name="AutoShape 6"/>
          <p:cNvSpPr>
            <a:spLocks noChangeArrowheads="1"/>
          </p:cNvSpPr>
          <p:nvPr/>
        </p:nvSpPr>
        <p:spPr bwMode="auto">
          <a:xfrm>
            <a:off x="767862" y="2315308"/>
            <a:ext cx="1143000" cy="939312"/>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Syntax</a:t>
            </a:r>
          </a:p>
        </p:txBody>
      </p:sp>
      <p:sp>
        <p:nvSpPr>
          <p:cNvPr id="20" name="Text Box 7"/>
          <p:cNvSpPr txBox="1">
            <a:spLocks noChangeArrowheads="1"/>
          </p:cNvSpPr>
          <p:nvPr/>
        </p:nvSpPr>
        <p:spPr bwMode="auto">
          <a:xfrm>
            <a:off x="827324" y="1268129"/>
            <a:ext cx="2468946" cy="37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846" b="1" dirty="0">
                <a:solidFill>
                  <a:prstClr val="black"/>
                </a:solidFill>
              </a:rPr>
              <a:t>Modelling Language</a:t>
            </a:r>
          </a:p>
        </p:txBody>
      </p:sp>
      <p:sp>
        <p:nvSpPr>
          <p:cNvPr id="22" name="AutoShape 8"/>
          <p:cNvSpPr>
            <a:spLocks noChangeArrowheads="1"/>
          </p:cNvSpPr>
          <p:nvPr/>
        </p:nvSpPr>
        <p:spPr bwMode="auto">
          <a:xfrm>
            <a:off x="2061797" y="2328497"/>
            <a:ext cx="1346688" cy="939311"/>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Semantics</a:t>
            </a:r>
          </a:p>
        </p:txBody>
      </p:sp>
      <p:sp>
        <p:nvSpPr>
          <p:cNvPr id="23" name="AutoShape 9"/>
          <p:cNvSpPr>
            <a:spLocks noChangeArrowheads="1"/>
          </p:cNvSpPr>
          <p:nvPr/>
        </p:nvSpPr>
        <p:spPr bwMode="auto">
          <a:xfrm>
            <a:off x="3616569" y="2315308"/>
            <a:ext cx="1225062" cy="939312"/>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Notation</a:t>
            </a:r>
          </a:p>
        </p:txBody>
      </p:sp>
      <p:sp>
        <p:nvSpPr>
          <p:cNvPr id="24" name="AutoShape 6"/>
          <p:cNvSpPr>
            <a:spLocks noChangeArrowheads="1"/>
          </p:cNvSpPr>
          <p:nvPr/>
        </p:nvSpPr>
        <p:spPr bwMode="auto">
          <a:xfrm>
            <a:off x="764681" y="1689941"/>
            <a:ext cx="4076950" cy="474450"/>
          </a:xfrm>
          <a:prstGeom prst="roundRect">
            <a:avLst>
              <a:gd name="adj" fmla="val 16667"/>
            </a:avLst>
          </a:prstGeom>
          <a:solidFill>
            <a:srgbClr val="FFFFFF"/>
          </a:solidFill>
          <a:ln w="12700">
            <a:solidFill>
              <a:schemeClr val="tx1"/>
            </a:solidFill>
            <a:round/>
            <a:headEnd type="none" w="sm" len="sm"/>
            <a:tailEnd type="none" w="sm" len="sm"/>
          </a:ln>
        </p:spPr>
        <p:txBody>
          <a:bodyPr wrap="none" anchor="ctr"/>
          <a:lstStyle>
            <a:lvl1pPr>
              <a:spcBef>
                <a:spcPct val="20000"/>
              </a:spcBef>
              <a:buChar char="•"/>
              <a:defRPr sz="2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1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ea typeface="MS PGothic" panose="020B0600070205080204" pitchFamily="34" charset="-128"/>
              </a:defRPr>
            </a:lvl9pPr>
          </a:lstStyle>
          <a:p>
            <a:pPr algn="ctr" eaLnBrk="0" fontAlgn="base" hangingPunct="0">
              <a:spcBef>
                <a:spcPct val="0"/>
              </a:spcBef>
              <a:spcAft>
                <a:spcPct val="0"/>
              </a:spcAft>
              <a:buFontTx/>
              <a:buNone/>
            </a:pPr>
            <a:r>
              <a:rPr lang="en-US" altLang="en-US" sz="1939" dirty="0">
                <a:solidFill>
                  <a:prstClr val="black"/>
                </a:solidFill>
              </a:rPr>
              <a:t>Vocabulary</a:t>
            </a:r>
          </a:p>
        </p:txBody>
      </p:sp>
    </p:spTree>
    <p:extLst>
      <p:ext uri="{BB962C8B-B14F-4D97-AF65-F5344CB8AC3E}">
        <p14:creationId xmlns:p14="http://schemas.microsoft.com/office/powerpoint/2010/main" val="41546547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Content Placeholder 2"/>
          <p:cNvSpPr>
            <a:spLocks noGrp="1"/>
          </p:cNvSpPr>
          <p:nvPr>
            <p:ph idx="1"/>
          </p:nvPr>
        </p:nvSpPr>
        <p:spPr/>
        <p:txBody>
          <a:bodyPr/>
          <a:lstStyle/>
          <a:p>
            <a:pPr marL="0" indent="0">
              <a:buNone/>
            </a:pPr>
            <a:r>
              <a:rPr lang="en-US" altLang="en-US" dirty="0"/>
              <a:t>General-purpose graphical design tools</a:t>
            </a:r>
          </a:p>
          <a:p>
            <a:pPr lvl="1"/>
            <a:r>
              <a:rPr lang="en-US" altLang="en-US" dirty="0" err="1"/>
              <a:t>E.g</a:t>
            </a:r>
            <a:r>
              <a:rPr lang="en-US" altLang="en-US" dirty="0"/>
              <a:t> Visio, </a:t>
            </a:r>
            <a:r>
              <a:rPr lang="en-US" altLang="en-US" dirty="0" err="1"/>
              <a:t>Powerpoint</a:t>
            </a:r>
            <a:endParaRPr lang="en-US" altLang="en-US" dirty="0"/>
          </a:p>
          <a:p>
            <a:pPr marL="0" indent="0">
              <a:buNone/>
            </a:pPr>
            <a:r>
              <a:rPr lang="en-US" altLang="en-US" dirty="0"/>
              <a:t>Software Engineering tools (CASE)</a:t>
            </a:r>
          </a:p>
          <a:p>
            <a:pPr lvl="1"/>
            <a:r>
              <a:rPr lang="en-US" altLang="en-US" dirty="0"/>
              <a:t>E.g. Rational Rose</a:t>
            </a:r>
          </a:p>
          <a:p>
            <a:pPr marL="0" indent="0">
              <a:buNone/>
            </a:pPr>
            <a:r>
              <a:rPr lang="en-US" altLang="en-US" dirty="0"/>
              <a:t>Enterprise Architecture tools</a:t>
            </a:r>
          </a:p>
          <a:p>
            <a:pPr lvl="1"/>
            <a:r>
              <a:rPr lang="en-US" altLang="en-US" dirty="0"/>
              <a:t>E.g. System Architect</a:t>
            </a:r>
          </a:p>
          <a:p>
            <a:pPr marL="0" indent="0">
              <a:buNone/>
            </a:pPr>
            <a:r>
              <a:rPr lang="en-US" altLang="en-US" dirty="0"/>
              <a:t>Dedicated business process modeling tools</a:t>
            </a:r>
          </a:p>
          <a:p>
            <a:pPr lvl="1"/>
            <a:r>
              <a:rPr lang="en-US" altLang="en-US" dirty="0"/>
              <a:t>E.g. ARIS, </a:t>
            </a:r>
            <a:r>
              <a:rPr lang="en-US" altLang="en-US" dirty="0" err="1"/>
              <a:t>Signavio</a:t>
            </a:r>
            <a:endParaRPr lang="en-US" altLang="en-US" dirty="0"/>
          </a:p>
          <a:p>
            <a:pPr marL="0" indent="0">
              <a:buNone/>
            </a:pPr>
            <a:r>
              <a:rPr lang="en-US" altLang="en-US" dirty="0"/>
              <a:t>Design tools as part of a BPMS</a:t>
            </a:r>
          </a:p>
          <a:p>
            <a:pPr lvl="1"/>
            <a:r>
              <a:rPr lang="en-US" altLang="en-US" dirty="0"/>
              <a:t>E.g. IBM Process Designer, Oracle </a:t>
            </a:r>
            <a:r>
              <a:rPr lang="en-US" altLang="en-US" dirty="0" err="1"/>
              <a:t>JDeveloper</a:t>
            </a:r>
            <a:r>
              <a:rPr lang="en-US" altLang="en-US" dirty="0"/>
              <a:t>, </a:t>
            </a:r>
            <a:r>
              <a:rPr lang="en-US" altLang="en-US" dirty="0" err="1"/>
              <a:t>Bizagi</a:t>
            </a:r>
            <a:r>
              <a:rPr lang="en-US" altLang="en-US" dirty="0"/>
              <a:t> Modeler</a:t>
            </a:r>
          </a:p>
          <a:p>
            <a:pPr lvl="1"/>
            <a:endParaRPr lang="en-US" altLang="en-US" dirty="0"/>
          </a:p>
        </p:txBody>
      </p:sp>
      <p:sp>
        <p:nvSpPr>
          <p:cNvPr id="37890" name="Title 1"/>
          <p:cNvSpPr>
            <a:spLocks noGrp="1"/>
          </p:cNvSpPr>
          <p:nvPr>
            <p:ph type="title"/>
          </p:nvPr>
        </p:nvSpPr>
        <p:spPr/>
        <p:txBody>
          <a:bodyPr/>
          <a:lstStyle/>
          <a:p>
            <a:r>
              <a:rPr lang="en-US" altLang="en-US"/>
              <a:t>Process Modelling Tools</a:t>
            </a:r>
          </a:p>
        </p:txBody>
      </p:sp>
      <p:pic>
        <p:nvPicPr>
          <p:cNvPr id="22534" name="Picture 6" descr="http://www.cimwareukandusa.com/IEEE_SFMay2002_UML/UMLclass_1.jpg"/>
          <p:cNvPicPr>
            <a:picLocks noChangeAspect="1" noChangeArrowheads="1"/>
          </p:cNvPicPr>
          <p:nvPr/>
        </p:nvPicPr>
        <p:blipFill>
          <a:blip r:embed="rId3"/>
          <a:srcRect/>
          <a:stretch>
            <a:fillRect/>
          </a:stretch>
        </p:blipFill>
        <p:spPr bwMode="auto">
          <a:xfrm>
            <a:off x="6418992" y="427084"/>
            <a:ext cx="2250831" cy="168812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2536" name="Picture 8" descr="http://www.tibco.com/multimedia/screenshot-process-modeling-large.gif"/>
          <p:cNvPicPr>
            <a:picLocks noChangeAspect="1" noChangeArrowheads="1"/>
          </p:cNvPicPr>
          <p:nvPr/>
        </p:nvPicPr>
        <p:blipFill>
          <a:blip r:embed="rId4"/>
          <a:srcRect/>
          <a:stretch>
            <a:fillRect/>
          </a:stretch>
        </p:blipFill>
        <p:spPr bwMode="auto">
          <a:xfrm>
            <a:off x="5780020" y="880301"/>
            <a:ext cx="2497015" cy="150934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40</a:t>
            </a:fld>
            <a:endParaRPr lang="en-AU">
              <a:solidFill>
                <a:prstClr val="black">
                  <a:lumMod val="50000"/>
                  <a:lumOff val="50000"/>
                </a:prstClr>
              </a:solidFill>
            </a:endParaRPr>
          </a:p>
        </p:txBody>
      </p:sp>
    </p:spTree>
    <p:extLst>
      <p:ext uri="{BB962C8B-B14F-4D97-AF65-F5344CB8AC3E}">
        <p14:creationId xmlns:p14="http://schemas.microsoft.com/office/powerpoint/2010/main" val="349884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normAutofit/>
          </a:bodyPr>
          <a:lstStyle/>
          <a:p>
            <a:r>
              <a:rPr lang="en-US" altLang="en-US" dirty="0"/>
              <a:t>Our modelling tool: </a:t>
            </a:r>
            <a:r>
              <a:rPr lang="en-US" altLang="en-US" dirty="0" err="1"/>
              <a:t>Signavio</a:t>
            </a:r>
            <a:endParaRPr lang="en-US" altLang="en-US" sz="1939" dirty="0"/>
          </a:p>
        </p:txBody>
      </p:sp>
      <p:pic>
        <p:nvPicPr>
          <p:cNvPr id="139266" name="Picture 2"/>
          <p:cNvPicPr>
            <a:picLocks noChangeAspect="1" noChangeArrowheads="1"/>
          </p:cNvPicPr>
          <p:nvPr/>
        </p:nvPicPr>
        <p:blipFill>
          <a:blip r:embed="rId3"/>
          <a:srcRect/>
          <a:stretch>
            <a:fillRect/>
          </a:stretch>
        </p:blipFill>
        <p:spPr bwMode="auto">
          <a:xfrm>
            <a:off x="1338650" y="2314936"/>
            <a:ext cx="6466700" cy="40422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pic>
      <p:sp>
        <p:nvSpPr>
          <p:cNvPr id="3" name="Rectangle 2"/>
          <p:cNvSpPr/>
          <p:nvPr/>
        </p:nvSpPr>
        <p:spPr>
          <a:xfrm>
            <a:off x="415736" y="1127917"/>
            <a:ext cx="7831015" cy="830997"/>
          </a:xfrm>
          <a:prstGeom prst="rect">
            <a:avLst/>
          </a:prstGeom>
        </p:spPr>
        <p:txBody>
          <a:bodyPr>
            <a:spAutoFit/>
          </a:bodyPr>
          <a:lstStyle/>
          <a:p>
            <a:pPr marL="316531" indent="-316531" eaLnBrk="0" fontAlgn="base" hangingPunct="0">
              <a:spcBef>
                <a:spcPct val="0"/>
              </a:spcBef>
              <a:spcAft>
                <a:spcPct val="0"/>
              </a:spcAft>
              <a:buFont typeface="Arial" panose="020B0604020202020204" pitchFamily="34" charset="0"/>
              <a:buChar char="•"/>
              <a:defRPr/>
            </a:pPr>
            <a:r>
              <a:rPr lang="en-AU" sz="2400" dirty="0">
                <a:solidFill>
                  <a:prstClr val="black">
                    <a:lumMod val="75000"/>
                    <a:lumOff val="25000"/>
                  </a:prstClr>
                </a:solidFill>
                <a:ea typeface="ＭＳ Ｐゴシック" pitchFamily="34" charset="-128"/>
              </a:rPr>
              <a:t>Check out </a:t>
            </a:r>
            <a:r>
              <a:rPr lang="en-AU" sz="2400" dirty="0" err="1">
                <a:solidFill>
                  <a:prstClr val="black">
                    <a:lumMod val="75000"/>
                    <a:lumOff val="25000"/>
                  </a:prstClr>
                </a:solidFill>
                <a:ea typeface="ＭＳ Ｐゴシック" pitchFamily="34" charset="-128"/>
              </a:rPr>
              <a:t>Signavio</a:t>
            </a:r>
            <a:r>
              <a:rPr lang="en-AU" sz="2400" dirty="0">
                <a:solidFill>
                  <a:prstClr val="black">
                    <a:lumMod val="75000"/>
                    <a:lumOff val="25000"/>
                  </a:prstClr>
                </a:solidFill>
                <a:ea typeface="ＭＳ Ｐゴシック" pitchFamily="34" charset="-128"/>
              </a:rPr>
              <a:t> documentation on blackboard</a:t>
            </a:r>
          </a:p>
          <a:p>
            <a:pPr marL="316531" indent="-316531" eaLnBrk="0" fontAlgn="base" hangingPunct="0">
              <a:spcBef>
                <a:spcPct val="0"/>
              </a:spcBef>
              <a:spcAft>
                <a:spcPct val="0"/>
              </a:spcAft>
              <a:buFont typeface="Arial" panose="020B0604020202020204" pitchFamily="34" charset="0"/>
              <a:buChar char="•"/>
              <a:defRPr/>
            </a:pPr>
            <a:r>
              <a:rPr lang="en-AU" sz="2400" dirty="0">
                <a:solidFill>
                  <a:prstClr val="black">
                    <a:lumMod val="75000"/>
                    <a:lumOff val="25000"/>
                  </a:prstClr>
                </a:solidFill>
                <a:ea typeface="ＭＳ Ｐゴシック" pitchFamily="34" charset="-128"/>
              </a:rPr>
              <a:t>Register for a free trial account</a:t>
            </a:r>
            <a:endParaRPr lang="en-AU" sz="2400" u="sng" dirty="0">
              <a:solidFill>
                <a:prstClr val="black">
                  <a:lumMod val="75000"/>
                  <a:lumOff val="25000"/>
                </a:prstClr>
              </a:solidFill>
              <a:ea typeface="ＭＳ Ｐゴシック" pitchFamily="34" charset="-128"/>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41</a:t>
            </a:fld>
            <a:endParaRPr lang="en-AU">
              <a:solidFill>
                <a:prstClr val="black">
                  <a:lumMod val="50000"/>
                  <a:lumOff val="50000"/>
                </a:prstClr>
              </a:solidFill>
            </a:endParaRPr>
          </a:p>
        </p:txBody>
      </p:sp>
    </p:spTree>
    <p:extLst>
      <p:ext uri="{BB962C8B-B14F-4D97-AF65-F5344CB8AC3E}">
        <p14:creationId xmlns:p14="http://schemas.microsoft.com/office/powerpoint/2010/main" val="2515589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48417" y="312385"/>
            <a:ext cx="6705600" cy="562708"/>
          </a:xfrm>
        </p:spPr>
        <p:txBody>
          <a:bodyPr>
            <a:noAutofit/>
          </a:bodyPr>
          <a:lstStyle/>
          <a:p>
            <a:r>
              <a:rPr lang="en-US" dirty="0">
                <a:ea typeface="ＭＳ Ｐゴシック" pitchFamily="34" charset="-128"/>
              </a:rPr>
              <a:t>Readings for Week 3</a:t>
            </a:r>
          </a:p>
        </p:txBody>
      </p:sp>
      <p:sp>
        <p:nvSpPr>
          <p:cNvPr id="7" name="Rectangle 3"/>
          <p:cNvSpPr txBox="1">
            <a:spLocks noChangeArrowheads="1"/>
          </p:cNvSpPr>
          <p:nvPr/>
        </p:nvSpPr>
        <p:spPr bwMode="auto">
          <a:xfrm>
            <a:off x="390534" y="1386050"/>
            <a:ext cx="7946642" cy="4745809"/>
          </a:xfrm>
          <a:prstGeom prst="rect">
            <a:avLst/>
          </a:prstGeom>
          <a:noFill/>
          <a:ln w="9525">
            <a:noFill/>
            <a:miter lim="800000"/>
            <a:headEnd/>
            <a:tailEnd/>
          </a:ln>
        </p:spPr>
        <p:txBody>
          <a:bodyPr lIns="84992" tIns="42497" rIns="84992" bIns="42497"/>
          <a:lstStyle/>
          <a:p>
            <a:pPr marL="316531" indent="-316531" defTabSz="703402" eaLnBrk="0" fontAlgn="base" hangingPunct="0">
              <a:lnSpc>
                <a:spcPct val="90000"/>
              </a:lnSpc>
              <a:spcBef>
                <a:spcPct val="20000"/>
              </a:spcBef>
              <a:spcAft>
                <a:spcPct val="0"/>
              </a:spcAft>
              <a:buFontTx/>
              <a:buChar char="•"/>
              <a:defRPr/>
            </a:pPr>
            <a:r>
              <a:rPr lang="en-AU" sz="2400" dirty="0">
                <a:solidFill>
                  <a:prstClr val="black">
                    <a:lumMod val="75000"/>
                    <a:lumOff val="25000"/>
                  </a:prstClr>
                </a:solidFill>
                <a:ea typeface="ＭＳ Ｐゴシック" pitchFamily="34" charset="-128"/>
              </a:rPr>
              <a:t>Dumas M., La Rosa M., Mendling J., Reijers, H. (2013): </a:t>
            </a:r>
            <a:br>
              <a:rPr lang="en-AU" sz="2400" dirty="0">
                <a:solidFill>
                  <a:prstClr val="black">
                    <a:lumMod val="75000"/>
                    <a:lumOff val="25000"/>
                  </a:prstClr>
                </a:solidFill>
                <a:ea typeface="ＭＳ Ｐゴシック" pitchFamily="34" charset="-128"/>
              </a:rPr>
            </a:br>
            <a:r>
              <a:rPr lang="en-AU" sz="2400" dirty="0">
                <a:solidFill>
                  <a:prstClr val="black">
                    <a:lumMod val="75000"/>
                    <a:lumOff val="25000"/>
                  </a:prstClr>
                </a:solidFill>
                <a:ea typeface="ＭＳ Ｐゴシック" pitchFamily="34" charset="-128"/>
              </a:rPr>
              <a:t>Fundamentals of BPM. </a:t>
            </a:r>
            <a:r>
              <a:rPr lang="en-AU" sz="2400" b="1" dirty="0">
                <a:solidFill>
                  <a:prstClr val="black">
                    <a:lumMod val="75000"/>
                    <a:lumOff val="25000"/>
                  </a:prstClr>
                </a:solidFill>
                <a:ea typeface="ＭＳ Ｐゴシック" pitchFamily="34" charset="-128"/>
              </a:rPr>
              <a:t>Section 3.2 of Chapter 3</a:t>
            </a: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r>
              <a:rPr lang="en-AU" sz="2400" dirty="0">
                <a:solidFill>
                  <a:prstClr val="black">
                    <a:lumMod val="75000"/>
                    <a:lumOff val="25000"/>
                  </a:prstClr>
                </a:solidFill>
                <a:ea typeface="ＭＳ Ｐゴシック" pitchFamily="34" charset="-128"/>
              </a:rPr>
              <a:t>J. Mendling, H.A. Reijers, W.M.P. van der Aalst, Seven process </a:t>
            </a:r>
            <a:r>
              <a:rPr lang="en-AU" sz="2400" dirty="0" err="1">
                <a:solidFill>
                  <a:prstClr val="black">
                    <a:lumMod val="75000"/>
                    <a:lumOff val="25000"/>
                  </a:prstClr>
                </a:solidFill>
                <a:ea typeface="ＭＳ Ｐゴシック" pitchFamily="34" charset="-128"/>
              </a:rPr>
              <a:t>modeling</a:t>
            </a:r>
            <a:r>
              <a:rPr lang="en-AU" sz="2400" dirty="0">
                <a:solidFill>
                  <a:prstClr val="black">
                    <a:lumMod val="75000"/>
                    <a:lumOff val="25000"/>
                  </a:prstClr>
                </a:solidFill>
                <a:ea typeface="ＭＳ Ｐゴシック" pitchFamily="34" charset="-128"/>
              </a:rPr>
              <a:t> guidelines (7PMG). Information and Software Technology, 52(2), 2010</a:t>
            </a:r>
          </a:p>
          <a:p>
            <a:pPr marL="316531" indent="-316531" defTabSz="703402" eaLnBrk="0" fontAlgn="base" hangingPunct="0">
              <a:lnSpc>
                <a:spcPct val="90000"/>
              </a:lnSpc>
              <a:spcBef>
                <a:spcPct val="20000"/>
              </a:spcBef>
              <a:spcAft>
                <a:spcPct val="0"/>
              </a:spcAft>
              <a:buFontTx/>
              <a:buChar char="•"/>
              <a:defRPr/>
            </a:pPr>
            <a:r>
              <a:rPr lang="en-AU" sz="2400" dirty="0">
                <a:solidFill>
                  <a:prstClr val="black">
                    <a:lumMod val="75000"/>
                    <a:lumOff val="25000"/>
                  </a:prstClr>
                </a:solidFill>
                <a:ea typeface="ＭＳ Ｐゴシック" pitchFamily="34" charset="-128"/>
              </a:rPr>
              <a:t>J. Becker, M. Rosemann, C. von </a:t>
            </a:r>
            <a:r>
              <a:rPr lang="en-AU" sz="2400" dirty="0" err="1">
                <a:solidFill>
                  <a:prstClr val="black">
                    <a:lumMod val="75000"/>
                    <a:lumOff val="25000"/>
                  </a:prstClr>
                </a:solidFill>
                <a:ea typeface="ＭＳ Ｐゴシック" pitchFamily="34" charset="-128"/>
              </a:rPr>
              <a:t>Uthmann</a:t>
            </a:r>
            <a:r>
              <a:rPr lang="en-AU" sz="2400" dirty="0">
                <a:solidFill>
                  <a:prstClr val="black">
                    <a:lumMod val="75000"/>
                    <a:lumOff val="25000"/>
                  </a:prstClr>
                </a:solidFill>
                <a:ea typeface="ＭＳ Ｐゴシック" pitchFamily="34" charset="-128"/>
              </a:rPr>
              <a:t>: Guidelines of business process </a:t>
            </a:r>
            <a:r>
              <a:rPr lang="en-AU" sz="2400" dirty="0" err="1">
                <a:solidFill>
                  <a:prstClr val="black">
                    <a:lumMod val="75000"/>
                    <a:lumOff val="25000"/>
                  </a:prstClr>
                </a:solidFill>
                <a:ea typeface="ＭＳ Ｐゴシック" pitchFamily="34" charset="-128"/>
              </a:rPr>
              <a:t>modeling</a:t>
            </a:r>
            <a:r>
              <a:rPr lang="en-AU" sz="2400" dirty="0">
                <a:solidFill>
                  <a:prstClr val="black">
                    <a:lumMod val="75000"/>
                    <a:lumOff val="25000"/>
                  </a:prstClr>
                </a:solidFill>
                <a:ea typeface="ＭＳ Ｐゴシック" pitchFamily="34" charset="-128"/>
              </a:rPr>
              <a:t>. Proceedings of Business Process Management, LNCS 1806, 2000</a:t>
            </a:r>
          </a:p>
          <a:p>
            <a:pPr marL="316531" indent="-316531" defTabSz="703402" eaLnBrk="0" fontAlgn="base" hangingPunct="0">
              <a:lnSpc>
                <a:spcPct val="90000"/>
              </a:lnSpc>
              <a:spcBef>
                <a:spcPct val="20000"/>
              </a:spcBef>
              <a:spcAft>
                <a:spcPct val="0"/>
              </a:spcAft>
              <a:buFontTx/>
              <a:buChar char="•"/>
              <a:defRPr/>
            </a:pPr>
            <a:r>
              <a:rPr lang="en-AU" sz="2400" dirty="0">
                <a:solidFill>
                  <a:prstClr val="black">
                    <a:lumMod val="75000"/>
                    <a:lumOff val="25000"/>
                  </a:prstClr>
                </a:solidFill>
                <a:ea typeface="ＭＳ Ｐゴシック" pitchFamily="34" charset="-128"/>
              </a:rPr>
              <a:t>M. Rosemann, Potential pitfalls of process </a:t>
            </a:r>
            <a:r>
              <a:rPr lang="en-AU" sz="2400" dirty="0" err="1">
                <a:solidFill>
                  <a:prstClr val="black">
                    <a:lumMod val="75000"/>
                    <a:lumOff val="25000"/>
                  </a:prstClr>
                </a:solidFill>
                <a:ea typeface="ＭＳ Ｐゴシック" pitchFamily="34" charset="-128"/>
              </a:rPr>
              <a:t>modeling</a:t>
            </a:r>
            <a:r>
              <a:rPr lang="en-AU" sz="2400" dirty="0">
                <a:solidFill>
                  <a:prstClr val="black">
                    <a:lumMod val="75000"/>
                    <a:lumOff val="25000"/>
                  </a:prstClr>
                </a:solidFill>
                <a:ea typeface="ＭＳ Ｐゴシック" pitchFamily="34" charset="-128"/>
              </a:rPr>
              <a:t>: Part A and B. Business Process Management Journal, 12(2-3), 2006</a:t>
            </a: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2400" dirty="0">
              <a:solidFill>
                <a:prstClr val="black">
                  <a:lumMod val="75000"/>
                  <a:lumOff val="25000"/>
                </a:prstClr>
              </a:solidFill>
              <a:ea typeface="ＭＳ Ｐゴシック" pitchFamily="34" charset="-128"/>
            </a:endParaRPr>
          </a:p>
          <a:p>
            <a:pPr defTabSz="703402" eaLnBrk="0" fontAlgn="base" hangingPunct="0">
              <a:lnSpc>
                <a:spcPct val="90000"/>
              </a:lnSpc>
              <a:spcBef>
                <a:spcPct val="20000"/>
              </a:spcBef>
              <a:spcAft>
                <a:spcPct val="0"/>
              </a:spcAft>
              <a:defRPr/>
            </a:pPr>
            <a:endParaRPr lang="en-AU" sz="1846" dirty="0">
              <a:solidFill>
                <a:prstClr val="black"/>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1846" dirty="0">
              <a:solidFill>
                <a:prstClr val="black"/>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1846" dirty="0">
              <a:solidFill>
                <a:prstClr val="black"/>
              </a:solidFill>
              <a:ea typeface="ＭＳ Ｐゴシック" pitchFamily="34" charset="-128"/>
            </a:endParaRPr>
          </a:p>
        </p:txBody>
      </p:sp>
      <p:pic>
        <p:nvPicPr>
          <p:cNvPr id="5" name="Picture 3" descr="Books02-1712x1368"/>
          <p:cNvPicPr>
            <a:picLocks noChangeAspect="1" noChangeArrowheads="1"/>
          </p:cNvPicPr>
          <p:nvPr/>
        </p:nvPicPr>
        <p:blipFill>
          <a:blip r:embed="rId3" cstate="print"/>
          <a:srcRect/>
          <a:stretch>
            <a:fillRect/>
          </a:stretch>
        </p:blipFill>
        <p:spPr bwMode="auto">
          <a:xfrm>
            <a:off x="7410861" y="206966"/>
            <a:ext cx="1287181" cy="949560"/>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42</a:t>
            </a:fld>
            <a:endParaRPr lang="en-AU">
              <a:solidFill>
                <a:prstClr val="black">
                  <a:lumMod val="50000"/>
                  <a:lumOff val="50000"/>
                </a:prstClr>
              </a:solidFill>
            </a:endParaRPr>
          </a:p>
        </p:txBody>
      </p:sp>
      <p:sp>
        <p:nvSpPr>
          <p:cNvPr id="6" name="Rectangle 5"/>
          <p:cNvSpPr>
            <a:spLocks noChangeArrowheads="1"/>
          </p:cNvSpPr>
          <p:nvPr/>
        </p:nvSpPr>
        <p:spPr bwMode="auto">
          <a:xfrm>
            <a:off x="467544" y="958761"/>
            <a:ext cx="1243417"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Required</a:t>
            </a:r>
          </a:p>
        </p:txBody>
      </p:sp>
      <p:sp>
        <p:nvSpPr>
          <p:cNvPr id="8" name="Rectangle 5"/>
          <p:cNvSpPr>
            <a:spLocks noChangeArrowheads="1"/>
          </p:cNvSpPr>
          <p:nvPr/>
        </p:nvSpPr>
        <p:spPr bwMode="auto">
          <a:xfrm>
            <a:off x="467544" y="2478159"/>
            <a:ext cx="1947328"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Recommended</a:t>
            </a:r>
          </a:p>
        </p:txBody>
      </p:sp>
    </p:spTree>
    <p:extLst>
      <p:ext uri="{BB962C8B-B14F-4D97-AF65-F5344CB8AC3E}">
        <p14:creationId xmlns:p14="http://schemas.microsoft.com/office/powerpoint/2010/main" val="2320437080"/>
      </p:ext>
    </p:extLst>
  </p:cSld>
  <p:clrMapOvr>
    <a:masterClrMapping/>
  </p:clrMapOvr>
</p:sld>
</file>

<file path=ppt/theme/theme1.xml><?xml version="1.0" encoding="utf-8"?>
<a:theme xmlns:a="http://schemas.openxmlformats.org/drawingml/2006/main" name="1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2.xml><?xml version="1.0" encoding="utf-8"?>
<a:theme xmlns:a="http://schemas.openxmlformats.org/drawingml/2006/main" name="3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3.xml><?xml version="1.0" encoding="utf-8"?>
<a:theme xmlns:a="http://schemas.openxmlformats.org/drawingml/2006/main" name="2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4.xml><?xml version="1.0" encoding="utf-8"?>
<a:theme xmlns:a="http://schemas.openxmlformats.org/drawingml/2006/main" name="4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5.xml><?xml version="1.0" encoding="utf-8"?>
<a:theme xmlns:a="http://schemas.openxmlformats.org/drawingml/2006/main" name="5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6.xml><?xml version="1.0" encoding="utf-8"?>
<a:theme xmlns:a="http://schemas.openxmlformats.org/drawingml/2006/main" name="6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1081</TotalTime>
  <Words>1732</Words>
  <Application>Microsoft Office PowerPoint</Application>
  <PresentationFormat>On-screen Show (4:3)</PresentationFormat>
  <Paragraphs>312</Paragraphs>
  <Slides>42</Slides>
  <Notes>34</Notes>
  <HiddenSlides>0</HiddenSlides>
  <MMClips>0</MMClips>
  <ScaleCrop>false</ScaleCrop>
  <HeadingPairs>
    <vt:vector size="8" baseType="variant">
      <vt:variant>
        <vt:lpstr>Fonts Used</vt:lpstr>
      </vt:variant>
      <vt:variant>
        <vt:i4>15</vt:i4>
      </vt:variant>
      <vt:variant>
        <vt:lpstr>Theme</vt:lpstr>
      </vt:variant>
      <vt:variant>
        <vt:i4>6</vt:i4>
      </vt:variant>
      <vt:variant>
        <vt:lpstr>Embedded OLE Servers</vt:lpstr>
      </vt:variant>
      <vt:variant>
        <vt:i4>1</vt:i4>
      </vt:variant>
      <vt:variant>
        <vt:lpstr>Slide Titles</vt:lpstr>
      </vt:variant>
      <vt:variant>
        <vt:i4>42</vt:i4>
      </vt:variant>
    </vt:vector>
  </HeadingPairs>
  <TitlesOfParts>
    <vt:vector size="64" baseType="lpstr">
      <vt:lpstr>ＭＳ Ｐゴシック</vt:lpstr>
      <vt:lpstr>Algerian</vt:lpstr>
      <vt:lpstr>Arial</vt:lpstr>
      <vt:lpstr>Baskerville Old Face</vt:lpstr>
      <vt:lpstr>Berlin Sans FB Demi</vt:lpstr>
      <vt:lpstr>Berling Antiqua</vt:lpstr>
      <vt:lpstr>Britannic Bold</vt:lpstr>
      <vt:lpstr>Calibri</vt:lpstr>
      <vt:lpstr>Copperplate Gothic Bold</vt:lpstr>
      <vt:lpstr>Goudy Stout</vt:lpstr>
      <vt:lpstr>Kunstler Script</vt:lpstr>
      <vt:lpstr>Old English Text MT</vt:lpstr>
      <vt:lpstr>Ravie</vt:lpstr>
      <vt:lpstr>Times New Roman</vt:lpstr>
      <vt:lpstr>Wingdings</vt:lpstr>
      <vt:lpstr>1_Composite</vt:lpstr>
      <vt:lpstr>3_Composite</vt:lpstr>
      <vt:lpstr>2_Composite</vt:lpstr>
      <vt:lpstr>4_Composite</vt:lpstr>
      <vt:lpstr>5_Composite</vt:lpstr>
      <vt:lpstr>6_Composite</vt:lpstr>
      <vt:lpstr>Visio</vt:lpstr>
      <vt:lpstr>Quick recap</vt:lpstr>
      <vt:lpstr>Let’s reconsider our order-to-cash example</vt:lpstr>
      <vt:lpstr>Solution</vt:lpstr>
      <vt:lpstr>A little more on gateways: XOR Gateway</vt:lpstr>
      <vt:lpstr>Example: XOR Gateway</vt:lpstr>
      <vt:lpstr>A little more on gateways: AND Gateway</vt:lpstr>
      <vt:lpstr>Example: AND Gateway</vt:lpstr>
      <vt:lpstr>Revised solution</vt:lpstr>
      <vt:lpstr>XOR / AND are not always what we need...</vt:lpstr>
      <vt:lpstr>Solution 1</vt:lpstr>
      <vt:lpstr>Solution 2</vt:lpstr>
      <vt:lpstr>OR Gateway</vt:lpstr>
      <vt:lpstr>Solution using OR Gateway</vt:lpstr>
      <vt:lpstr>What join type do we need here?</vt:lpstr>
      <vt:lpstr>Rework and repetition</vt:lpstr>
      <vt:lpstr>Implicit vs. explicit gateways</vt:lpstr>
      <vt:lpstr>What’s this process doing?</vt:lpstr>
      <vt:lpstr>What’s needed to create a model?</vt:lpstr>
      <vt:lpstr>What’s needed to create a model?</vt:lpstr>
      <vt:lpstr>Modelling Language: Syntax</vt:lpstr>
      <vt:lpstr>Modelling Language: Semantics</vt:lpstr>
      <vt:lpstr>Modelling Language: Notation</vt:lpstr>
      <vt:lpstr>Example: Chess</vt:lpstr>
      <vt:lpstr>In BPMN?</vt:lpstr>
      <vt:lpstr>Example: structural correctness</vt:lpstr>
      <vt:lpstr>In BPMN?</vt:lpstr>
      <vt:lpstr>Behavioral correctness: cheat sheet</vt:lpstr>
      <vt:lpstr>Example: no option to complete</vt:lpstr>
      <vt:lpstr>Example: no option to complete</vt:lpstr>
      <vt:lpstr>Example: no proper completion</vt:lpstr>
      <vt:lpstr>Example: dead activity</vt:lpstr>
      <vt:lpstr>Example: behavioral correctness</vt:lpstr>
      <vt:lpstr>Find the bugs…</vt:lpstr>
      <vt:lpstr>In BPMN?</vt:lpstr>
      <vt:lpstr>Example: semantic correctness</vt:lpstr>
      <vt:lpstr>What’s needed to create a model?</vt:lpstr>
      <vt:lpstr>Modeling conventions</vt:lpstr>
      <vt:lpstr>Is this process model of good quality?</vt:lpstr>
      <vt:lpstr>What’s needed to create a model?</vt:lpstr>
      <vt:lpstr>Process Modelling Tools</vt:lpstr>
      <vt:lpstr>Our modelling tool: Signavio</vt:lpstr>
      <vt:lpstr>Readings for Week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Investment in BPM Projects</dc:title>
  <dc:creator>Marcello La Rosa</dc:creator>
  <cp:lastModifiedBy>Administrator</cp:lastModifiedBy>
  <cp:revision>133</cp:revision>
  <dcterms:created xsi:type="dcterms:W3CDTF">2014-07-15T23:34:55Z</dcterms:created>
  <dcterms:modified xsi:type="dcterms:W3CDTF">2024-10-15T05:35:59Z</dcterms:modified>
</cp:coreProperties>
</file>