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280160"/>
            <a:ext cx="7863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Specification Language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Reification, Decomposition &amp; Proof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640080" y="27432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i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Abstract Specifications into Verified Concrete Designs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7375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Methods in Software Engineering  |  Z Specification Language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Outline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4251960" cy="114300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502920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801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10515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Reification?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5087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→ Concrete transformation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4251960" cy="114300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960120"/>
            <a:ext cx="502920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2801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03520" y="10515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Retrieve Relation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0" y="150876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 two levels of abstraction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258568"/>
            <a:ext cx="4251960" cy="114300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258568"/>
            <a:ext cx="502920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5786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235000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Proof Obligations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280720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adequacy, Applicability, Correctness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2258568"/>
            <a:ext cx="4251960" cy="114300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258568"/>
            <a:ext cx="502920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5786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03520" y="235000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Decomposition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03520" y="2807208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Refining operations to concrete level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557016"/>
            <a:ext cx="4251960" cy="114300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557016"/>
            <a:ext cx="502920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387705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68680" y="364845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in Z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8680" y="410565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Precondition calculation &amp; invariant proofs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557016"/>
            <a:ext cx="4251960" cy="114300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09160" y="3557016"/>
            <a:ext cx="502920" cy="11430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09160" y="3877056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03520" y="364845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03520" y="4105656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Birthday Book end-to-end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Reification?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29260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2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mathematical abstraction to implementable design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Reification?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28600" y="91440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Reification (also called Data Refinement) is the process of transforming an abstract Z specification into a more concrete design that can be implemented, while formally proving that no correctness is lost.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691640"/>
            <a:ext cx="8503920" cy="86868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691640"/>
            <a:ext cx="54864" cy="8686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737360"/>
            <a:ext cx="201168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8745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468880" y="173736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Specification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68880" y="2130552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sets, relations, functions — mathematically clean, implementation-free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2578608"/>
            <a:ext cx="3200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Reification Step  ▼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28600" y="2715768"/>
            <a:ext cx="8503920" cy="86868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715768"/>
            <a:ext cx="54864" cy="8686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761488"/>
            <a:ext cx="2011680" cy="7772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8986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468880" y="2761488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Design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68880" y="3154680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implementable data structures: arrays, lists, records, trees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0" y="3602736"/>
            <a:ext cx="3200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Reification Step  ▼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3739896"/>
            <a:ext cx="8503920" cy="86868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8600" y="3739896"/>
            <a:ext cx="54864" cy="8686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785616"/>
            <a:ext cx="2011680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92277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468880" y="3785616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Code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468880" y="4178808"/>
            <a:ext cx="6126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program in a programming language (Java, C, Python…)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Reification Necessary?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4206240" cy="182880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05840"/>
            <a:ext cx="4206240" cy="4114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0515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Abstraction Gap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" y="1481328"/>
            <a:ext cx="398678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sets and relations are ideal for specification but cannot run directly on a computer. We need implementable structures.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005840"/>
            <a:ext cx="4206240" cy="182880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005840"/>
            <a:ext cx="4206240" cy="4114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0515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Correctness Bridge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73168" y="1481328"/>
            <a:ext cx="398678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Reification provides a formal, mathematical link proving the concrete design correctly implements the abstract spec.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2971800"/>
            <a:ext cx="4206240" cy="182880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971800"/>
            <a:ext cx="4206240" cy="4114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" y="3017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Design Clarity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" y="3447288"/>
            <a:ext cx="398678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reification step forces the designer to make deliberate implementation choices and justify them with proofs.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2971800"/>
            <a:ext cx="4206240" cy="182880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2971800"/>
            <a:ext cx="420624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73168" y="30175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Safety Guarantee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73168" y="3447288"/>
            <a:ext cx="3986784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safety-critical systems, informal 'it looks right' is not enough. Reification provides a proof certificate.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Retrieve Relation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29260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2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formal bridge between abstract and concrete states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Retrieve Relation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28600" y="91440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retrieve relation (R) is a formal relation connecting concrete states to the abstract states they represent. It is the mathematical bridge between the two levels.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3291840" cy="2560320"/>
          </a:xfrm>
          <a:prstGeom prst="rect">
            <a:avLst/>
          </a:prstGeom>
          <a:solidFill>
            <a:srgbClr val="D6EAF8"/>
          </a:solidFill>
          <a:ln w="25400">
            <a:solidFill>
              <a:srgbClr val="1B4F7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691640"/>
            <a:ext cx="3291840" cy="411480"/>
          </a:xfrm>
          <a:prstGeom prst="rect">
            <a:avLst/>
          </a:prstGeom>
          <a:solidFill>
            <a:srgbClr val="1B4F7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STATE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mathematical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Relations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Functions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794760" y="2834640"/>
            <a:ext cx="155448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242316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  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77640" y="27432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40680" y="1691640"/>
            <a:ext cx="3291840" cy="2560320"/>
          </a:xfrm>
          <a:prstGeom prst="rect">
            <a:avLst/>
          </a:prstGeom>
          <a:solidFill>
            <a:srgbClr val="D5F5E3"/>
          </a:solidFill>
          <a:ln w="25400">
            <a:solidFill>
              <a:srgbClr val="1E844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40680" y="1691640"/>
            <a:ext cx="3291840" cy="411480"/>
          </a:xfrm>
          <a:prstGeom prst="rect">
            <a:avLst/>
          </a:prstGeom>
          <a:solidFill>
            <a:srgbClr val="1E844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STATE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77840" y="2240280"/>
            <a:ext cx="2971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implementable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Arrays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Lists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Records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" y="448056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Each concrete state maps to exactly one abstract state. Multiple concrete states may map to the same abstract state.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the Retrieve Relation — Schema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28600" y="9144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retrieve relation is defined as a Z schema that includes both the abstract and concrete state schemas, with a predicate linking them: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554480"/>
            <a:ext cx="4206240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664208"/>
            <a:ext cx="39867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Abstract: birthday stored as relation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AbsBBook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birthday : PERSON &lt;-&gt; 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known    : P PERSON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____________________________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known = dom birthday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554480"/>
            <a:ext cx="4206240" cy="15544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81728" y="1664208"/>
            <a:ext cx="398678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Concrete: stored as a sequence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ConBBook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bdayList : seq (PERSON x DATE)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____________________________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no duplicates on first element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(functional bdayList)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3246120"/>
            <a:ext cx="8503920" cy="1691640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" y="3355848"/>
            <a:ext cx="8284464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RETRIEVE RELATION: links concrete to abstract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AbsBBook    -- brings in: known, birthday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ConBBook    -- brings in: bdayList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___________________________________________________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birthday = ran bdayList   -- abstract relation = range of concrete list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known    = dom birthday   -- (inherited from AbsBBook invariant)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Proof Obligations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29260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2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be proved for reification to be valid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Proof Obligations of Reification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28600" y="9144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formally verify that a concrete design correctly implements an abstract specification, THREE proof obligations must ALL be discharged: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508760"/>
            <a:ext cx="850392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508760"/>
            <a:ext cx="594360" cy="10515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78308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1554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Initialisation Adequacy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194767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concrete initial state corresponds to a valid abstract initial state.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1600200"/>
            <a:ext cx="288036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15000" y="1618488"/>
            <a:ext cx="281635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ConInit  ⟹  ∃ abs • Retrieve ∧ AbsInit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2651760"/>
            <a:ext cx="850392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651760"/>
            <a:ext cx="594360" cy="105156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92608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14400" y="2697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Applicability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09067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Whenever the abstract operation can fire, the concrete operation can also fire.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0" y="2743200"/>
            <a:ext cx="288036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0" y="2761488"/>
            <a:ext cx="281635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 ∧ pre AbsOp  ⟹  pre ConOp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28600" y="3794760"/>
            <a:ext cx="8503920" cy="105156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794760"/>
            <a:ext cx="594360" cy="10515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" y="4069080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14400" y="3840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(Result)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4233672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concrete operation, the result corresponds to a valid abstract result.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69280" y="3886200"/>
            <a:ext cx="288036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15000" y="3904488"/>
            <a:ext cx="281635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 ∧ pre AbsOp ∧ ConOp  ⟹  ∃ abs' • Retrieve' ∧ AbsOp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 1 — Initialisation Adequacy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8503920" cy="548640"/>
          </a:xfrm>
          <a:prstGeom prst="rect">
            <a:avLst/>
          </a:prstGeom>
          <a:solidFill>
            <a:srgbClr val="D6EAF8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Every concrete initial state must correspond to a valid abstract initial state through the retrieve relation.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" y="16002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condition: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920240"/>
            <a:ext cx="850392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2029968"/>
            <a:ext cx="8284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ConInit  ⟹  ( ∃ abs_state : AbsState • Retrieve ∧ AbsInit 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2651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prove it: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" y="2999232"/>
            <a:ext cx="8503920" cy="1920240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3108960"/>
            <a:ext cx="828446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ConInit: bdayList = &lt;&gt;              (empty list)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AbsInit: known = {}  birthday = {}  (empty relation)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Retrieve with these witnesses: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birthday = ran &lt;&gt; = {}    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known    = dom {} = {}    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Therefore ConInit implies a valid AbsInit exists. QED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 2 — Applicability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8503920" cy="548640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The concrete operation must be applicable whenever the abstract operation is applicable (pre-conditions align).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" y="16002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condition: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920240"/>
            <a:ext cx="850392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2029968"/>
            <a:ext cx="8284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  ∧  pre AbsOp  ⟹  pre ConOp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26517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AddBirthday: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" y="2999232"/>
            <a:ext cx="8503920" cy="1920240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3108960"/>
            <a:ext cx="828446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pre AbsAdd:  name? ∉ known            (person not already recorded)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pre ConAdd:  name? ∉ dom (ran bdayList)  (no entry in list for person)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PROOF: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Retrieve says: known = dom (ran bdayList)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So: name? ∉ known  ⟺  name? ∉ dom (ran bdayList)  ✓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Applicability holds.  QED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 3 — Correctness (Result Correspondence)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8503920" cy="548640"/>
          </a:xfrm>
          <a:prstGeom prst="rect">
            <a:avLst/>
          </a:prstGeom>
          <a:solidFill>
            <a:srgbClr val="FEF9E7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After executing the concrete operation, the new concrete state corresponds via Retrieve to a valid abstract after-state.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" y="16002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condition: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28600" y="1920240"/>
            <a:ext cx="850392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" y="2029968"/>
            <a:ext cx="8284464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 ∧ pre AbsOp ∧ ConOp  ⟹  ∃ abs' • Retrieve' ∧ AbsOp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26517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AddBirthday: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" y="2999232"/>
            <a:ext cx="8503920" cy="1920240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3108960"/>
            <a:ext cx="828446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ConAdd: bdayList' = bdayList ^ &lt;(name?, date?)&gt;   (append to list)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Need to show: birthday' = ran bdayList'  (Retrieve' holds)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PROOF: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ran bdayList' = ran (bdayList ^ &lt;(name?, date?)&gt;)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              = ran bdayList ∪ {(name?, date?)}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                = birthday ∪ {name? ↦ date?}   = birthday'  ✓  QED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Decomposition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29260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2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Refining abstract operations to concrete implementations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Decomposition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28600" y="91440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decomposition refines each abstract operation schema into a corresponding concrete operation schema, using the concrete state representation.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1600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Operation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28600" y="2011680"/>
            <a:ext cx="4114800" cy="2103120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2121408"/>
            <a:ext cx="389534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AbsAdd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Δ AbsBBook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name? : PERSON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date? : 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________________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name? ∉ known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birthday'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birthday ∪ {name?↦date?}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known' = known ∪ {name?}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434840" y="26060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⟹  decompose  ⟹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1208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Operation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212080" y="2011680"/>
            <a:ext cx="3657600" cy="2103120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21808" y="2121408"/>
            <a:ext cx="3438144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ConAdd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Δ ConBBook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name? : PERSON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date? : 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____________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name? ∉ dom(ran bdayList)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bdayList' =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bdayList ^ &lt;(name?,date?)&gt;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8600" y="425196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 Rule: A concrete operation ConOp decomposes an abstract operation AbsOp if the three proof obligations hold with respect to the retrieve relation.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for Operation Decomposition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4206240" cy="123444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45720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30759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1033272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Abstract Op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1435608"/>
            <a:ext cx="35478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abstract schema to refine (e.g., AddBirthday, FindBirthday, RemoveBirthday)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4206240" cy="123444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960120"/>
            <a:ext cx="45720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30759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12080" y="1033272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Concrete State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212080" y="1435608"/>
            <a:ext cx="35478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implementable data structure (array, list, BST). Write the ConState schema.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2331720"/>
            <a:ext cx="4206240" cy="123444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28600" y="2331720"/>
            <a:ext cx="45720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267919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2404872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Retrieve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2807208"/>
            <a:ext cx="35478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formal retrieve relation connecting ConState variables to AbsState variables.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331720"/>
            <a:ext cx="4206240" cy="123444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331720"/>
            <a:ext cx="45720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67919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12080" y="2404872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Concrete Op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212080" y="2807208"/>
            <a:ext cx="35478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ConOp schema using the concrete state variables. Mirror the abstract behaviour.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28600" y="3703320"/>
            <a:ext cx="4206240" cy="123444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28600" y="3703320"/>
            <a:ext cx="45720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8600" y="405079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7240" y="3776472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Applicability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7240" y="4178808"/>
            <a:ext cx="35478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Show: Retrieve ∧ pre AbsOp ⟹ pre ConOp — concrete fires when abstract can.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703320"/>
            <a:ext cx="4206240" cy="123444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703320"/>
            <a:ext cx="457200" cy="12344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63440" y="4050792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12080" y="3776472"/>
            <a:ext cx="35478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Correctness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12080" y="4178808"/>
            <a:ext cx="35478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Show: Retrieve ∧ pre AbsOp ∧ ConOp ⟹ ∃ abs' • Retrieve' ∧ AbsOp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in Z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29260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2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Precondition calculation and invariant preservation proofs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Proof Obligations in Z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28600" y="9144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specifications generate several types of proof obligations that must be discharged to ensure the specification is sound: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508760"/>
            <a:ext cx="8503920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508760"/>
            <a:ext cx="54864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4533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 Schema Consistency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" y="1911096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schema predicate has at least one solution — exhibit a witness state satisfying all constraints.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2386584"/>
            <a:ext cx="8503920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2386584"/>
            <a:ext cx="54864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23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 Precondition Calculation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2788920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 under what conditions an operation may be applied, by existentially quantifying over output and after-state variables.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3264408"/>
            <a:ext cx="8503920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8600" y="3264408"/>
            <a:ext cx="54864" cy="7772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3009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🔷  Invariant Preservation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3666744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every operation maintains the state invariant: if the invariant holds before, it holds after.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4142232"/>
            <a:ext cx="8503920" cy="777240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4142232"/>
            <a:ext cx="54864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1788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🔶  Refinement Correctness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" y="4544568"/>
            <a:ext cx="8138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reification proof obligations: initialisation adequacy, applicability, and correctness.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Calculating Preconditions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28600" y="9144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precondition of an operation schema is calculated by existentially quantifying over all output variables and after-state (primed) variables: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508760"/>
            <a:ext cx="850392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618488"/>
            <a:ext cx="828446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 Op  ≙  ∃ output!, after_state' • Op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" y="224028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pre AddBirthday: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2633472"/>
            <a:ext cx="8503920" cy="2286000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" y="2743200"/>
            <a:ext cx="8284464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 AddBirthday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∃ birthday', known' •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(name? ∉ known)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∧ (birthday' = birthday ∪ {name? ↦ date?})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∧ (known'    = known ∪ {name?})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name? ∉ known     ← the existential witnesses exist for any name? ∉ known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RESULT: The precondition is simply: the person is not already known.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Invariant Preservation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8503920" cy="502920"/>
          </a:xfrm>
          <a:prstGeom prst="rect">
            <a:avLst/>
          </a:prstGeom>
          <a:solidFill>
            <a:srgbClr val="D6EAF8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Invariant of BirthdayBook:   known = dom birthday     (must hold before AND after every operation)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508760"/>
            <a:ext cx="8503920" cy="33832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618488"/>
            <a:ext cx="8284464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GOAL: Prove AddBirthday preserves  known' = dom birthday'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GIVEN (from AddBirthday schema):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(1)  birthday' = birthday ∪ {name? ↦ date?}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(2)  known'    = known ∪ {name?}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(3)  known     = dom birthday          [invariant holds before]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PROOF (step by step with justification):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dom birthday'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dom (birthday ∪ {name? ↦ date?})     [by (1)]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dom birthday ∪ dom {name? ↦ date?}   [dom distributes over ∪]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dom birthday ∪ {name?}               [dom of singleton maplet]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known ∪ {name?}                      [by (3)]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known'                               [by (2)]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∴  known' = dom birthday'   ✓   Invariant is PRESERVED.  QED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Proving Schema Consistency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28600" y="9144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prove a schema is consistent, we must exhibit a concrete witness — a specific set of values satisfying all predicates in the schema.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28600" y="150876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method: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874520"/>
            <a:ext cx="850392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984248"/>
            <a:ext cx="828446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 show Schema S is consistent:  find values for all variables such that the predicate holds.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8600" y="260604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BirthdayBook consistency: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8600" y="2990088"/>
            <a:ext cx="8503920" cy="1920240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" y="3099816"/>
            <a:ext cx="828446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GOAL: ∃ known : ℙ PERSON ; birthday : PERSON &lt;-&gt; DATE •  known = dom birthday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WITNESS: known = ∅   and   birthday = ∅    (the empty state)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CHECK:   dom ∅ = ∅ = known    ✓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CONCLUSION: BirthdayBook is consistent.  QED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TIP: Always try the trivial empty witness first!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1828800"/>
            <a:ext cx="8412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365760" y="292608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2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Birthday Book — full reification end-to-end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Abstract Specification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28600" y="91440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Write the abstract Z specification using mathematical types (sets, relations).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417320"/>
            <a:ext cx="4160520" cy="20116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527048"/>
            <a:ext cx="394106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Basic types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[PERSON, DATE]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Abstract State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AbsBBook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known    : P PERSON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birthday : PERSON &lt;-&gt; 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______________________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known = dom birthday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26280" y="1417320"/>
            <a:ext cx="4297680" cy="2011680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008" y="1527048"/>
            <a:ext cx="407822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Init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InitAbs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AbsBBook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_____________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known = {}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Invariant: known is exactly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5A5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the persons with a birthday.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3520440"/>
            <a:ext cx="8503920" cy="1417320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" y="3630168"/>
            <a:ext cx="828446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Abstract Add operation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AbsAdd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Δ AbsBBook ;  name? : PERSON ;  date? : 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______________________________________________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name? ∉ known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birthday' = birthday ∪ {name? ↦ date?}    known' = known ∪ {name?}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Concrete Specification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28600" y="91440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Choose implementable data structure. Here: a sequence of (PERSON, DATE) pairs.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417320"/>
            <a:ext cx="416052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527048"/>
            <a:ext cx="394106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Concrete State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ConBBook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bdayList : seq (PERSON x DATE)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________________________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 all persons distinct in list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#bdayList = #(dom(ran bdayList))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26280" y="1417320"/>
            <a:ext cx="4297680" cy="1508760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008" y="1527048"/>
            <a:ext cx="407822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Concrete Init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InitCon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ConBBook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_____________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bdayList = &lt;&gt;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" y="2999232"/>
            <a:ext cx="8503920" cy="1920240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" y="3108960"/>
            <a:ext cx="828446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Concrete Add operation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ConAdd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Δ ConBBook ;  name? : PERSON ;  date? : 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_____________________________________________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name? ∉ dom (ran bdayList)           -- person not already in list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bdayList' = bdayList ^ &lt;(name?, date?)&gt;  -- append pair to end of list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— Retrieve &amp; Proof Summary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850392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1069848"/>
            <a:ext cx="828446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RETRIEVE RELATION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8F8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 ≙ AbsBBook ∧ ConBBook  |  birthday = ran bdayList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2057400"/>
            <a:ext cx="8503920" cy="914400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2057400"/>
            <a:ext cx="457200" cy="9144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2286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1031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 1: Init Adequacy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51460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ConInit (bdayList=&lt;&gt;) → ran &lt;&gt; = {} = birthday, dom {} = {} = known ✓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3063240"/>
            <a:ext cx="8503920" cy="914400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3063240"/>
            <a:ext cx="457200" cy="9144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77240" y="3108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 2: Applicability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77240" y="35204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 ∧ name?∉known → name?∉dom(ran bdayList) by Retrieve definition 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4069080"/>
            <a:ext cx="8503920" cy="914400"/>
          </a:xfrm>
          <a:prstGeom prst="rect">
            <a:avLst/>
          </a:prstGeom>
          <a:solidFill>
            <a:srgbClr val="D5F5E3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4069080"/>
            <a:ext cx="457200" cy="91440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7724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Obligation 3: Correctness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452628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ran(bdayList^&lt;(name?,date?)&gt;) = ran bdayList ∪ {name?↦date?} = birthday' 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28600" y="4828032"/>
            <a:ext cx="8503920" cy="24688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4846320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obligations discharged → ConAdd correctly reifies AbsAdd  ✓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Mathematical Laws for Z Proofs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987552"/>
            <a:ext cx="420624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38328" y="1042416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 (R ∪ S)  =  dom R ∪ dom 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" y="148132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distributes over union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987552"/>
            <a:ext cx="420624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73168" y="1042416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 {x ↦ y}  =  {x}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73168" y="148132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of a singleton maplet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1993392"/>
            <a:ext cx="420624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" y="2048256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 (R ∪ S)  =  ran R ∪ ran 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" y="248716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distributes over union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993392"/>
            <a:ext cx="420624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73168" y="2048256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 (s ^ t)  =  ran s ∪ ran 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73168" y="248716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of concatenated sequences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2999232"/>
            <a:ext cx="420624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8328" y="3054096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 (f ⊕ g)  =  dom f ∪ dom 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" y="349300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domain rule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2999232"/>
            <a:ext cx="420624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73168" y="3054096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 ⊕ g)(x) = g(x)  if x ∈ dom 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73168" y="349300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Override: g takes priority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" y="4005072"/>
            <a:ext cx="420624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8328" y="4059936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∪ ∅  =  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" y="449884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set identity for union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4005072"/>
            <a:ext cx="420624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73168" y="4059936"/>
            <a:ext cx="3977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BC9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 (S ◁ R)  =  S ∩ dom 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73168" y="449884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2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restriction law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Proof Strategy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228600" y="914400"/>
            <a:ext cx="8686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this structured approach in every Z proof to ensure rigour and full marks in exams: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417320"/>
            <a:ext cx="8503920" cy="658368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417320"/>
            <a:ext cx="45720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56362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145389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goal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76479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clearly what must be proved. E.g. known' = dom birthday'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148840"/>
            <a:ext cx="8503920" cy="658368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8600" y="2148840"/>
            <a:ext cx="45720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" y="229514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218541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the hypotheses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249631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every given fact: schema components, invariant (before), preconditions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2880360"/>
            <a:ext cx="8503920" cy="658368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8600" y="2880360"/>
            <a:ext cx="45720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302666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77240" y="291693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laws step by step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322783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set laws, function laws, definitions. Each step on a new line.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8600" y="3611880"/>
            <a:ext cx="8503920" cy="658368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3611880"/>
            <a:ext cx="45720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375818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77240" y="364845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 every step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77240" y="39593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brackets after each step: cite the hypothesis or law used.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28600" y="4343400"/>
            <a:ext cx="8503920" cy="658368"/>
          </a:xfrm>
          <a:prstGeom prst="rect">
            <a:avLst/>
          </a:prstGeom>
          <a:solidFill>
            <a:srgbClr val="F0F4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8600" y="4343400"/>
            <a:ext cx="457200" cy="65836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44897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77240" y="437997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CONCLUDE with QED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77240" y="469087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required property is established. Mark it clearly.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to Avoid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8503920" cy="749808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9669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Forgetting to define Retrieve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34416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Always write the retrieve relation BEFORE attempting any proof. Every proof obligation depends on it.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783080"/>
            <a:ext cx="8503920" cy="749808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1965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Proving only one obligation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16712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ALL THREE obligations (init, applicability, correctness) must be proved — not just correctness.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8600" y="2606040"/>
            <a:ext cx="8503920" cy="749808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64261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Skipping steps in proofs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299008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Every step needs a justification in brackets. Unsupported steps score zero.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3429000"/>
            <a:ext cx="8503920" cy="749808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46557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Confusing before and after state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38130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After-state variables are primed (birthday', known'). Never mix primed and unprimed in the same step.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4251960"/>
            <a:ext cx="8503920" cy="749808"/>
          </a:xfrm>
          <a:prstGeom prst="rect">
            <a:avLst/>
          </a:prstGeom>
          <a:solidFill>
            <a:srgbClr val="FADBD8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288536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Not checking invariant after ops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" y="463600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Prove known' = dom birthday' for every Δ operation. Without this, the schema is incomplete.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8321040" cy="713232"/>
          </a:xfrm>
          <a:prstGeom prst="rect">
            <a:avLst/>
          </a:prstGeom>
          <a:solidFill>
            <a:srgbClr val="0D2840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87552"/>
            <a:ext cx="1828800" cy="7132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70432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Reification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078992"/>
            <a:ext cx="6263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abstract specs (sets/relations) to concrete designs (arrays/lists). Proves correctness is not lost.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792224"/>
            <a:ext cx="8321040" cy="713232"/>
          </a:xfrm>
          <a:prstGeom prst="rect">
            <a:avLst/>
          </a:prstGeom>
          <a:solidFill>
            <a:srgbClr val="0D2840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792224"/>
            <a:ext cx="1828800" cy="7132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975104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Relation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0" y="1883664"/>
            <a:ext cx="6263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formal bridge: R maps concrete states to abstract states. Define it FIRST.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596896"/>
            <a:ext cx="8321040" cy="713232"/>
          </a:xfrm>
          <a:prstGeom prst="rect">
            <a:avLst/>
          </a:prstGeom>
          <a:solidFill>
            <a:srgbClr val="0D2840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596896"/>
            <a:ext cx="1828800" cy="7132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779776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Obligations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286000" y="2688336"/>
            <a:ext cx="6263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Initialisation adequacy + Applicability + Correctness. ALL must be proved.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401568"/>
            <a:ext cx="8321040" cy="713232"/>
          </a:xfrm>
          <a:prstGeom prst="rect">
            <a:avLst/>
          </a:prstGeom>
          <a:solidFill>
            <a:srgbClr val="0D2840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401568"/>
            <a:ext cx="1828800" cy="7132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84448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Decomposition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286000" y="3493008"/>
            <a:ext cx="6263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abstract operation is refined into a concrete operation. Proves using Retrieve.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206240"/>
            <a:ext cx="8321040" cy="713232"/>
          </a:xfrm>
          <a:prstGeom prst="rect">
            <a:avLst/>
          </a:prstGeom>
          <a:solidFill>
            <a:srgbClr val="0D2840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206240"/>
            <a:ext cx="1828800" cy="7132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389120"/>
            <a:ext cx="17556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Proof method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286000" y="4297680"/>
            <a:ext cx="6263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goal → list hypotheses → apply laws step-by-step → justify each → QED.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873752"/>
            <a:ext cx="85953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2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Specification Language  |  Reification, Decomposition &amp; Proof  |  Formal Methods in Software Engineering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 Specification: Reification, Decomposition &amp; Proof</dc:title>
  <dc:subject>PptxGenJS Presentation</dc:subject>
  <dc:creator>PptxGenJS</dc:creator>
  <cp:lastModifiedBy>PptxGenJS</cp:lastModifiedBy>
  <cp:revision>1</cp:revision>
  <dcterms:created xsi:type="dcterms:W3CDTF">2026-04-30T05:53:35Z</dcterms:created>
  <dcterms:modified xsi:type="dcterms:W3CDTF">2026-04-30T05:53:35Z</dcterms:modified>
</cp:coreProperties>
</file>